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1244" r:id="rId3"/>
    <p:sldId id="1197" r:id="rId4"/>
    <p:sldId id="1245" r:id="rId5"/>
    <p:sldId id="1243" r:id="rId6"/>
    <p:sldId id="1215" r:id="rId7"/>
    <p:sldId id="1216" r:id="rId8"/>
    <p:sldId id="1218" r:id="rId9"/>
    <p:sldId id="1217" r:id="rId10"/>
    <p:sldId id="1225" r:id="rId11"/>
    <p:sldId id="1226" r:id="rId12"/>
    <p:sldId id="1227" r:id="rId13"/>
    <p:sldId id="1219" r:id="rId14"/>
    <p:sldId id="1228" r:id="rId15"/>
    <p:sldId id="1229" r:id="rId16"/>
    <p:sldId id="1230" r:id="rId17"/>
    <p:sldId id="1231" r:id="rId18"/>
    <p:sldId id="1232" r:id="rId19"/>
    <p:sldId id="1233" r:id="rId20"/>
    <p:sldId id="1234" r:id="rId21"/>
    <p:sldId id="1235" r:id="rId22"/>
    <p:sldId id="1236" r:id="rId23"/>
    <p:sldId id="1237" r:id="rId24"/>
    <p:sldId id="1240" r:id="rId25"/>
    <p:sldId id="1239" r:id="rId26"/>
    <p:sldId id="1238" r:id="rId27"/>
    <p:sldId id="1241" r:id="rId28"/>
    <p:sldId id="1242" r:id="rId29"/>
    <p:sldId id="1067" r:id="rId30"/>
  </p:sldIdLst>
  <p:sldSz cx="9144000" cy="6858000" type="screen4x3"/>
  <p:notesSz cx="6669088" cy="9926638"/>
  <p:defaultTextStyle>
    <a:defPPr>
      <a:defRPr lang="pt-PT"/>
    </a:defPPr>
    <a:lvl1pPr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3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6C"/>
    <a:srgbClr val="FFFFCC"/>
    <a:srgbClr val="B7ECFF"/>
    <a:srgbClr val="BDFBC3"/>
    <a:srgbClr val="CCCC00"/>
    <a:srgbClr val="EDDDA1"/>
    <a:srgbClr val="BDBB5F"/>
    <a:srgbClr val="E5B9BD"/>
    <a:srgbClr val="CC30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10" autoAdjust="0"/>
    <p:restoredTop sz="93691" autoAdjust="0"/>
  </p:normalViewPr>
  <p:slideViewPr>
    <p:cSldViewPr>
      <p:cViewPr varScale="1">
        <p:scale>
          <a:sx n="84" d="100"/>
          <a:sy n="84" d="100"/>
        </p:scale>
        <p:origin x="96" y="276"/>
      </p:cViewPr>
      <p:guideLst>
        <p:guide orient="horz" pos="1344"/>
        <p:guide pos="340"/>
      </p:guideLst>
    </p:cSldViewPr>
  </p:slideViewPr>
  <p:outlineViewPr>
    <p:cViewPr>
      <p:scale>
        <a:sx n="33" d="100"/>
        <a:sy n="33" d="100"/>
      </p:scale>
      <p:origin x="0" y="123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1524" y="10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86E3228-BDA5-4C88-B65C-28A18C301E9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441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2950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4837"/>
            <a:ext cx="5335270" cy="446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705EB50-1723-4F02-82E6-3547F8722922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64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0</a:t>
            </a:fld>
            <a:endParaRPr lang="pt-P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433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4937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065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3"/>
          <p:cNvSpPr txBox="1">
            <a:spLocks noChangeArrowheads="1"/>
          </p:cNvSpPr>
          <p:nvPr userDrawn="1"/>
        </p:nvSpPr>
        <p:spPr bwMode="auto">
          <a:xfrm>
            <a:off x="8324645" y="6163979"/>
            <a:ext cx="85586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l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      /28</a:t>
            </a:r>
          </a:p>
        </p:txBody>
      </p:sp>
      <p:sp>
        <p:nvSpPr>
          <p:cNvPr id="7" name="Text Box 13"/>
          <p:cNvSpPr txBox="1">
            <a:spLocks noChangeArrowheads="1"/>
          </p:cNvSpPr>
          <p:nvPr userDrawn="1"/>
        </p:nvSpPr>
        <p:spPr bwMode="auto">
          <a:xfrm>
            <a:off x="3779912" y="6164408"/>
            <a:ext cx="2808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sp>
        <p:nvSpPr>
          <p:cNvPr id="8" name="Text Box 13"/>
          <p:cNvSpPr txBox="1">
            <a:spLocks noChangeArrowheads="1"/>
          </p:cNvSpPr>
          <p:nvPr userDrawn="1"/>
        </p:nvSpPr>
        <p:spPr bwMode="auto">
          <a:xfrm>
            <a:off x="6587911" y="6176009"/>
            <a:ext cx="1670517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Março 2026</a:t>
            </a:r>
          </a:p>
        </p:txBody>
      </p:sp>
      <p:sp>
        <p:nvSpPr>
          <p:cNvPr id="9" name="Text Box 34"/>
          <p:cNvSpPr txBox="1">
            <a:spLocks noChangeArrowheads="1"/>
          </p:cNvSpPr>
          <p:nvPr userDrawn="1"/>
        </p:nvSpPr>
        <p:spPr bwMode="auto">
          <a:xfrm flipV="1">
            <a:off x="8027988" y="6215453"/>
            <a:ext cx="46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2400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75582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468313" y="765175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757238" y="765175"/>
            <a:ext cx="287337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spcBef>
                <a:spcPct val="0"/>
              </a:spcBef>
              <a:defRPr/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 userDrawn="1"/>
        </p:nvSpPr>
        <p:spPr bwMode="auto">
          <a:xfrm>
            <a:off x="1116013" y="765175"/>
            <a:ext cx="865187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2052638" y="765175"/>
            <a:ext cx="576262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828675" y="909638"/>
            <a:ext cx="576263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1" name="Picture 17" descr="Logo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0825" y="6237288"/>
            <a:ext cx="3635375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.../viewform" TargetMode="External"/><Relationship Id="rId2" Type="http://schemas.openxmlformats.org/officeDocument/2006/relationships/hyperlink" Target="../media/OE-IUT_20180411.mp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4.ine.pt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com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sollari/OE-IUT2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44"/>
          <p:cNvSpPr txBox="1">
            <a:spLocks noChangeArrowheads="1"/>
          </p:cNvSpPr>
          <p:nvPr/>
        </p:nvSpPr>
        <p:spPr bwMode="auto">
          <a:xfrm flipV="1">
            <a:off x="684213" y="2506662"/>
            <a:ext cx="504825" cy="92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5400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2054" name="Rectangle 60"/>
          <p:cNvSpPr>
            <a:spLocks noChangeArrowheads="1"/>
          </p:cNvSpPr>
          <p:nvPr/>
        </p:nvSpPr>
        <p:spPr bwMode="auto">
          <a:xfrm>
            <a:off x="1116013" y="2564829"/>
            <a:ext cx="74168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pt-PT" sz="3600" b="1" dirty="0">
                <a:solidFill>
                  <a:schemeClr val="bg2"/>
                </a:solidFill>
                <a:latin typeface="Humnst777 BT" pitchFamily="34" charset="0"/>
              </a:rPr>
              <a:t>Operação Estatística - IUT</a:t>
            </a:r>
          </a:p>
        </p:txBody>
      </p:sp>
      <p:pic>
        <p:nvPicPr>
          <p:cNvPr id="2055" name="Picture 81" descr="Logo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404813"/>
            <a:ext cx="3168650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27"/>
          <p:cNvSpPr>
            <a:spLocks noChangeArrowheads="1"/>
          </p:cNvSpPr>
          <p:nvPr/>
        </p:nvSpPr>
        <p:spPr bwMode="auto">
          <a:xfrm>
            <a:off x="2005013" y="5470550"/>
            <a:ext cx="6696075" cy="4794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DMSI / ME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2124075" y="5876950"/>
            <a:ext cx="215900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2413000" y="5876950"/>
            <a:ext cx="287338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r">
              <a:spcBef>
                <a:spcPct val="0"/>
              </a:spcBef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2771775" y="5876950"/>
            <a:ext cx="865188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3708400" y="5876950"/>
            <a:ext cx="576263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7" name="Text Box 45"/>
          <p:cNvSpPr txBox="1">
            <a:spLocks noChangeArrowheads="1"/>
          </p:cNvSpPr>
          <p:nvPr/>
        </p:nvSpPr>
        <p:spPr bwMode="auto">
          <a:xfrm>
            <a:off x="4284663" y="5805512"/>
            <a:ext cx="2735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PT" sz="1800" dirty="0">
                <a:solidFill>
                  <a:srgbClr val="002060"/>
                </a:solidFill>
                <a:latin typeface="Humnst777 BT" pitchFamily="34" charset="0"/>
              </a:rPr>
              <a:t>  Março de 2026</a:t>
            </a:r>
          </a:p>
        </p:txBody>
      </p:sp>
      <p:sp>
        <p:nvSpPr>
          <p:cNvPr id="2063" name="Rectangle 33"/>
          <p:cNvSpPr>
            <a:spLocks noChangeArrowheads="1"/>
          </p:cNvSpPr>
          <p:nvPr/>
        </p:nvSpPr>
        <p:spPr bwMode="auto">
          <a:xfrm>
            <a:off x="2484438" y="6021412"/>
            <a:ext cx="576262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843420" y="4077072"/>
            <a:ext cx="149585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João Lopes</a:t>
            </a:r>
          </a:p>
          <a:p>
            <a:pPr algn="r"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Filipe Santos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8216E-3077-C860-479B-411B7AC3079F}"/>
              </a:ext>
            </a:extLst>
          </p:cNvPr>
          <p:cNvSpPr txBox="1"/>
          <p:nvPr/>
        </p:nvSpPr>
        <p:spPr>
          <a:xfrm>
            <a:off x="1113806" y="3363282"/>
            <a:ext cx="32487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pt-PT" sz="2000" dirty="0">
                <a:solidFill>
                  <a:schemeClr val="bg1">
                    <a:lumMod val="50000"/>
                  </a:schemeClr>
                </a:solidFill>
                <a:latin typeface="Humnst777 BT"/>
              </a:rPr>
              <a:t>Escola Secundária de Peniche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23C06-6924-B54A-D1C5-1354D850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E1E50E5-CD8A-0E41-2168-A849B6ACC4D1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0616A8F4-7501-5F3C-C138-642477C8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 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D5B067E2-DB2D-C35A-0046-D3FDC940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01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1D6781EA-E887-70A6-C3B4-278248983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Independência profissional</a:t>
            </a:r>
          </a:p>
          <a:p>
            <a:pPr marL="914400" lvl="1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lphaU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Coordenação e cooperação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Mandato para recolha de dados e acesso aos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Adequação de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Compromisso com a qualidade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Confidencialidade estatística e proteção dos dados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Imparcialidade e objetividade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A2345B3-FEE9-7577-C735-3F185125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Enquadramento institucional (1-6/15)</a:t>
            </a:r>
          </a:p>
        </p:txBody>
      </p:sp>
    </p:spTree>
    <p:extLst>
      <p:ext uri="{BB962C8B-B14F-4D97-AF65-F5344CB8AC3E}">
        <p14:creationId xmlns:p14="http://schemas.microsoft.com/office/powerpoint/2010/main" val="2547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02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Metodologia sólida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Procedimentos Estatísticos Apropriados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Carga não excessiva sobre os respondentes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Eficácia na utilização dos recursos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7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A18323B3-6A61-2441-0B51-4911F24E5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Processos estatísticos (7-10/16)</a:t>
            </a:r>
          </a:p>
        </p:txBody>
      </p:sp>
    </p:spTree>
    <p:extLst>
      <p:ext uri="{BB962C8B-B14F-4D97-AF65-F5344CB8AC3E}">
        <p14:creationId xmlns:p14="http://schemas.microsoft.com/office/powerpoint/2010/main" val="318618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A2D1-81C4-C970-8DCE-375C94A4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89E84E09-791A-0C3D-0D68-9F85EB7CA58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E048EB5D-8D27-A1D4-62F7-C6CD778B8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INE – Código de conduta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9516877A-AF61-3CC9-364B-9EBC7FE8A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03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AAA37E85-2C6F-095E-F716-ACB81A98E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320" y="2133600"/>
            <a:ext cx="8136136" cy="4165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Relevância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Precisão e fiabilidade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Oportunidade e pontualidade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Coerência e comparabilidade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Acessibilidade e clareza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 startAt="11"/>
            </a:pP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algn="r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16 de Novembro 2017 (CSEE)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6C3AC6AD-2D1C-0D6F-C840-0604E3C74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Produção estatística (11-15/15)</a:t>
            </a:r>
          </a:p>
        </p:txBody>
      </p:sp>
    </p:spTree>
    <p:extLst>
      <p:ext uri="{BB962C8B-B14F-4D97-AF65-F5344CB8AC3E}">
        <p14:creationId xmlns:p14="http://schemas.microsoft.com/office/powerpoint/2010/main" val="218905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942F-75D4-C7E8-0A05-6F2F316A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>
            <a:extLst>
              <a:ext uri="{FF2B5EF4-FFF2-40B4-BE49-F238E27FC236}">
                <a16:creationId xmlns:a16="http://schemas.microsoft.com/office/drawing/2014/main" id="{BBC4CFFE-B267-3EEE-DA7B-6067FC86030C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>
            <a:extLst>
              <a:ext uri="{FF2B5EF4-FFF2-40B4-BE49-F238E27FC236}">
                <a16:creationId xmlns:a16="http://schemas.microsoft.com/office/drawing/2014/main" id="{2F42C9FB-0485-996B-D570-99C899E0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</a:t>
            </a:r>
          </a:p>
        </p:txBody>
      </p:sp>
      <p:sp>
        <p:nvSpPr>
          <p:cNvPr id="13" name="Text Box 376">
            <a:extLst>
              <a:ext uri="{FF2B5EF4-FFF2-40B4-BE49-F238E27FC236}">
                <a16:creationId xmlns:a16="http://schemas.microsoft.com/office/drawing/2014/main" id="{1310924B-A3FD-B23E-8778-F0D4720F9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Fases da Operação Estatística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008EAA2D-194A-EB14-C01C-33DF09442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04</a:t>
            </a:r>
          </a:p>
        </p:txBody>
      </p:sp>
      <p:sp>
        <p:nvSpPr>
          <p:cNvPr id="9" name="Text Box 376">
            <a:extLst>
              <a:ext uri="{FF2B5EF4-FFF2-40B4-BE49-F238E27FC236}">
                <a16:creationId xmlns:a16="http://schemas.microsoft.com/office/drawing/2014/main" id="{B84C8DBF-503D-4436-EE9F-13C6D750C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Concepção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Operação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Difusão</a:t>
            </a:r>
            <a:endParaRPr lang="pt-BR" sz="2200" b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1. Conceção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05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Objetivo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Compreender a realidade a partir de dados.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Tipo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Recenseamento, Amostragem, Estudo estatístico.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Fonte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Questionários, Dados administrativos.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OE/Conceção</a:t>
            </a:r>
          </a:p>
        </p:txBody>
      </p:sp>
    </p:spTree>
    <p:extLst>
      <p:ext uri="{BB962C8B-B14F-4D97-AF65-F5344CB8AC3E}">
        <p14:creationId xmlns:p14="http://schemas.microsoft.com/office/powerpoint/2010/main" val="280077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 Operação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06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Recolha: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Directa (Presencial, Telefónica, Web) ou Indirecta.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Tratamento: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Formatação, Validação,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Outliers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Imputação.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 marL="457200" indent="-4572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Gráficos, Medidas descritivas, Modelos.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</a:t>
            </a:r>
          </a:p>
        </p:txBody>
      </p:sp>
    </p:spTree>
    <p:extLst>
      <p:ext uri="{BB962C8B-B14F-4D97-AF65-F5344CB8AC3E}">
        <p14:creationId xmlns:p14="http://schemas.microsoft.com/office/powerpoint/2010/main" val="121865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2.3. Análise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07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Gráficos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Circular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Barras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Extremos-e-quartis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Histograma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Medidas descritivas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Tendência central, Dispersão.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Modelos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Regressão linear, Regressão logística.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OE/Operação/Análise</a:t>
            </a:r>
          </a:p>
        </p:txBody>
      </p:sp>
    </p:spTree>
    <p:extLst>
      <p:ext uri="{BB962C8B-B14F-4D97-AF65-F5344CB8AC3E}">
        <p14:creationId xmlns:p14="http://schemas.microsoft.com/office/powerpoint/2010/main" val="293461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3. Difusão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08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2298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Indicadores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Resultados dos inquéritos, para público em geral.</a:t>
            </a: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 err="1">
                <a:solidFill>
                  <a:schemeClr val="tx1"/>
                </a:solidFill>
                <a:latin typeface="Humnst777 BT" pitchFamily="34" charset="0"/>
              </a:rPr>
              <a:t>Microdados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Base de dados dos inquéritos, para investigadores. 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Destaques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Press</a:t>
            </a:r>
            <a:r>
              <a:rPr lang="pt-PT" sz="2200" i="1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200" i="1" dirty="0" err="1">
                <a:solidFill>
                  <a:schemeClr val="tx1"/>
                </a:solidFill>
                <a:latin typeface="Humnst777 BT" pitchFamily="34" charset="0"/>
              </a:rPr>
              <a:t>release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curta, harmonizada, calendarizada.</a:t>
            </a:r>
            <a:endParaRPr lang="pt-BR" sz="2200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Publicações/Boletins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calendarizado.</a:t>
            </a:r>
            <a:endParaRPr lang="pt-PT" sz="2200" u="sng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</a:pPr>
            <a:r>
              <a:rPr lang="pt-PT" sz="2200" u="sng" dirty="0">
                <a:solidFill>
                  <a:schemeClr val="tx1"/>
                </a:solidFill>
                <a:latin typeface="Humnst777 BT" pitchFamily="34" charset="0"/>
              </a:rPr>
              <a:t>Estudos</a:t>
            </a:r>
            <a:r>
              <a:rPr lang="pt-PT" sz="2200" dirty="0">
                <a:solidFill>
                  <a:schemeClr val="tx1"/>
                </a:solidFill>
                <a:latin typeface="Humnst777 BT" pitchFamily="34" charset="0"/>
              </a:rPr>
              <a:t> Documento longo, não-calendarizado.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OE/Difusão</a:t>
            </a:r>
          </a:p>
        </p:txBody>
      </p:sp>
    </p:spTree>
    <p:extLst>
      <p:ext uri="{BB962C8B-B14F-4D97-AF65-F5344CB8AC3E}">
        <p14:creationId xmlns:p14="http://schemas.microsoft.com/office/powerpoint/2010/main" val="2155810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683568" y="1484784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Inquérito à Utilização do Telemóvel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09</a:t>
            </a:r>
          </a:p>
        </p:txBody>
      </p:sp>
      <p:sp>
        <p:nvSpPr>
          <p:cNvPr id="9" name="Text Box 376"/>
          <p:cNvSpPr txBox="1">
            <a:spLocks noChangeArrowheads="1"/>
          </p:cNvSpPr>
          <p:nvPr/>
        </p:nvSpPr>
        <p:spPr bwMode="auto">
          <a:xfrm>
            <a:off x="539552" y="2132806"/>
            <a:ext cx="8136136" cy="1364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Vídeo: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2" action="ppaction://hlinkfile"/>
              </a:rPr>
              <a:t>..\media\OE-IUT_20180411.mp4</a:t>
            </a:r>
            <a:endParaRPr lang="pt-PT" sz="2200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Questionário: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https://docs.google.com/forms/.../viewform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  <a:p>
            <a:pPr marL="342900" indent="-342900"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</a:rPr>
              <a:t>Análise: </a:t>
            </a:r>
            <a:r>
              <a:rPr lang="pt-PT" sz="2200" b="1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https://r4.ine.pt/</a:t>
            </a:r>
            <a:endParaRPr lang="pt-PT" sz="2200" b="1" dirty="0">
              <a:solidFill>
                <a:schemeClr val="tx1"/>
              </a:solidFill>
              <a:latin typeface="Humnst777 BT" pitchFamily="34" charset="0"/>
            </a:endParaRP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</a:t>
            </a:r>
          </a:p>
        </p:txBody>
      </p:sp>
    </p:spTree>
    <p:extLst>
      <p:ext uri="{BB962C8B-B14F-4D97-AF65-F5344CB8AC3E}">
        <p14:creationId xmlns:p14="http://schemas.microsoft.com/office/powerpoint/2010/main" val="406153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1E170-2903-6EC7-51D6-E254AAF5F4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63" y="144710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10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11518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915623-6FAC-91A8-F727-2444C8768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310811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11</a:t>
            </a:r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220173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12</a:t>
            </a: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09869C-D31C-5ABE-9FBB-81F11B0D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01859"/>
              </p:ext>
            </p:extLst>
          </p:nvPr>
        </p:nvGraphicFramePr>
        <p:xfrm>
          <a:off x="1655675" y="1867852"/>
          <a:ext cx="5832649" cy="1986915"/>
        </p:xfrm>
        <a:graphic>
          <a:graphicData uri="http://schemas.openxmlformats.org/drawingml/2006/table">
            <a:tbl>
              <a:tblPr/>
              <a:tblGrid>
                <a:gridCol w="1280337">
                  <a:extLst>
                    <a:ext uri="{9D8B030D-6E8A-4147-A177-3AD203B41FA5}">
                      <a16:colId xmlns:a16="http://schemas.microsoft.com/office/drawing/2014/main" val="2455959767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1878969852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710095391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911828764"/>
                    </a:ext>
                  </a:extLst>
                </a:gridCol>
                <a:gridCol w="1138078">
                  <a:extLst>
                    <a:ext uri="{9D8B030D-6E8A-4147-A177-3AD203B41FA5}">
                      <a16:colId xmlns:a16="http://schemas.microsoft.com/office/drawing/2014/main" val="416464606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Freq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RelCumul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877415"/>
                  </a:ext>
                </a:extLst>
              </a:tr>
              <a:tr h="17584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92865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13.70%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19.60%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6788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33.30%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222054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82.40%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60821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5.90%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88.20%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693902"/>
                  </a:ext>
                </a:extLst>
              </a:tr>
              <a:tr h="25204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11.80%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316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63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E7FE2D-5717-3136-BB22-AD547CE5F0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862" y="1258062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42348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02D780-EEA7-A6AD-DA33-D618E14615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198583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523F06-FDD5-B59B-0667-19A5AA5B97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491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88339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3E7B14-6D8C-54F5-5D26-B517A84A6F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474026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90C75-698F-563E-959A-C0B39026EF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474" y="1258888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218535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3BAEA-3E79-09A1-21B3-CA9DEE1802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196975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18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</p:spTree>
    <p:extLst>
      <p:ext uri="{BB962C8B-B14F-4D97-AF65-F5344CB8AC3E}">
        <p14:creationId xmlns:p14="http://schemas.microsoft.com/office/powerpoint/2010/main" val="338636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19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IUT/Analise/Exploração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9EA5D-67BA-BA78-E2B9-0B4C2E0DE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09778"/>
              </p:ext>
            </p:extLst>
          </p:nvPr>
        </p:nvGraphicFramePr>
        <p:xfrm>
          <a:off x="540001" y="2861310"/>
          <a:ext cx="8063998" cy="1135380"/>
        </p:xfrm>
        <a:graphic>
          <a:graphicData uri="http://schemas.openxmlformats.org/drawingml/2006/table">
            <a:tbl>
              <a:tblPr/>
              <a:tblGrid>
                <a:gridCol w="1375930">
                  <a:extLst>
                    <a:ext uri="{9D8B030D-6E8A-4147-A177-3AD203B41FA5}">
                      <a16:colId xmlns:a16="http://schemas.microsoft.com/office/drawing/2014/main" val="78452751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20899694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3110566216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826009932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277164068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063888359"/>
                    </a:ext>
                  </a:extLst>
                </a:gridCol>
                <a:gridCol w="1114678">
                  <a:extLst>
                    <a:ext uri="{9D8B030D-6E8A-4147-A177-3AD203B41FA5}">
                      <a16:colId xmlns:a16="http://schemas.microsoft.com/office/drawing/2014/main" val="110617817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Median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StDev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IQR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5294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AGE_FIRST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312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639.22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639.50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272.03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428.75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1069.00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7803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pt-PT" sz="18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PRICE_NEW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778.53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360.31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1480.00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33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08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20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49271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 59.3721    88.7050   0.669    0.508    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1.1636     0.1326   8.777 4.98e-10 ***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0.71,	Adjusted R-squared:   0.70</a:t>
            </a:r>
          </a:p>
        </p:txBody>
      </p:sp>
    </p:spTree>
    <p:extLst>
      <p:ext uri="{BB962C8B-B14F-4D97-AF65-F5344CB8AC3E}">
        <p14:creationId xmlns:p14="http://schemas.microsoft.com/office/powerpoint/2010/main" val="2889854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399BA0-55FB-E1D0-645C-01A06E3F93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409" y="12691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21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1603948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22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189282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PRICE_NEW ~ PRICE + PLAY_PHONE,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         98.49328  153.47493   0.642    0.526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1.12921    0.21919   5.152 1.52e-05 ***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PLAY_PHONETRUE       -57.72949  191.50020  -0.301    0.765 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PRICE:PLAY_PHONETRUE   0.05165    0.28061   0.184    0.855 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Multiple R-squared:  0.71,	Adjusted R-squared:   0.68</a:t>
            </a:r>
          </a:p>
        </p:txBody>
      </p:sp>
    </p:spTree>
    <p:extLst>
      <p:ext uri="{BB962C8B-B14F-4D97-AF65-F5344CB8AC3E}">
        <p14:creationId xmlns:p14="http://schemas.microsoft.com/office/powerpoint/2010/main" val="1011327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B3F70A-7C45-AA39-2CDF-85CA5ECDC7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384" y="1285553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23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3308432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24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20928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Estimate Std. Error t value </a:t>
            </a: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(&gt;|t|)   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(Intercept)  8.484e-01  9.369e-01   0.906    0.365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-4.288e-05  1.349e-03  -0.032    0.975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48.315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OR 2.5 % 97.5 %</a:t>
            </a: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1.000 0.998  1.003</a:t>
            </a:r>
          </a:p>
        </p:txBody>
      </p:sp>
    </p:spTree>
    <p:extLst>
      <p:ext uri="{BB962C8B-B14F-4D97-AF65-F5344CB8AC3E}">
        <p14:creationId xmlns:p14="http://schemas.microsoft.com/office/powerpoint/2010/main" val="872135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ABE9EB-53D1-A93D-9048-5F482D2AEA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01549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25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2704478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26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540000" y="2138367"/>
            <a:ext cx="8064000" cy="349326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en-US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(formula = PLAY_PHONE ~ PRICE + SOCIALNET, family = "binomial", data = tb5)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Estimate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Std. </a:t>
            </a: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Error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z value Pr(&gt;|z|)</a:t>
            </a:r>
          </a:p>
          <a:p>
            <a:pPr algn="just">
              <a:spcBef>
                <a:spcPts val="0"/>
              </a:spcBef>
            </a:pP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 0.003043   0.002240   1.359   0.1743 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SOCIALNETSnapchat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-1.449809   5.182280  -0.280   0.7797 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SOCIALNETTikTok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4.793137   3.252573   1.474   0.1406 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PRICE:SOCIALNETSnapchat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0.003381   0.009648   0.350   0.7260  </a:t>
            </a:r>
          </a:p>
          <a:p>
            <a:pPr algn="just">
              <a:spcBef>
                <a:spcPts val="0"/>
              </a:spcBef>
            </a:pPr>
            <a:r>
              <a:rPr lang="fr-FR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PRICE:SOCIALNETTikTok</a:t>
            </a:r>
            <a:r>
              <a:rPr lang="fr-FR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-0.007611   0.004060  -1.875   0.0608 .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en-US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AIC: 43.209</a:t>
            </a:r>
          </a:p>
          <a:p>
            <a:pPr algn="just">
              <a:spcBef>
                <a:spcPts val="0"/>
              </a:spcBef>
            </a:pP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 OR 2.5 %    97.5 %</a:t>
            </a:r>
          </a:p>
          <a:p>
            <a:pPr algn="just">
              <a:spcBef>
                <a:spcPts val="0"/>
              </a:spcBef>
            </a:pP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                     1.003 0.999     1.007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SOCIALNETSnapchat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0.235 0.000  6046.727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SOCIALNETTikTok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120.679 0.206 70831.731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PRICE:SOCIALNETSnapchat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1.003 0.985     1.023</a:t>
            </a:r>
          </a:p>
          <a:p>
            <a:pPr algn="just">
              <a:spcBef>
                <a:spcPts val="0"/>
              </a:spcBef>
            </a:pPr>
            <a:r>
              <a:rPr lang="pt-PT" sz="13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PRICE:SOCIALNETTikTok</a:t>
            </a:r>
            <a:r>
              <a:rPr lang="pt-PT" sz="13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0.992 0.985     1.000</a:t>
            </a:r>
            <a:endParaRPr lang="en-US" sz="13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016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596437-CCEE-49F3-DE0E-CE92F1E353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257747"/>
            <a:ext cx="4800600" cy="4800600"/>
          </a:xfrm>
          <a:prstGeom prst="rect">
            <a:avLst/>
          </a:prstGeom>
        </p:spPr>
      </p:pic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27</a:t>
            </a:r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IUT/Analise/Modelos</a:t>
            </a:r>
          </a:p>
        </p:txBody>
      </p:sp>
    </p:spTree>
    <p:extLst>
      <p:ext uri="{BB962C8B-B14F-4D97-AF65-F5344CB8AC3E}">
        <p14:creationId xmlns:p14="http://schemas.microsoft.com/office/powerpoint/2010/main" val="4262988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7775575" y="946150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2771775" y="404813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2"/>
                </a:solidFill>
                <a:latin typeface="Humnst777 BT" pitchFamily="34" charset="0"/>
              </a:rPr>
              <a:t>OE-IUT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540000" y="1548000"/>
            <a:ext cx="8064000" cy="352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3800" dirty="0">
                <a:solidFill>
                  <a:schemeClr val="tx1"/>
                </a:solidFill>
                <a:latin typeface="Humnst777 BT"/>
              </a:rPr>
              <a:t>Obrigado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pt-PT" sz="3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pt-PT" sz="18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https://www.r-project.org/</a:t>
            </a:r>
            <a:endParaRPr lang="pt-PT" sz="1800" dirty="0">
              <a:solidFill>
                <a:schemeClr val="tx1"/>
              </a:solidFill>
              <a:latin typeface="Humnst777 BT" pitchFamily="34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3"/>
              </a:rPr>
              <a:t>https://rstudio.com/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1800" dirty="0">
              <a:solidFill>
                <a:schemeClr val="tx1"/>
              </a:solidFill>
              <a:latin typeface="Humnst777 BT"/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1800" dirty="0">
                <a:solidFill>
                  <a:schemeClr val="tx1"/>
                </a:solidFill>
                <a:latin typeface="Humnst777 BT"/>
                <a:hlinkClick r:id="rId4"/>
              </a:rPr>
              <a:t>https://github.com/jsollari/OE-IUT2020</a:t>
            </a:r>
            <a:endParaRPr lang="en-US" sz="1800" dirty="0">
              <a:solidFill>
                <a:schemeClr val="tx1"/>
              </a:solidFill>
              <a:latin typeface="Humnst777 BT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539552" y="1506793"/>
            <a:ext cx="448" cy="35652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8416999" y="6276920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801871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6000" b="0" i="0" u="none" strike="noStrike" cap="none" normalizeH="0" baseline="0" smtClean="0">
            <a:ln>
              <a:noFill/>
            </a:ln>
            <a:solidFill>
              <a:srgbClr val="CC0000"/>
            </a:solidFill>
            <a:effectLst/>
            <a:latin typeface="Humanst521 BT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70449</TotalTime>
  <Words>879</Words>
  <Application>Microsoft Office PowerPoint</Application>
  <PresentationFormat>On-screen Show (4:3)</PresentationFormat>
  <Paragraphs>263</Paragraphs>
  <Slides>29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 New</vt:lpstr>
      <vt:lpstr>Humanst521 BT</vt:lpstr>
      <vt:lpstr>Humnst777 BT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DPHCN</dc:creator>
  <cp:lastModifiedBy>João Lopes</cp:lastModifiedBy>
  <cp:revision>2936</cp:revision>
  <cp:lastPrinted>2025-05-20T08:17:05Z</cp:lastPrinted>
  <dcterms:created xsi:type="dcterms:W3CDTF">2004-01-14T16:14:16Z</dcterms:created>
  <dcterms:modified xsi:type="dcterms:W3CDTF">2026-03-05T12:41:46Z</dcterms:modified>
</cp:coreProperties>
</file>