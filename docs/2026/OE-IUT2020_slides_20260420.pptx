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ti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48" r:id="rId1"/>
  </p:sldMasterIdLst>
  <p:notesMasterIdLst>
    <p:notesMasterId r:id="rId31"/>
  </p:notesMasterIdLst>
  <p:handoutMasterIdLst>
    <p:handoutMasterId r:id="rId32"/>
  </p:handoutMasterIdLst>
  <p:sldIdLst>
    <p:sldId id="256" r:id="rId2"/>
    <p:sldId id="1244" r:id="rId3"/>
    <p:sldId id="1197" r:id="rId4"/>
    <p:sldId id="1245" r:id="rId5"/>
    <p:sldId id="1243" r:id="rId6"/>
    <p:sldId id="1215" r:id="rId7"/>
    <p:sldId id="1216" r:id="rId8"/>
    <p:sldId id="1218" r:id="rId9"/>
    <p:sldId id="1217" r:id="rId10"/>
    <p:sldId id="1225" r:id="rId11"/>
    <p:sldId id="1226" r:id="rId12"/>
    <p:sldId id="1227" r:id="rId13"/>
    <p:sldId id="1219" r:id="rId14"/>
    <p:sldId id="1228" r:id="rId15"/>
    <p:sldId id="1229" r:id="rId16"/>
    <p:sldId id="1230" r:id="rId17"/>
    <p:sldId id="1231" r:id="rId18"/>
    <p:sldId id="1232" r:id="rId19"/>
    <p:sldId id="1233" r:id="rId20"/>
    <p:sldId id="1234" r:id="rId21"/>
    <p:sldId id="1235" r:id="rId22"/>
    <p:sldId id="1236" r:id="rId23"/>
    <p:sldId id="1237" r:id="rId24"/>
    <p:sldId id="1240" r:id="rId25"/>
    <p:sldId id="1239" r:id="rId26"/>
    <p:sldId id="1238" r:id="rId27"/>
    <p:sldId id="1241" r:id="rId28"/>
    <p:sldId id="1242" r:id="rId29"/>
    <p:sldId id="1067" r:id="rId30"/>
  </p:sldIdLst>
  <p:sldSz cx="9144000" cy="6858000" type="screen4x3"/>
  <p:notesSz cx="6669088" cy="9926638"/>
  <p:defaultTextStyle>
    <a:defPPr>
      <a:defRPr lang="pt-PT"/>
    </a:defPPr>
    <a:lvl1pPr algn="l" rtl="0" fontAlgn="base">
      <a:spcBef>
        <a:spcPct val="50000"/>
      </a:spcBef>
      <a:spcAft>
        <a:spcPct val="0"/>
      </a:spcAft>
      <a:defRPr sz="6000" kern="1200">
        <a:solidFill>
          <a:srgbClr val="CC0000"/>
        </a:solidFill>
        <a:latin typeface="Humanst521 BT" pitchFamily="34" charset="0"/>
        <a:ea typeface="+mn-ea"/>
        <a:cs typeface="+mn-cs"/>
      </a:defRPr>
    </a:lvl1pPr>
    <a:lvl2pPr marL="457200" algn="l" rtl="0" fontAlgn="base">
      <a:spcBef>
        <a:spcPct val="50000"/>
      </a:spcBef>
      <a:spcAft>
        <a:spcPct val="0"/>
      </a:spcAft>
      <a:defRPr sz="6000" kern="1200">
        <a:solidFill>
          <a:srgbClr val="CC0000"/>
        </a:solidFill>
        <a:latin typeface="Humanst521 BT" pitchFamily="34" charset="0"/>
        <a:ea typeface="+mn-ea"/>
        <a:cs typeface="+mn-cs"/>
      </a:defRPr>
    </a:lvl2pPr>
    <a:lvl3pPr marL="914400" algn="l" rtl="0" fontAlgn="base">
      <a:spcBef>
        <a:spcPct val="50000"/>
      </a:spcBef>
      <a:spcAft>
        <a:spcPct val="0"/>
      </a:spcAft>
      <a:defRPr sz="6000" kern="1200">
        <a:solidFill>
          <a:srgbClr val="CC0000"/>
        </a:solidFill>
        <a:latin typeface="Humanst521 BT" pitchFamily="34" charset="0"/>
        <a:ea typeface="+mn-ea"/>
        <a:cs typeface="+mn-cs"/>
      </a:defRPr>
    </a:lvl3pPr>
    <a:lvl4pPr marL="1371600" algn="l" rtl="0" fontAlgn="base">
      <a:spcBef>
        <a:spcPct val="50000"/>
      </a:spcBef>
      <a:spcAft>
        <a:spcPct val="0"/>
      </a:spcAft>
      <a:defRPr sz="6000" kern="1200">
        <a:solidFill>
          <a:srgbClr val="CC0000"/>
        </a:solidFill>
        <a:latin typeface="Humanst521 BT" pitchFamily="34" charset="0"/>
        <a:ea typeface="+mn-ea"/>
        <a:cs typeface="+mn-cs"/>
      </a:defRPr>
    </a:lvl4pPr>
    <a:lvl5pPr marL="1828800" algn="l" rtl="0" fontAlgn="base">
      <a:spcBef>
        <a:spcPct val="50000"/>
      </a:spcBef>
      <a:spcAft>
        <a:spcPct val="0"/>
      </a:spcAft>
      <a:defRPr sz="6000" kern="1200">
        <a:solidFill>
          <a:srgbClr val="CC0000"/>
        </a:solidFill>
        <a:latin typeface="Humanst521 BT" pitchFamily="34" charset="0"/>
        <a:ea typeface="+mn-ea"/>
        <a:cs typeface="+mn-cs"/>
      </a:defRPr>
    </a:lvl5pPr>
    <a:lvl6pPr marL="2286000" algn="l" defTabSz="914400" rtl="0" eaLnBrk="1" latinLnBrk="0" hangingPunct="1">
      <a:defRPr sz="6000" kern="1200">
        <a:solidFill>
          <a:srgbClr val="CC0000"/>
        </a:solidFill>
        <a:latin typeface="Humanst521 BT" pitchFamily="34" charset="0"/>
        <a:ea typeface="+mn-ea"/>
        <a:cs typeface="+mn-cs"/>
      </a:defRPr>
    </a:lvl6pPr>
    <a:lvl7pPr marL="2743200" algn="l" defTabSz="914400" rtl="0" eaLnBrk="1" latinLnBrk="0" hangingPunct="1">
      <a:defRPr sz="6000" kern="1200">
        <a:solidFill>
          <a:srgbClr val="CC0000"/>
        </a:solidFill>
        <a:latin typeface="Humanst521 BT" pitchFamily="34" charset="0"/>
        <a:ea typeface="+mn-ea"/>
        <a:cs typeface="+mn-cs"/>
      </a:defRPr>
    </a:lvl7pPr>
    <a:lvl8pPr marL="3200400" algn="l" defTabSz="914400" rtl="0" eaLnBrk="1" latinLnBrk="0" hangingPunct="1">
      <a:defRPr sz="6000" kern="1200">
        <a:solidFill>
          <a:srgbClr val="CC0000"/>
        </a:solidFill>
        <a:latin typeface="Humanst521 BT" pitchFamily="34" charset="0"/>
        <a:ea typeface="+mn-ea"/>
        <a:cs typeface="+mn-cs"/>
      </a:defRPr>
    </a:lvl8pPr>
    <a:lvl9pPr marL="3657600" algn="l" defTabSz="914400" rtl="0" eaLnBrk="1" latinLnBrk="0" hangingPunct="1">
      <a:defRPr sz="6000" kern="1200">
        <a:solidFill>
          <a:srgbClr val="CC0000"/>
        </a:solidFill>
        <a:latin typeface="Humanst521 BT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344" userDrawn="1">
          <p15:clr>
            <a:srgbClr val="A4A3A4"/>
          </p15:clr>
        </p15:guide>
        <p15:guide id="2" pos="3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 userDrawn="1">
          <p15:clr>
            <a:srgbClr val="A4A3A4"/>
          </p15:clr>
        </p15:guide>
        <p15:guide id="2" pos="2101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E6C"/>
    <a:srgbClr val="FFFFCC"/>
    <a:srgbClr val="B7ECFF"/>
    <a:srgbClr val="BDFBC3"/>
    <a:srgbClr val="CCCC00"/>
    <a:srgbClr val="EDDDA1"/>
    <a:srgbClr val="BDBB5F"/>
    <a:srgbClr val="E5B9BD"/>
    <a:srgbClr val="CC301F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210" autoAdjust="0"/>
    <p:restoredTop sz="93691" autoAdjust="0"/>
  </p:normalViewPr>
  <p:slideViewPr>
    <p:cSldViewPr>
      <p:cViewPr varScale="1">
        <p:scale>
          <a:sx n="74" d="100"/>
          <a:sy n="74" d="100"/>
        </p:scale>
        <p:origin x="78" y="636"/>
      </p:cViewPr>
      <p:guideLst>
        <p:guide orient="horz" pos="1344"/>
        <p:guide pos="340"/>
      </p:guideLst>
    </p:cSldViewPr>
  </p:slideViewPr>
  <p:outlineViewPr>
    <p:cViewPr>
      <p:scale>
        <a:sx n="33" d="100"/>
        <a:sy n="33" d="100"/>
      </p:scale>
      <p:origin x="0" y="1236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77" d="100"/>
          <a:sy n="77" d="100"/>
        </p:scale>
        <p:origin x="1524" y="102"/>
      </p:cViewPr>
      <p:guideLst>
        <p:guide orient="horz" pos="3127"/>
        <p:guide pos="210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0"/>
            <a:ext cx="2889938" cy="496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245" tIns="45122" rIns="90245" bIns="45122" numCol="1" anchor="t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defRPr sz="1200">
                <a:solidFill>
                  <a:schemeClr val="tx1"/>
                </a:solidFill>
                <a:latin typeface="Arial" charset="0"/>
              </a:defRPr>
            </a:lvl1pPr>
          </a:lstStyle>
          <a:p>
            <a:pPr>
              <a:defRPr/>
            </a:pPr>
            <a:endParaRPr lang="pt-PT"/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777607" y="0"/>
            <a:ext cx="2889938" cy="496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245" tIns="45122" rIns="90245" bIns="45122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1200">
                <a:solidFill>
                  <a:schemeClr val="tx1"/>
                </a:solidFill>
                <a:latin typeface="Arial" charset="0"/>
              </a:defRPr>
            </a:lvl1pPr>
          </a:lstStyle>
          <a:p>
            <a:pPr>
              <a:defRPr/>
            </a:pPr>
            <a:endParaRPr lang="pt-PT"/>
          </a:p>
        </p:txBody>
      </p:sp>
      <p:sp>
        <p:nvSpPr>
          <p:cNvPr id="1946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1" y="9428091"/>
            <a:ext cx="2889938" cy="496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245" tIns="45122" rIns="90245" bIns="45122" numCol="1" anchor="b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defRPr sz="1200">
                <a:solidFill>
                  <a:schemeClr val="tx1"/>
                </a:solidFill>
                <a:latin typeface="Arial" charset="0"/>
              </a:defRPr>
            </a:lvl1pPr>
          </a:lstStyle>
          <a:p>
            <a:pPr>
              <a:defRPr/>
            </a:pPr>
            <a:endParaRPr lang="pt-PT"/>
          </a:p>
        </p:txBody>
      </p:sp>
      <p:sp>
        <p:nvSpPr>
          <p:cNvPr id="1946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777607" y="9428091"/>
            <a:ext cx="2889938" cy="496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245" tIns="45122" rIns="90245" bIns="45122" numCol="1" anchor="b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1200">
                <a:solidFill>
                  <a:schemeClr val="tx1"/>
                </a:solidFill>
                <a:latin typeface="Arial" charset="0"/>
              </a:defRPr>
            </a:lvl1pPr>
          </a:lstStyle>
          <a:p>
            <a:pPr>
              <a:defRPr/>
            </a:pPr>
            <a:fld id="{786E3228-BDA5-4C88-B65C-28A18C301E9B}" type="slidenum">
              <a:rPr lang="pt-PT"/>
              <a:pPr>
                <a:defRPr/>
              </a:pPr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87441811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0"/>
            <a:ext cx="2889938" cy="496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245" tIns="45122" rIns="90245" bIns="45122" numCol="1" anchor="t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defRPr sz="1200">
                <a:solidFill>
                  <a:schemeClr val="tx1"/>
                </a:solidFill>
                <a:latin typeface="Arial" charset="0"/>
              </a:defRPr>
            </a:lvl1pPr>
          </a:lstStyle>
          <a:p>
            <a:pPr>
              <a:defRPr/>
            </a:pPr>
            <a:endParaRPr lang="pt-PT"/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777607" y="0"/>
            <a:ext cx="2889938" cy="496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245" tIns="45122" rIns="90245" bIns="45122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1200">
                <a:solidFill>
                  <a:schemeClr val="tx1"/>
                </a:solidFill>
                <a:latin typeface="Arial" charset="0"/>
              </a:defRPr>
            </a:lvl1pPr>
          </a:lstStyle>
          <a:p>
            <a:pPr>
              <a:defRPr/>
            </a:pPr>
            <a:endParaRPr lang="pt-PT"/>
          </a:p>
        </p:txBody>
      </p:sp>
      <p:sp>
        <p:nvSpPr>
          <p:cNvPr id="2458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52488" y="742950"/>
            <a:ext cx="4964112" cy="37242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331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66909" y="4714837"/>
            <a:ext cx="5335270" cy="4467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245" tIns="45122" rIns="90245" bIns="45122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PT" noProof="0"/>
              <a:t>Click to edit Master text styles</a:t>
            </a:r>
          </a:p>
          <a:p>
            <a:pPr lvl="1"/>
            <a:r>
              <a:rPr lang="pt-PT" noProof="0"/>
              <a:t>Second level</a:t>
            </a:r>
          </a:p>
          <a:p>
            <a:pPr lvl="2"/>
            <a:r>
              <a:rPr lang="pt-PT" noProof="0"/>
              <a:t>Third level</a:t>
            </a:r>
          </a:p>
          <a:p>
            <a:pPr lvl="3"/>
            <a:r>
              <a:rPr lang="pt-PT" noProof="0"/>
              <a:t>Fourth level</a:t>
            </a:r>
          </a:p>
          <a:p>
            <a:pPr lvl="4"/>
            <a:r>
              <a:rPr lang="pt-PT" noProof="0"/>
              <a:t>Fifth level</a:t>
            </a:r>
          </a:p>
        </p:txBody>
      </p:sp>
      <p:sp>
        <p:nvSpPr>
          <p:cNvPr id="1331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" y="9428091"/>
            <a:ext cx="2889938" cy="496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245" tIns="45122" rIns="90245" bIns="45122" numCol="1" anchor="b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defRPr sz="1200">
                <a:solidFill>
                  <a:schemeClr val="tx1"/>
                </a:solidFill>
                <a:latin typeface="Arial" charset="0"/>
              </a:defRPr>
            </a:lvl1pPr>
          </a:lstStyle>
          <a:p>
            <a:pPr>
              <a:defRPr/>
            </a:pPr>
            <a:endParaRPr lang="pt-PT"/>
          </a:p>
        </p:txBody>
      </p:sp>
      <p:sp>
        <p:nvSpPr>
          <p:cNvPr id="1331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777607" y="9428091"/>
            <a:ext cx="2889938" cy="496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245" tIns="45122" rIns="90245" bIns="45122" numCol="1" anchor="b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1200">
                <a:solidFill>
                  <a:schemeClr val="tx1"/>
                </a:solidFill>
                <a:latin typeface="Arial" charset="0"/>
              </a:defRPr>
            </a:lvl1pPr>
          </a:lstStyle>
          <a:p>
            <a:pPr>
              <a:defRPr/>
            </a:pPr>
            <a:fld id="{5705EB50-1723-4F02-82E6-3547F8722922}" type="slidenum">
              <a:rPr lang="pt-PT"/>
              <a:pPr>
                <a:defRPr/>
              </a:pPr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89364430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P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705EB50-1723-4F02-82E6-3547F8722922}" type="slidenum">
              <a:rPr lang="pt-PT" smtClean="0"/>
              <a:pPr>
                <a:defRPr/>
              </a:pPr>
              <a:t>0</a:t>
            </a:fld>
            <a:endParaRPr lang="pt-PT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705EB50-1723-4F02-82E6-3547F8722922}" type="slidenum">
              <a:rPr lang="pt-PT" smtClean="0"/>
              <a:pPr>
                <a:defRPr/>
              </a:pPr>
              <a:t>15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9543327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705EB50-1723-4F02-82E6-3547F8722922}" type="slidenum">
              <a:rPr lang="pt-PT" smtClean="0"/>
              <a:pPr>
                <a:defRPr/>
              </a:pPr>
              <a:t>16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7749374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705EB50-1723-4F02-82E6-3547F8722922}" type="slidenum">
              <a:rPr lang="pt-PT" smtClean="0"/>
              <a:pPr>
                <a:defRPr/>
              </a:pPr>
              <a:t>25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4306539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Box 13"/>
          <p:cNvSpPr txBox="1">
            <a:spLocks noChangeArrowheads="1"/>
          </p:cNvSpPr>
          <p:nvPr userDrawn="1"/>
        </p:nvSpPr>
        <p:spPr bwMode="auto">
          <a:xfrm>
            <a:off x="8324645" y="6163979"/>
            <a:ext cx="855867" cy="5040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noAutofit/>
          </a:bodyPr>
          <a:lstStyle/>
          <a:p>
            <a:pPr algn="l"/>
            <a:r>
              <a:rPr lang="pt-PT" sz="1200" dirty="0">
                <a:solidFill>
                  <a:schemeClr val="bg2"/>
                </a:solidFill>
                <a:latin typeface="Humnst777 BT" pitchFamily="34" charset="0"/>
              </a:rPr>
              <a:t>       /28</a:t>
            </a:r>
          </a:p>
        </p:txBody>
      </p:sp>
      <p:sp>
        <p:nvSpPr>
          <p:cNvPr id="7" name="Text Box 13"/>
          <p:cNvSpPr txBox="1">
            <a:spLocks noChangeArrowheads="1"/>
          </p:cNvSpPr>
          <p:nvPr userDrawn="1"/>
        </p:nvSpPr>
        <p:spPr bwMode="auto">
          <a:xfrm>
            <a:off x="3779912" y="6164408"/>
            <a:ext cx="2808000" cy="50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noAutofit/>
          </a:bodyPr>
          <a:lstStyle/>
          <a:p>
            <a:pPr algn="ctr"/>
            <a:r>
              <a:rPr lang="pt-PT" sz="1200" dirty="0">
                <a:solidFill>
                  <a:schemeClr val="bg2"/>
                </a:solidFill>
                <a:latin typeface="Humnst777 BT" pitchFamily="34" charset="0"/>
              </a:rPr>
              <a:t>Operação Estatística - IUT</a:t>
            </a:r>
          </a:p>
        </p:txBody>
      </p:sp>
      <p:sp>
        <p:nvSpPr>
          <p:cNvPr id="8" name="Text Box 13"/>
          <p:cNvSpPr txBox="1">
            <a:spLocks noChangeArrowheads="1"/>
          </p:cNvSpPr>
          <p:nvPr userDrawn="1"/>
        </p:nvSpPr>
        <p:spPr bwMode="auto">
          <a:xfrm>
            <a:off x="6587911" y="6176009"/>
            <a:ext cx="1670517" cy="50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noAutofit/>
          </a:bodyPr>
          <a:lstStyle/>
          <a:p>
            <a:pPr algn="ctr"/>
            <a:r>
              <a:rPr lang="pt-PT" sz="1200" dirty="0">
                <a:solidFill>
                  <a:schemeClr val="bg2"/>
                </a:solidFill>
                <a:latin typeface="Humnst777 BT" pitchFamily="34" charset="0"/>
              </a:rPr>
              <a:t>Abril 2026</a:t>
            </a:r>
          </a:p>
        </p:txBody>
      </p:sp>
      <p:sp>
        <p:nvSpPr>
          <p:cNvPr id="9" name="Text Box 34"/>
          <p:cNvSpPr txBox="1">
            <a:spLocks noChangeArrowheads="1"/>
          </p:cNvSpPr>
          <p:nvPr userDrawn="1"/>
        </p:nvSpPr>
        <p:spPr bwMode="auto">
          <a:xfrm flipV="1">
            <a:off x="8027988" y="6215453"/>
            <a:ext cx="4699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PT" sz="2400" dirty="0">
                <a:solidFill>
                  <a:srgbClr val="CC301F"/>
                </a:solidFill>
              </a:rPr>
              <a:t>«</a:t>
            </a:r>
          </a:p>
        </p:txBody>
      </p:sp>
    </p:spTree>
    <p:extLst>
      <p:ext uri="{BB962C8B-B14F-4D97-AF65-F5344CB8AC3E}">
        <p14:creationId xmlns:p14="http://schemas.microsoft.com/office/powerpoint/2010/main" val="17558224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5" name="Rectangle 11"/>
          <p:cNvSpPr>
            <a:spLocks noChangeArrowheads="1"/>
          </p:cNvSpPr>
          <p:nvPr userDrawn="1"/>
        </p:nvSpPr>
        <p:spPr bwMode="auto">
          <a:xfrm>
            <a:off x="468313" y="765175"/>
            <a:ext cx="215900" cy="215900"/>
          </a:xfrm>
          <a:prstGeom prst="rect">
            <a:avLst/>
          </a:prstGeom>
          <a:solidFill>
            <a:srgbClr val="1A3A6E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1036" name="Rectangle 12"/>
          <p:cNvSpPr>
            <a:spLocks noChangeArrowheads="1"/>
          </p:cNvSpPr>
          <p:nvPr userDrawn="1"/>
        </p:nvSpPr>
        <p:spPr bwMode="auto">
          <a:xfrm>
            <a:off x="757238" y="765175"/>
            <a:ext cx="287337" cy="215900"/>
          </a:xfrm>
          <a:prstGeom prst="rect">
            <a:avLst/>
          </a:prstGeom>
          <a:solidFill>
            <a:srgbClr val="CC301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r">
              <a:spcBef>
                <a:spcPct val="0"/>
              </a:spcBef>
              <a:defRPr/>
            </a:pPr>
            <a:endParaRPr lang="en-US" sz="180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1037" name="Rectangle 13"/>
          <p:cNvSpPr>
            <a:spLocks noChangeArrowheads="1"/>
          </p:cNvSpPr>
          <p:nvPr userDrawn="1"/>
        </p:nvSpPr>
        <p:spPr bwMode="auto">
          <a:xfrm>
            <a:off x="1116013" y="765175"/>
            <a:ext cx="865187" cy="215900"/>
          </a:xfrm>
          <a:prstGeom prst="rect">
            <a:avLst/>
          </a:prstGeom>
          <a:solidFill>
            <a:srgbClr val="C0C0C0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1038" name="Rectangle 14"/>
          <p:cNvSpPr>
            <a:spLocks noChangeArrowheads="1"/>
          </p:cNvSpPr>
          <p:nvPr userDrawn="1"/>
        </p:nvSpPr>
        <p:spPr bwMode="auto">
          <a:xfrm>
            <a:off x="2052638" y="765175"/>
            <a:ext cx="576262" cy="215900"/>
          </a:xfrm>
          <a:prstGeom prst="rect">
            <a:avLst/>
          </a:prstGeom>
          <a:solidFill>
            <a:srgbClr val="1A3A6E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1039" name="Rectangle 15"/>
          <p:cNvSpPr>
            <a:spLocks noChangeArrowheads="1"/>
          </p:cNvSpPr>
          <p:nvPr userDrawn="1"/>
        </p:nvSpPr>
        <p:spPr bwMode="auto">
          <a:xfrm>
            <a:off x="828675" y="909638"/>
            <a:ext cx="576263" cy="2159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pic>
        <p:nvPicPr>
          <p:cNvPr id="1031" name="Picture 17" descr="Logo2"/>
          <p:cNvPicPr>
            <a:picLocks noChangeAspect="1" noChangeArrowheads="1"/>
          </p:cNvPicPr>
          <p:nvPr userDrawn="1"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50825" y="6237288"/>
            <a:ext cx="3635375" cy="422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6" r:id="rId2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google.com/forms/.../viewform" TargetMode="External"/><Relationship Id="rId2" Type="http://schemas.openxmlformats.org/officeDocument/2006/relationships/hyperlink" Target="../media/OE-IUT_20180411.mp4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r4.ine.pt/" TargetMode="Externa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ti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ti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tif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tif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ti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ti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tif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tif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tif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tif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ti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tif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hyperlink" Target="https://rstudio.com/" TargetMode="External"/><Relationship Id="rId2" Type="http://schemas.openxmlformats.org/officeDocument/2006/relationships/hyperlink" Target="https://www.r-project.org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ithub.com/jsollari/OE-IUT2020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Text Box 44"/>
          <p:cNvSpPr txBox="1">
            <a:spLocks noChangeArrowheads="1"/>
          </p:cNvSpPr>
          <p:nvPr/>
        </p:nvSpPr>
        <p:spPr bwMode="auto">
          <a:xfrm flipV="1">
            <a:off x="684213" y="2506662"/>
            <a:ext cx="504825" cy="922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PT" sz="5400" dirty="0">
                <a:solidFill>
                  <a:srgbClr val="CC301F"/>
                </a:solidFill>
              </a:rPr>
              <a:t>«</a:t>
            </a:r>
          </a:p>
        </p:txBody>
      </p:sp>
      <p:sp>
        <p:nvSpPr>
          <p:cNvPr id="2054" name="Rectangle 60"/>
          <p:cNvSpPr>
            <a:spLocks noChangeArrowheads="1"/>
          </p:cNvSpPr>
          <p:nvPr/>
        </p:nvSpPr>
        <p:spPr bwMode="auto">
          <a:xfrm>
            <a:off x="1116013" y="2564829"/>
            <a:ext cx="7416800" cy="7921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lnSpc>
                <a:spcPct val="90000"/>
              </a:lnSpc>
              <a:spcBef>
                <a:spcPct val="20000"/>
              </a:spcBef>
            </a:pPr>
            <a:r>
              <a:rPr lang="pt-PT" sz="3600" b="1" dirty="0">
                <a:solidFill>
                  <a:schemeClr val="bg2"/>
                </a:solidFill>
                <a:latin typeface="Humnst777 BT" pitchFamily="34" charset="0"/>
              </a:rPr>
              <a:t>Operação Estatística - IUT</a:t>
            </a:r>
          </a:p>
        </p:txBody>
      </p:sp>
      <p:pic>
        <p:nvPicPr>
          <p:cNvPr id="2055" name="Picture 81" descr="Logo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39750" y="404813"/>
            <a:ext cx="3168650" cy="1154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" name="Rectangle 27"/>
          <p:cNvSpPr>
            <a:spLocks noChangeArrowheads="1"/>
          </p:cNvSpPr>
          <p:nvPr/>
        </p:nvSpPr>
        <p:spPr bwMode="auto">
          <a:xfrm>
            <a:off x="2005013" y="5470550"/>
            <a:ext cx="6696075" cy="479425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lnSpc>
                <a:spcPct val="90000"/>
              </a:lnSpc>
              <a:spcBef>
                <a:spcPct val="20000"/>
              </a:spcBef>
              <a:defRPr/>
            </a:pPr>
            <a:r>
              <a:rPr lang="pt-PT" sz="1800" dirty="0">
                <a:solidFill>
                  <a:srgbClr val="002060"/>
                </a:solidFill>
                <a:latin typeface="Humnst777 BT" pitchFamily="34" charset="0"/>
              </a:rPr>
              <a:t>DMSI / ME</a:t>
            </a:r>
          </a:p>
        </p:txBody>
      </p:sp>
      <p:sp>
        <p:nvSpPr>
          <p:cNvPr id="2058" name="Rectangle 10"/>
          <p:cNvSpPr>
            <a:spLocks noChangeArrowheads="1"/>
          </p:cNvSpPr>
          <p:nvPr/>
        </p:nvSpPr>
        <p:spPr bwMode="auto">
          <a:xfrm>
            <a:off x="2124075" y="5876950"/>
            <a:ext cx="215900" cy="215900"/>
          </a:xfrm>
          <a:prstGeom prst="rect">
            <a:avLst/>
          </a:prstGeom>
          <a:solidFill>
            <a:srgbClr val="1A3A6E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059" name="Rectangle 11"/>
          <p:cNvSpPr>
            <a:spLocks noChangeArrowheads="1"/>
          </p:cNvSpPr>
          <p:nvPr/>
        </p:nvSpPr>
        <p:spPr bwMode="auto">
          <a:xfrm>
            <a:off x="2413000" y="5876950"/>
            <a:ext cx="287338" cy="215900"/>
          </a:xfrm>
          <a:prstGeom prst="rect">
            <a:avLst/>
          </a:prstGeom>
          <a:solidFill>
            <a:srgbClr val="CC301F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r">
              <a:spcBef>
                <a:spcPct val="0"/>
              </a:spcBef>
            </a:pPr>
            <a:endParaRPr lang="en-US" sz="180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2060" name="Rectangle 12"/>
          <p:cNvSpPr>
            <a:spLocks noChangeArrowheads="1"/>
          </p:cNvSpPr>
          <p:nvPr/>
        </p:nvSpPr>
        <p:spPr bwMode="auto">
          <a:xfrm>
            <a:off x="2771775" y="5876950"/>
            <a:ext cx="865188" cy="215900"/>
          </a:xfrm>
          <a:prstGeom prst="rect">
            <a:avLst/>
          </a:prstGeom>
          <a:solidFill>
            <a:srgbClr val="C0C0C0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061" name="Rectangle 13"/>
          <p:cNvSpPr>
            <a:spLocks noChangeArrowheads="1"/>
          </p:cNvSpPr>
          <p:nvPr/>
        </p:nvSpPr>
        <p:spPr bwMode="auto">
          <a:xfrm>
            <a:off x="3708400" y="5876950"/>
            <a:ext cx="576263" cy="215900"/>
          </a:xfrm>
          <a:prstGeom prst="rect">
            <a:avLst/>
          </a:prstGeom>
          <a:solidFill>
            <a:srgbClr val="1A3A6E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057" name="Text Box 45"/>
          <p:cNvSpPr txBox="1">
            <a:spLocks noChangeArrowheads="1"/>
          </p:cNvSpPr>
          <p:nvPr/>
        </p:nvSpPr>
        <p:spPr bwMode="auto">
          <a:xfrm>
            <a:off x="4284663" y="5805512"/>
            <a:ext cx="273526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pt-PT" sz="1800" dirty="0">
                <a:solidFill>
                  <a:srgbClr val="002060"/>
                </a:solidFill>
                <a:latin typeface="Humnst777 BT" pitchFamily="34" charset="0"/>
              </a:rPr>
              <a:t>  Abril de 2026</a:t>
            </a:r>
          </a:p>
        </p:txBody>
      </p:sp>
      <p:sp>
        <p:nvSpPr>
          <p:cNvPr id="2063" name="Rectangle 33"/>
          <p:cNvSpPr>
            <a:spLocks noChangeArrowheads="1"/>
          </p:cNvSpPr>
          <p:nvPr/>
        </p:nvSpPr>
        <p:spPr bwMode="auto">
          <a:xfrm>
            <a:off x="2484438" y="6021412"/>
            <a:ext cx="576262" cy="2159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6843420" y="4077072"/>
            <a:ext cx="1495859" cy="7848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>
              <a:spcBef>
                <a:spcPts val="600"/>
              </a:spcBef>
            </a:pPr>
            <a:r>
              <a:rPr lang="pt-PT" sz="2000" dirty="0">
                <a:solidFill>
                  <a:schemeClr val="bg1">
                    <a:lumMod val="50000"/>
                  </a:schemeClr>
                </a:solidFill>
                <a:latin typeface="Humnst777 BT"/>
              </a:rPr>
              <a:t>João Lopes</a:t>
            </a:r>
          </a:p>
          <a:p>
            <a:pPr algn="r">
              <a:spcBef>
                <a:spcPts val="600"/>
              </a:spcBef>
            </a:pPr>
            <a:r>
              <a:rPr lang="pt-PT" sz="2000" dirty="0">
                <a:solidFill>
                  <a:schemeClr val="bg1">
                    <a:lumMod val="50000"/>
                  </a:schemeClr>
                </a:solidFill>
                <a:latin typeface="Humnst777 BT"/>
              </a:rPr>
              <a:t>Filipe Santos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F78216E-3077-C860-479B-411B7AC3079F}"/>
              </a:ext>
            </a:extLst>
          </p:cNvPr>
          <p:cNvSpPr txBox="1"/>
          <p:nvPr/>
        </p:nvSpPr>
        <p:spPr>
          <a:xfrm>
            <a:off x="1113806" y="3363282"/>
            <a:ext cx="42692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Bef>
                <a:spcPts val="600"/>
              </a:spcBef>
            </a:pPr>
            <a:r>
              <a:rPr lang="pt-PT" sz="2000" dirty="0">
                <a:solidFill>
                  <a:schemeClr val="bg1">
                    <a:lumMod val="50000"/>
                  </a:schemeClr>
                </a:solidFill>
                <a:latin typeface="Humnst777 BT"/>
              </a:rPr>
              <a:t>Escola Básica e Secundária de Albufeira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B23C06-6924-B54A-D1C5-1354D85095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Box 39">
            <a:extLst>
              <a:ext uri="{FF2B5EF4-FFF2-40B4-BE49-F238E27FC236}">
                <a16:creationId xmlns:a16="http://schemas.microsoft.com/office/drawing/2014/main" id="{8E1E50E5-CD8A-0E41-2168-A849B6ACC4D1}"/>
              </a:ext>
            </a:extLst>
          </p:cNvPr>
          <p:cNvSpPr txBox="1">
            <a:spLocks noChangeArrowheads="1"/>
          </p:cNvSpPr>
          <p:nvPr/>
        </p:nvSpPr>
        <p:spPr bwMode="auto">
          <a:xfrm rot="5400000" flipV="1">
            <a:off x="7775575" y="946150"/>
            <a:ext cx="504825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PT" dirty="0">
                <a:solidFill>
                  <a:srgbClr val="CC301F"/>
                </a:solidFill>
              </a:rPr>
              <a:t>«</a:t>
            </a:r>
          </a:p>
        </p:txBody>
      </p:sp>
      <p:sp>
        <p:nvSpPr>
          <p:cNvPr id="11" name="Rectangle 38">
            <a:extLst>
              <a:ext uri="{FF2B5EF4-FFF2-40B4-BE49-F238E27FC236}">
                <a16:creationId xmlns:a16="http://schemas.microsoft.com/office/drawing/2014/main" id="{0616A8F4-7501-5F3C-C138-642477C8D6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71775" y="404813"/>
            <a:ext cx="6048375" cy="854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r">
              <a:spcBef>
                <a:spcPct val="0"/>
              </a:spcBef>
            </a:pPr>
            <a:r>
              <a:rPr lang="pt-PT" sz="3800" dirty="0">
                <a:solidFill>
                  <a:schemeClr val="bg2"/>
                </a:solidFill>
                <a:latin typeface="Humnst777 BT" pitchFamily="34" charset="0"/>
              </a:rPr>
              <a:t>INE – Código de conduta </a:t>
            </a:r>
          </a:p>
        </p:txBody>
      </p:sp>
      <p:sp>
        <p:nvSpPr>
          <p:cNvPr id="18" name="Text Box 13">
            <a:extLst>
              <a:ext uri="{FF2B5EF4-FFF2-40B4-BE49-F238E27FC236}">
                <a16:creationId xmlns:a16="http://schemas.microsoft.com/office/drawing/2014/main" id="{D5B067E2-DB2D-C35A-0046-D3FDC94059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16999" y="6276920"/>
            <a:ext cx="403151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pt-PT" sz="1200" dirty="0">
                <a:solidFill>
                  <a:schemeClr val="bg2"/>
                </a:solidFill>
                <a:latin typeface="Humnst777 BT" pitchFamily="34" charset="0"/>
              </a:rPr>
              <a:t>01</a:t>
            </a:r>
          </a:p>
        </p:txBody>
      </p:sp>
      <p:sp>
        <p:nvSpPr>
          <p:cNvPr id="9" name="Text Box 376">
            <a:extLst>
              <a:ext uri="{FF2B5EF4-FFF2-40B4-BE49-F238E27FC236}">
                <a16:creationId xmlns:a16="http://schemas.microsoft.com/office/drawing/2014/main" id="{1D6781EA-E887-70A6-C3B4-278248983B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0320" y="2133600"/>
            <a:ext cx="8136136" cy="41652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457200" indent="-457200"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Font typeface="+mj-lt"/>
              <a:buAutoNum type="arabicPeriod"/>
            </a:pPr>
            <a:r>
              <a:rPr lang="pt-PT" sz="2200" dirty="0">
                <a:solidFill>
                  <a:schemeClr val="tx1"/>
                </a:solidFill>
                <a:latin typeface="Humnst777 BT" pitchFamily="34" charset="0"/>
              </a:rPr>
              <a:t> </a:t>
            </a:r>
            <a:r>
              <a:rPr lang="pt-PT" sz="2200" b="1" dirty="0">
                <a:solidFill>
                  <a:schemeClr val="tx1"/>
                </a:solidFill>
                <a:latin typeface="Humnst777 BT" pitchFamily="34" charset="0"/>
              </a:rPr>
              <a:t>Independência profissional</a:t>
            </a:r>
          </a:p>
          <a:p>
            <a:pPr marL="914400" lvl="1" indent="-457200"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Font typeface="+mj-lt"/>
              <a:buAutoNum type="alphaUcPeriod"/>
            </a:pPr>
            <a:r>
              <a:rPr lang="pt-PT" sz="2200" dirty="0">
                <a:solidFill>
                  <a:schemeClr val="tx1"/>
                </a:solidFill>
                <a:latin typeface="Humnst777 BT" pitchFamily="34" charset="0"/>
              </a:rPr>
              <a:t> </a:t>
            </a:r>
            <a:r>
              <a:rPr lang="pt-PT" sz="2200" b="1" dirty="0">
                <a:solidFill>
                  <a:schemeClr val="tx1"/>
                </a:solidFill>
                <a:latin typeface="Humnst777 BT" pitchFamily="34" charset="0"/>
              </a:rPr>
              <a:t>Coordenação e cooperação</a:t>
            </a:r>
          </a:p>
          <a:p>
            <a:pPr marL="457200" indent="-457200"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Font typeface="+mj-lt"/>
              <a:buAutoNum type="arabicPeriod"/>
            </a:pPr>
            <a:r>
              <a:rPr lang="pt-PT" sz="2200" dirty="0">
                <a:solidFill>
                  <a:schemeClr val="tx1"/>
                </a:solidFill>
                <a:latin typeface="Humnst777 BT" pitchFamily="34" charset="0"/>
              </a:rPr>
              <a:t> Mandato para recolha de dados e acesso aos dados</a:t>
            </a:r>
          </a:p>
          <a:p>
            <a:pPr marL="457200" indent="-457200"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Font typeface="+mj-lt"/>
              <a:buAutoNum type="arabicPeriod"/>
            </a:pPr>
            <a:r>
              <a:rPr lang="pt-PT" sz="2200" dirty="0">
                <a:solidFill>
                  <a:schemeClr val="tx1"/>
                </a:solidFill>
                <a:latin typeface="Humnst777 BT" pitchFamily="34" charset="0"/>
              </a:rPr>
              <a:t> Adequação de recursos</a:t>
            </a:r>
          </a:p>
          <a:p>
            <a:pPr marL="457200" indent="-457200"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Font typeface="+mj-lt"/>
              <a:buAutoNum type="arabicPeriod"/>
            </a:pPr>
            <a:r>
              <a:rPr lang="pt-PT" sz="2200" dirty="0">
                <a:solidFill>
                  <a:schemeClr val="tx1"/>
                </a:solidFill>
                <a:latin typeface="Humnst777 BT" pitchFamily="34" charset="0"/>
              </a:rPr>
              <a:t> Compromisso com a qualidade</a:t>
            </a:r>
          </a:p>
          <a:p>
            <a:pPr marL="457200" indent="-457200"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Font typeface="+mj-lt"/>
              <a:buAutoNum type="arabicPeriod"/>
            </a:pPr>
            <a:r>
              <a:rPr lang="pt-PT" sz="2200" dirty="0">
                <a:solidFill>
                  <a:schemeClr val="tx1"/>
                </a:solidFill>
                <a:latin typeface="Humnst777 BT" pitchFamily="34" charset="0"/>
              </a:rPr>
              <a:t> </a:t>
            </a:r>
            <a:r>
              <a:rPr lang="pt-PT" sz="2200" b="1" dirty="0">
                <a:solidFill>
                  <a:schemeClr val="tx1"/>
                </a:solidFill>
                <a:latin typeface="Humnst777 BT" pitchFamily="34" charset="0"/>
              </a:rPr>
              <a:t>Confidencialidade estatística e proteção dos dados</a:t>
            </a:r>
          </a:p>
          <a:p>
            <a:pPr marL="457200" indent="-457200"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Font typeface="+mj-lt"/>
              <a:buAutoNum type="arabicPeriod"/>
            </a:pPr>
            <a:r>
              <a:rPr lang="pt-PT" sz="2200" dirty="0">
                <a:solidFill>
                  <a:schemeClr val="tx1"/>
                </a:solidFill>
                <a:latin typeface="Humnst777 BT" pitchFamily="34" charset="0"/>
              </a:rPr>
              <a:t> </a:t>
            </a:r>
            <a:r>
              <a:rPr lang="pt-PT" sz="2200" b="1" dirty="0">
                <a:solidFill>
                  <a:schemeClr val="tx1"/>
                </a:solidFill>
                <a:latin typeface="Humnst777 BT" pitchFamily="34" charset="0"/>
              </a:rPr>
              <a:t>Imparcialidade e objetividade</a:t>
            </a:r>
          </a:p>
          <a:p>
            <a:pPr marL="457200" indent="-457200"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Font typeface="+mj-lt"/>
              <a:buAutoNum type="arabicPeriod"/>
            </a:pPr>
            <a:endParaRPr lang="pt-PT" sz="2200" dirty="0">
              <a:solidFill>
                <a:schemeClr val="tx1"/>
              </a:solidFill>
              <a:latin typeface="Humnst777 BT" pitchFamily="34" charset="0"/>
            </a:endParaRPr>
          </a:p>
          <a:p>
            <a:pPr algn="r"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</a:pPr>
            <a:r>
              <a:rPr lang="pt-PT" sz="2200" dirty="0">
                <a:solidFill>
                  <a:schemeClr val="tx1"/>
                </a:solidFill>
                <a:latin typeface="Humnst777 BT" pitchFamily="34" charset="0"/>
              </a:rPr>
              <a:t>16 de Novembro 2017 (CSEE)</a:t>
            </a:r>
          </a:p>
        </p:txBody>
      </p:sp>
      <p:sp>
        <p:nvSpPr>
          <p:cNvPr id="2" name="Text Box 376">
            <a:extLst>
              <a:ext uri="{FF2B5EF4-FFF2-40B4-BE49-F238E27FC236}">
                <a16:creationId xmlns:a16="http://schemas.microsoft.com/office/drawing/2014/main" id="{BA2345B3-FEE9-7577-C735-3F18512532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3568" y="1484784"/>
            <a:ext cx="7705725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0"/>
              </a:spcBef>
            </a:pPr>
            <a:r>
              <a:rPr lang="pt-PT" sz="2800" b="1" dirty="0">
                <a:solidFill>
                  <a:srgbClr val="CC301F"/>
                </a:solidFill>
              </a:rPr>
              <a:t>»</a:t>
            </a:r>
            <a:r>
              <a:rPr lang="pt-PT" sz="2800" dirty="0">
                <a:solidFill>
                  <a:schemeClr val="bg2"/>
                </a:solidFill>
                <a:latin typeface="Humnst777 BT" pitchFamily="34" charset="0"/>
              </a:rPr>
              <a:t> Enquadramento institucional (1-6/15)</a:t>
            </a:r>
          </a:p>
        </p:txBody>
      </p:sp>
    </p:spTree>
    <p:extLst>
      <p:ext uri="{BB962C8B-B14F-4D97-AF65-F5344CB8AC3E}">
        <p14:creationId xmlns:p14="http://schemas.microsoft.com/office/powerpoint/2010/main" val="25475615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Box 39"/>
          <p:cNvSpPr txBox="1">
            <a:spLocks noChangeArrowheads="1"/>
          </p:cNvSpPr>
          <p:nvPr/>
        </p:nvSpPr>
        <p:spPr bwMode="auto">
          <a:xfrm rot="5400000" flipV="1">
            <a:off x="7775575" y="946150"/>
            <a:ext cx="504825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PT" dirty="0">
                <a:solidFill>
                  <a:srgbClr val="CC301F"/>
                </a:solidFill>
              </a:rPr>
              <a:t>«</a:t>
            </a:r>
          </a:p>
        </p:txBody>
      </p:sp>
      <p:sp>
        <p:nvSpPr>
          <p:cNvPr id="11" name="Rectangle 38"/>
          <p:cNvSpPr>
            <a:spLocks noChangeArrowheads="1"/>
          </p:cNvSpPr>
          <p:nvPr/>
        </p:nvSpPr>
        <p:spPr bwMode="auto">
          <a:xfrm>
            <a:off x="2771775" y="404813"/>
            <a:ext cx="6048375" cy="854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r">
              <a:spcBef>
                <a:spcPct val="0"/>
              </a:spcBef>
            </a:pPr>
            <a:r>
              <a:rPr lang="pt-PT" sz="3800" dirty="0">
                <a:solidFill>
                  <a:schemeClr val="bg2"/>
                </a:solidFill>
                <a:latin typeface="Humnst777 BT" pitchFamily="34" charset="0"/>
              </a:rPr>
              <a:t>INE – Código de conduta</a:t>
            </a:r>
          </a:p>
        </p:txBody>
      </p:sp>
      <p:sp>
        <p:nvSpPr>
          <p:cNvPr id="18" name="Text Box 13"/>
          <p:cNvSpPr txBox="1">
            <a:spLocks noChangeArrowheads="1"/>
          </p:cNvSpPr>
          <p:nvPr/>
        </p:nvSpPr>
        <p:spPr bwMode="auto">
          <a:xfrm>
            <a:off x="8416999" y="6276920"/>
            <a:ext cx="403151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pt-PT" sz="1200" dirty="0">
                <a:solidFill>
                  <a:schemeClr val="bg2"/>
                </a:solidFill>
                <a:latin typeface="Humnst777 BT" pitchFamily="34" charset="0"/>
              </a:rPr>
              <a:t>02</a:t>
            </a:r>
          </a:p>
        </p:txBody>
      </p:sp>
      <p:sp>
        <p:nvSpPr>
          <p:cNvPr id="9" name="Text Box 376"/>
          <p:cNvSpPr txBox="1">
            <a:spLocks noChangeArrowheads="1"/>
          </p:cNvSpPr>
          <p:nvPr/>
        </p:nvSpPr>
        <p:spPr bwMode="auto">
          <a:xfrm>
            <a:off x="540320" y="2133600"/>
            <a:ext cx="8136136" cy="41652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457200" indent="-457200"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Font typeface="+mj-lt"/>
              <a:buAutoNum type="arabicPeriod" startAt="7"/>
            </a:pPr>
            <a:r>
              <a:rPr lang="pt-PT" sz="2200" dirty="0">
                <a:solidFill>
                  <a:schemeClr val="tx1"/>
                </a:solidFill>
                <a:latin typeface="Humnst777 BT" pitchFamily="34" charset="0"/>
              </a:rPr>
              <a:t> </a:t>
            </a:r>
            <a:r>
              <a:rPr lang="pt-PT" sz="2200" b="1" dirty="0">
                <a:solidFill>
                  <a:schemeClr val="tx1"/>
                </a:solidFill>
                <a:latin typeface="Humnst777 BT" pitchFamily="34" charset="0"/>
              </a:rPr>
              <a:t>Metodologia sólida</a:t>
            </a:r>
          </a:p>
          <a:p>
            <a:pPr marL="457200" indent="-457200"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Font typeface="+mj-lt"/>
              <a:buAutoNum type="arabicPeriod" startAt="7"/>
            </a:pPr>
            <a:r>
              <a:rPr lang="pt-PT" sz="2200" dirty="0">
                <a:solidFill>
                  <a:schemeClr val="tx1"/>
                </a:solidFill>
                <a:latin typeface="Humnst777 BT" pitchFamily="34" charset="0"/>
              </a:rPr>
              <a:t> Procedimentos Estatísticos Apropriados</a:t>
            </a:r>
          </a:p>
          <a:p>
            <a:pPr marL="457200" indent="-457200"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Font typeface="+mj-lt"/>
              <a:buAutoNum type="arabicPeriod" startAt="7"/>
            </a:pPr>
            <a:r>
              <a:rPr lang="pt-PT" sz="2200" dirty="0">
                <a:solidFill>
                  <a:schemeClr val="tx1"/>
                </a:solidFill>
                <a:latin typeface="Humnst777 BT" pitchFamily="34" charset="0"/>
              </a:rPr>
              <a:t> Carga não excessiva sobre os respondentes</a:t>
            </a:r>
          </a:p>
          <a:p>
            <a:pPr marL="457200" indent="-457200"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Font typeface="+mj-lt"/>
              <a:buAutoNum type="arabicPeriod" startAt="7"/>
            </a:pPr>
            <a:r>
              <a:rPr lang="pt-PT" sz="2200" dirty="0">
                <a:solidFill>
                  <a:schemeClr val="tx1"/>
                </a:solidFill>
                <a:latin typeface="Humnst777 BT" pitchFamily="34" charset="0"/>
              </a:rPr>
              <a:t> Eficácia na utilização dos recursos</a:t>
            </a:r>
          </a:p>
          <a:p>
            <a:pPr marL="457200" indent="-457200"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Font typeface="+mj-lt"/>
              <a:buAutoNum type="arabicPeriod" startAt="7"/>
            </a:pPr>
            <a:endParaRPr lang="pt-PT" sz="2200" dirty="0">
              <a:solidFill>
                <a:schemeClr val="tx1"/>
              </a:solidFill>
              <a:latin typeface="Humnst777 BT" pitchFamily="34" charset="0"/>
            </a:endParaRPr>
          </a:p>
          <a:p>
            <a:pPr marL="457200" indent="-457200"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Font typeface="+mj-lt"/>
              <a:buAutoNum type="arabicPeriod" startAt="7"/>
            </a:pPr>
            <a:endParaRPr lang="pt-PT" sz="2200" dirty="0">
              <a:solidFill>
                <a:schemeClr val="tx1"/>
              </a:solidFill>
              <a:latin typeface="Humnst777 BT" pitchFamily="34" charset="0"/>
            </a:endParaRPr>
          </a:p>
          <a:p>
            <a:pPr marL="457200" indent="-457200"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Font typeface="+mj-lt"/>
              <a:buAutoNum type="arabicPeriod" startAt="7"/>
            </a:pPr>
            <a:endParaRPr lang="pt-PT" sz="2200" dirty="0">
              <a:solidFill>
                <a:schemeClr val="tx1"/>
              </a:solidFill>
              <a:latin typeface="Humnst777 BT" pitchFamily="34" charset="0"/>
            </a:endParaRPr>
          </a:p>
          <a:p>
            <a:pPr marL="457200" indent="-457200"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Font typeface="+mj-lt"/>
              <a:buAutoNum type="arabicPeriod" startAt="7"/>
            </a:pPr>
            <a:endParaRPr lang="pt-PT" sz="2200" dirty="0">
              <a:solidFill>
                <a:schemeClr val="tx1"/>
              </a:solidFill>
              <a:latin typeface="Humnst777 BT" pitchFamily="34" charset="0"/>
            </a:endParaRPr>
          </a:p>
          <a:p>
            <a:pPr algn="r"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</a:pPr>
            <a:r>
              <a:rPr lang="pt-PT" sz="2200" dirty="0">
                <a:solidFill>
                  <a:schemeClr val="tx1"/>
                </a:solidFill>
                <a:latin typeface="Humnst777 BT" pitchFamily="34" charset="0"/>
              </a:rPr>
              <a:t>16 de Novembro 2017 (CSEE)</a:t>
            </a:r>
          </a:p>
        </p:txBody>
      </p:sp>
      <p:sp>
        <p:nvSpPr>
          <p:cNvPr id="2" name="Text Box 376">
            <a:extLst>
              <a:ext uri="{FF2B5EF4-FFF2-40B4-BE49-F238E27FC236}">
                <a16:creationId xmlns:a16="http://schemas.microsoft.com/office/drawing/2014/main" id="{A18323B3-6A61-2441-0B51-4911F24E56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3568" y="1484784"/>
            <a:ext cx="7705725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0"/>
              </a:spcBef>
            </a:pPr>
            <a:r>
              <a:rPr lang="pt-PT" sz="2800" b="1" dirty="0">
                <a:solidFill>
                  <a:srgbClr val="CC301F"/>
                </a:solidFill>
              </a:rPr>
              <a:t>»</a:t>
            </a:r>
            <a:r>
              <a:rPr lang="pt-PT" sz="2800" dirty="0">
                <a:solidFill>
                  <a:schemeClr val="bg2"/>
                </a:solidFill>
                <a:latin typeface="Humnst777 BT" pitchFamily="34" charset="0"/>
              </a:rPr>
              <a:t> Processos estatísticos (7-10/16)</a:t>
            </a:r>
          </a:p>
        </p:txBody>
      </p:sp>
    </p:spTree>
    <p:extLst>
      <p:ext uri="{BB962C8B-B14F-4D97-AF65-F5344CB8AC3E}">
        <p14:creationId xmlns:p14="http://schemas.microsoft.com/office/powerpoint/2010/main" val="31861881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4CA2D1-81C4-C970-8DCE-375C94A451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Box 39">
            <a:extLst>
              <a:ext uri="{FF2B5EF4-FFF2-40B4-BE49-F238E27FC236}">
                <a16:creationId xmlns:a16="http://schemas.microsoft.com/office/drawing/2014/main" id="{89E84E09-791A-0C3D-0D68-9F85EB7CA589}"/>
              </a:ext>
            </a:extLst>
          </p:cNvPr>
          <p:cNvSpPr txBox="1">
            <a:spLocks noChangeArrowheads="1"/>
          </p:cNvSpPr>
          <p:nvPr/>
        </p:nvSpPr>
        <p:spPr bwMode="auto">
          <a:xfrm rot="5400000" flipV="1">
            <a:off x="7775575" y="946150"/>
            <a:ext cx="504825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PT" dirty="0">
                <a:solidFill>
                  <a:srgbClr val="CC301F"/>
                </a:solidFill>
              </a:rPr>
              <a:t>«</a:t>
            </a:r>
          </a:p>
        </p:txBody>
      </p:sp>
      <p:sp>
        <p:nvSpPr>
          <p:cNvPr id="11" name="Rectangle 38">
            <a:extLst>
              <a:ext uri="{FF2B5EF4-FFF2-40B4-BE49-F238E27FC236}">
                <a16:creationId xmlns:a16="http://schemas.microsoft.com/office/drawing/2014/main" id="{E048EB5D-8D27-A1D4-62F7-C6CD778B8E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71775" y="404813"/>
            <a:ext cx="6048375" cy="854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r">
              <a:spcBef>
                <a:spcPct val="0"/>
              </a:spcBef>
            </a:pPr>
            <a:r>
              <a:rPr lang="pt-PT" sz="3800" dirty="0">
                <a:solidFill>
                  <a:schemeClr val="bg2"/>
                </a:solidFill>
                <a:latin typeface="Humnst777 BT" pitchFamily="34" charset="0"/>
              </a:rPr>
              <a:t>INE – Código de conduta</a:t>
            </a:r>
          </a:p>
        </p:txBody>
      </p:sp>
      <p:sp>
        <p:nvSpPr>
          <p:cNvPr id="18" name="Text Box 13">
            <a:extLst>
              <a:ext uri="{FF2B5EF4-FFF2-40B4-BE49-F238E27FC236}">
                <a16:creationId xmlns:a16="http://schemas.microsoft.com/office/drawing/2014/main" id="{9516877A-AF61-3CC9-364B-9EBC7FE8A5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16999" y="6276920"/>
            <a:ext cx="403151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pt-PT" sz="1200" dirty="0">
                <a:solidFill>
                  <a:schemeClr val="bg2"/>
                </a:solidFill>
                <a:latin typeface="Humnst777 BT" pitchFamily="34" charset="0"/>
              </a:rPr>
              <a:t>03</a:t>
            </a:r>
          </a:p>
        </p:txBody>
      </p:sp>
      <p:sp>
        <p:nvSpPr>
          <p:cNvPr id="9" name="Text Box 376">
            <a:extLst>
              <a:ext uri="{FF2B5EF4-FFF2-40B4-BE49-F238E27FC236}">
                <a16:creationId xmlns:a16="http://schemas.microsoft.com/office/drawing/2014/main" id="{AAA37E85-2C6F-095E-F716-ACB81A98E9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0320" y="2133600"/>
            <a:ext cx="8136136" cy="41652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457200" indent="-457200"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Font typeface="+mj-lt"/>
              <a:buAutoNum type="arabicPeriod" startAt="11"/>
            </a:pPr>
            <a:r>
              <a:rPr lang="pt-PT" sz="2200" dirty="0">
                <a:solidFill>
                  <a:schemeClr val="tx1"/>
                </a:solidFill>
                <a:latin typeface="Humnst777 BT" pitchFamily="34" charset="0"/>
              </a:rPr>
              <a:t> </a:t>
            </a:r>
            <a:r>
              <a:rPr lang="pt-PT" sz="2200" b="1" dirty="0">
                <a:solidFill>
                  <a:schemeClr val="tx1"/>
                </a:solidFill>
                <a:latin typeface="Humnst777 BT" pitchFamily="34" charset="0"/>
              </a:rPr>
              <a:t>Relevância</a:t>
            </a:r>
          </a:p>
          <a:p>
            <a:pPr marL="457200" indent="-457200"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Font typeface="+mj-lt"/>
              <a:buAutoNum type="arabicPeriod" startAt="11"/>
            </a:pPr>
            <a:r>
              <a:rPr lang="pt-PT" sz="2200" dirty="0">
                <a:solidFill>
                  <a:schemeClr val="tx1"/>
                </a:solidFill>
                <a:latin typeface="Humnst777 BT" pitchFamily="34" charset="0"/>
              </a:rPr>
              <a:t> </a:t>
            </a:r>
            <a:r>
              <a:rPr lang="pt-PT" sz="2200" b="1" dirty="0">
                <a:solidFill>
                  <a:schemeClr val="tx1"/>
                </a:solidFill>
                <a:latin typeface="Humnst777 BT" pitchFamily="34" charset="0"/>
              </a:rPr>
              <a:t>Precisão e fiabilidade</a:t>
            </a:r>
          </a:p>
          <a:p>
            <a:pPr marL="457200" indent="-457200"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Font typeface="+mj-lt"/>
              <a:buAutoNum type="arabicPeriod" startAt="11"/>
            </a:pPr>
            <a:r>
              <a:rPr lang="pt-PT" sz="2200" dirty="0">
                <a:solidFill>
                  <a:schemeClr val="tx1"/>
                </a:solidFill>
                <a:latin typeface="Humnst777 BT" pitchFamily="34" charset="0"/>
              </a:rPr>
              <a:t> Oportunidade e pontualidade</a:t>
            </a:r>
          </a:p>
          <a:p>
            <a:pPr marL="457200" indent="-457200"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Font typeface="+mj-lt"/>
              <a:buAutoNum type="arabicPeriod" startAt="11"/>
            </a:pPr>
            <a:r>
              <a:rPr lang="pt-PT" sz="2200" dirty="0">
                <a:solidFill>
                  <a:schemeClr val="tx1"/>
                </a:solidFill>
                <a:latin typeface="Humnst777 BT" pitchFamily="34" charset="0"/>
              </a:rPr>
              <a:t> Coerência e comparabilidade</a:t>
            </a:r>
          </a:p>
          <a:p>
            <a:pPr marL="457200" indent="-457200"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Font typeface="+mj-lt"/>
              <a:buAutoNum type="arabicPeriod" startAt="11"/>
            </a:pPr>
            <a:r>
              <a:rPr lang="pt-PT" sz="2200" dirty="0">
                <a:solidFill>
                  <a:schemeClr val="tx1"/>
                </a:solidFill>
                <a:latin typeface="Humnst777 BT" pitchFamily="34" charset="0"/>
              </a:rPr>
              <a:t> </a:t>
            </a:r>
            <a:r>
              <a:rPr lang="pt-PT" sz="2200" b="1" dirty="0">
                <a:solidFill>
                  <a:schemeClr val="tx1"/>
                </a:solidFill>
                <a:latin typeface="Humnst777 BT" pitchFamily="34" charset="0"/>
              </a:rPr>
              <a:t>Acessibilidade e clareza</a:t>
            </a:r>
          </a:p>
          <a:p>
            <a:pPr marL="457200" indent="-457200"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Font typeface="+mj-lt"/>
              <a:buAutoNum type="arabicPeriod" startAt="11"/>
            </a:pPr>
            <a:endParaRPr lang="pt-PT" sz="2200" dirty="0">
              <a:solidFill>
                <a:schemeClr val="tx1"/>
              </a:solidFill>
              <a:latin typeface="Humnst777 BT" pitchFamily="34" charset="0"/>
            </a:endParaRPr>
          </a:p>
          <a:p>
            <a:pPr marL="457200" indent="-457200"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Font typeface="+mj-lt"/>
              <a:buAutoNum type="arabicPeriod" startAt="11"/>
            </a:pPr>
            <a:endParaRPr lang="pt-PT" sz="2200" dirty="0">
              <a:solidFill>
                <a:schemeClr val="tx1"/>
              </a:solidFill>
              <a:latin typeface="Humnst777 BT" pitchFamily="34" charset="0"/>
            </a:endParaRPr>
          </a:p>
          <a:p>
            <a:pPr marL="457200" indent="-457200"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Font typeface="+mj-lt"/>
              <a:buAutoNum type="arabicPeriod" startAt="11"/>
            </a:pPr>
            <a:endParaRPr lang="pt-PT" sz="2200" dirty="0">
              <a:solidFill>
                <a:schemeClr val="tx1"/>
              </a:solidFill>
              <a:latin typeface="Humnst777 BT" pitchFamily="34" charset="0"/>
            </a:endParaRPr>
          </a:p>
          <a:p>
            <a:pPr algn="r"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</a:pPr>
            <a:r>
              <a:rPr lang="pt-PT" sz="2200" dirty="0">
                <a:solidFill>
                  <a:schemeClr val="tx1"/>
                </a:solidFill>
                <a:latin typeface="Humnst777 BT" pitchFamily="34" charset="0"/>
              </a:rPr>
              <a:t>16 de Novembro 2017 (CSEE)</a:t>
            </a:r>
          </a:p>
        </p:txBody>
      </p:sp>
      <p:sp>
        <p:nvSpPr>
          <p:cNvPr id="2" name="Text Box 376">
            <a:extLst>
              <a:ext uri="{FF2B5EF4-FFF2-40B4-BE49-F238E27FC236}">
                <a16:creationId xmlns:a16="http://schemas.microsoft.com/office/drawing/2014/main" id="{6C3AC6AD-2D1C-0D6F-C840-0604E3C744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3568" y="1484784"/>
            <a:ext cx="7705725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0"/>
              </a:spcBef>
            </a:pPr>
            <a:r>
              <a:rPr lang="pt-PT" sz="2800" b="1" dirty="0">
                <a:solidFill>
                  <a:srgbClr val="CC301F"/>
                </a:solidFill>
              </a:rPr>
              <a:t>»</a:t>
            </a:r>
            <a:r>
              <a:rPr lang="pt-PT" sz="2800" dirty="0">
                <a:solidFill>
                  <a:schemeClr val="bg2"/>
                </a:solidFill>
                <a:latin typeface="Humnst777 BT" pitchFamily="34" charset="0"/>
              </a:rPr>
              <a:t> Produção estatística (11-15/15)</a:t>
            </a:r>
          </a:p>
        </p:txBody>
      </p:sp>
    </p:spTree>
    <p:extLst>
      <p:ext uri="{BB962C8B-B14F-4D97-AF65-F5344CB8AC3E}">
        <p14:creationId xmlns:p14="http://schemas.microsoft.com/office/powerpoint/2010/main" val="21890512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9D942F-75D4-C7E8-0A05-6F2F316A2C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Box 39">
            <a:extLst>
              <a:ext uri="{FF2B5EF4-FFF2-40B4-BE49-F238E27FC236}">
                <a16:creationId xmlns:a16="http://schemas.microsoft.com/office/drawing/2014/main" id="{BBC4CFFE-B267-3EEE-DA7B-6067FC86030C}"/>
              </a:ext>
            </a:extLst>
          </p:cNvPr>
          <p:cNvSpPr txBox="1">
            <a:spLocks noChangeArrowheads="1"/>
          </p:cNvSpPr>
          <p:nvPr/>
        </p:nvSpPr>
        <p:spPr bwMode="auto">
          <a:xfrm rot="5400000" flipV="1">
            <a:off x="7775575" y="946150"/>
            <a:ext cx="504825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PT" dirty="0">
                <a:solidFill>
                  <a:srgbClr val="CC301F"/>
                </a:solidFill>
              </a:rPr>
              <a:t>«</a:t>
            </a:r>
          </a:p>
        </p:txBody>
      </p:sp>
      <p:sp>
        <p:nvSpPr>
          <p:cNvPr id="11" name="Rectangle 38">
            <a:extLst>
              <a:ext uri="{FF2B5EF4-FFF2-40B4-BE49-F238E27FC236}">
                <a16:creationId xmlns:a16="http://schemas.microsoft.com/office/drawing/2014/main" id="{2F42C9FB-0485-996B-D570-99C899E0CB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71775" y="404813"/>
            <a:ext cx="6048375" cy="854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r">
              <a:spcBef>
                <a:spcPct val="0"/>
              </a:spcBef>
            </a:pPr>
            <a:r>
              <a:rPr lang="pt-PT" sz="3800" dirty="0">
                <a:solidFill>
                  <a:schemeClr val="bg2"/>
                </a:solidFill>
                <a:latin typeface="Humnst777 BT" pitchFamily="34" charset="0"/>
              </a:rPr>
              <a:t>OE</a:t>
            </a:r>
          </a:p>
        </p:txBody>
      </p:sp>
      <p:sp>
        <p:nvSpPr>
          <p:cNvPr id="13" name="Text Box 376">
            <a:extLst>
              <a:ext uri="{FF2B5EF4-FFF2-40B4-BE49-F238E27FC236}">
                <a16:creationId xmlns:a16="http://schemas.microsoft.com/office/drawing/2014/main" id="{1310924B-A3FD-B23E-8778-F0D4720F9C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3568" y="1484784"/>
            <a:ext cx="7705725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0"/>
              </a:spcBef>
            </a:pPr>
            <a:r>
              <a:rPr lang="pt-PT" sz="2800" b="1" dirty="0">
                <a:solidFill>
                  <a:srgbClr val="CC301F"/>
                </a:solidFill>
              </a:rPr>
              <a:t>»</a:t>
            </a:r>
            <a:r>
              <a:rPr lang="pt-PT" sz="2800" dirty="0">
                <a:solidFill>
                  <a:schemeClr val="bg2"/>
                </a:solidFill>
                <a:latin typeface="Humnst777 BT" pitchFamily="34" charset="0"/>
              </a:rPr>
              <a:t> Fases da Operação Estatística</a:t>
            </a:r>
          </a:p>
        </p:txBody>
      </p:sp>
      <p:sp>
        <p:nvSpPr>
          <p:cNvPr id="18" name="Text Box 13">
            <a:extLst>
              <a:ext uri="{FF2B5EF4-FFF2-40B4-BE49-F238E27FC236}">
                <a16:creationId xmlns:a16="http://schemas.microsoft.com/office/drawing/2014/main" id="{008EAA2D-194A-EB14-C01C-33DF094429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16999" y="6276920"/>
            <a:ext cx="403151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pt-PT" sz="1200" dirty="0">
                <a:solidFill>
                  <a:schemeClr val="bg2"/>
                </a:solidFill>
                <a:latin typeface="Humnst777 BT" pitchFamily="34" charset="0"/>
              </a:rPr>
              <a:t>04</a:t>
            </a:r>
          </a:p>
        </p:txBody>
      </p:sp>
      <p:sp>
        <p:nvSpPr>
          <p:cNvPr id="9" name="Text Box 376">
            <a:extLst>
              <a:ext uri="{FF2B5EF4-FFF2-40B4-BE49-F238E27FC236}">
                <a16:creationId xmlns:a16="http://schemas.microsoft.com/office/drawing/2014/main" id="{B84C8DBF-503D-4436-EE9F-13C6D750CC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552" y="2132806"/>
            <a:ext cx="8136136" cy="13644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457200" indent="-457200"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Font typeface="+mj-lt"/>
              <a:buAutoNum type="arabicPeriod"/>
            </a:pPr>
            <a:r>
              <a:rPr lang="pt-PT" sz="2200" b="1" dirty="0">
                <a:solidFill>
                  <a:schemeClr val="tx1"/>
                </a:solidFill>
                <a:latin typeface="Humnst777 BT" pitchFamily="34" charset="0"/>
              </a:rPr>
              <a:t>Concepção</a:t>
            </a:r>
          </a:p>
          <a:p>
            <a:pPr marL="457200" indent="-457200"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Font typeface="+mj-lt"/>
              <a:buAutoNum type="arabicPeriod"/>
            </a:pPr>
            <a:r>
              <a:rPr lang="pt-PT" sz="2200" b="1" dirty="0">
                <a:solidFill>
                  <a:schemeClr val="tx1"/>
                </a:solidFill>
                <a:latin typeface="Humnst777 BT" pitchFamily="34" charset="0"/>
              </a:rPr>
              <a:t>Operação</a:t>
            </a:r>
          </a:p>
          <a:p>
            <a:pPr marL="457200" indent="-457200"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Font typeface="+mj-lt"/>
              <a:buAutoNum type="arabicPeriod"/>
            </a:pPr>
            <a:r>
              <a:rPr lang="pt-PT" sz="2200" b="1" dirty="0">
                <a:solidFill>
                  <a:schemeClr val="tx1"/>
                </a:solidFill>
                <a:latin typeface="Humnst777 BT" pitchFamily="34" charset="0"/>
              </a:rPr>
              <a:t>Difusão</a:t>
            </a:r>
            <a:endParaRPr lang="pt-BR" sz="2200" b="1" dirty="0">
              <a:solidFill>
                <a:schemeClr val="bg1">
                  <a:lumMod val="50000"/>
                </a:schemeClr>
              </a:solidFill>
              <a:latin typeface="Humnst777 BT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009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Box 39"/>
          <p:cNvSpPr txBox="1">
            <a:spLocks noChangeArrowheads="1"/>
          </p:cNvSpPr>
          <p:nvPr/>
        </p:nvSpPr>
        <p:spPr bwMode="auto">
          <a:xfrm rot="5400000" flipV="1">
            <a:off x="7775575" y="946150"/>
            <a:ext cx="504825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PT" dirty="0">
                <a:solidFill>
                  <a:srgbClr val="CC301F"/>
                </a:solidFill>
              </a:rPr>
              <a:t>«</a:t>
            </a:r>
          </a:p>
        </p:txBody>
      </p:sp>
      <p:sp>
        <p:nvSpPr>
          <p:cNvPr id="13" name="Text Box 376"/>
          <p:cNvSpPr txBox="1">
            <a:spLocks noChangeArrowheads="1"/>
          </p:cNvSpPr>
          <p:nvPr/>
        </p:nvSpPr>
        <p:spPr bwMode="auto">
          <a:xfrm>
            <a:off x="683568" y="1484784"/>
            <a:ext cx="7705725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0"/>
              </a:spcBef>
            </a:pPr>
            <a:r>
              <a:rPr lang="pt-PT" sz="2800" b="1" dirty="0">
                <a:solidFill>
                  <a:srgbClr val="CC301F"/>
                </a:solidFill>
              </a:rPr>
              <a:t>»</a:t>
            </a:r>
            <a:r>
              <a:rPr lang="pt-PT" sz="2800" dirty="0">
                <a:solidFill>
                  <a:schemeClr val="bg2"/>
                </a:solidFill>
                <a:latin typeface="Humnst777 BT" pitchFamily="34" charset="0"/>
              </a:rPr>
              <a:t> 1. Conceção</a:t>
            </a:r>
          </a:p>
        </p:txBody>
      </p:sp>
      <p:sp>
        <p:nvSpPr>
          <p:cNvPr id="18" name="Text Box 13"/>
          <p:cNvSpPr txBox="1">
            <a:spLocks noChangeArrowheads="1"/>
          </p:cNvSpPr>
          <p:nvPr/>
        </p:nvSpPr>
        <p:spPr bwMode="auto">
          <a:xfrm>
            <a:off x="8416999" y="6276920"/>
            <a:ext cx="403151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pt-PT" sz="1200" dirty="0">
                <a:solidFill>
                  <a:schemeClr val="bg2"/>
                </a:solidFill>
                <a:latin typeface="Humnst777 BT" pitchFamily="34" charset="0"/>
              </a:rPr>
              <a:t>05</a:t>
            </a:r>
          </a:p>
        </p:txBody>
      </p:sp>
      <p:sp>
        <p:nvSpPr>
          <p:cNvPr id="9" name="Text Box 376"/>
          <p:cNvSpPr txBox="1">
            <a:spLocks noChangeArrowheads="1"/>
          </p:cNvSpPr>
          <p:nvPr/>
        </p:nvSpPr>
        <p:spPr bwMode="auto">
          <a:xfrm>
            <a:off x="539552" y="2132806"/>
            <a:ext cx="8136136" cy="13644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</a:pPr>
            <a:r>
              <a:rPr lang="pt-PT" sz="2200" u="sng" dirty="0">
                <a:solidFill>
                  <a:schemeClr val="tx1"/>
                </a:solidFill>
                <a:latin typeface="Humnst777 BT" pitchFamily="34" charset="0"/>
              </a:rPr>
              <a:t>Objetivo</a:t>
            </a:r>
            <a:r>
              <a:rPr lang="pt-PT" sz="2200" b="1" dirty="0">
                <a:solidFill>
                  <a:schemeClr val="tx1"/>
                </a:solidFill>
                <a:latin typeface="Humnst777 BT" pitchFamily="34" charset="0"/>
              </a:rPr>
              <a:t> </a:t>
            </a:r>
            <a:r>
              <a:rPr lang="pt-PT" sz="2200" dirty="0">
                <a:solidFill>
                  <a:schemeClr val="tx1"/>
                </a:solidFill>
                <a:latin typeface="Humnst777 BT" pitchFamily="34" charset="0"/>
              </a:rPr>
              <a:t>Compreender a realidade a partir de dados.</a:t>
            </a:r>
          </a:p>
          <a:p>
            <a:pPr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</a:pPr>
            <a:r>
              <a:rPr lang="pt-PT" sz="2200" u="sng" dirty="0">
                <a:solidFill>
                  <a:schemeClr val="tx1"/>
                </a:solidFill>
                <a:latin typeface="Humnst777 BT" pitchFamily="34" charset="0"/>
              </a:rPr>
              <a:t>Tipo</a:t>
            </a:r>
            <a:r>
              <a:rPr lang="pt-PT" sz="2200" b="1" dirty="0">
                <a:solidFill>
                  <a:schemeClr val="tx1"/>
                </a:solidFill>
                <a:latin typeface="Humnst777 BT" pitchFamily="34" charset="0"/>
              </a:rPr>
              <a:t> </a:t>
            </a:r>
            <a:r>
              <a:rPr lang="pt-PT" sz="2200" dirty="0">
                <a:solidFill>
                  <a:schemeClr val="tx1"/>
                </a:solidFill>
                <a:latin typeface="Humnst777 BT" pitchFamily="34" charset="0"/>
              </a:rPr>
              <a:t>Recenseamento, Amostragem, Estudo estatístico.</a:t>
            </a:r>
            <a:r>
              <a:rPr lang="pt-PT" sz="2200" b="1" dirty="0">
                <a:solidFill>
                  <a:schemeClr val="tx1"/>
                </a:solidFill>
                <a:latin typeface="Humnst777 BT" pitchFamily="34" charset="0"/>
              </a:rPr>
              <a:t> </a:t>
            </a:r>
          </a:p>
          <a:p>
            <a:pPr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</a:pPr>
            <a:r>
              <a:rPr lang="pt-PT" sz="2200" u="sng" dirty="0">
                <a:solidFill>
                  <a:schemeClr val="tx1"/>
                </a:solidFill>
                <a:latin typeface="Humnst777 BT" pitchFamily="34" charset="0"/>
              </a:rPr>
              <a:t>Fonte</a:t>
            </a:r>
            <a:r>
              <a:rPr lang="pt-PT" sz="2200" b="1" dirty="0">
                <a:solidFill>
                  <a:schemeClr val="tx1"/>
                </a:solidFill>
                <a:latin typeface="Humnst777 BT" pitchFamily="34" charset="0"/>
              </a:rPr>
              <a:t> </a:t>
            </a:r>
            <a:r>
              <a:rPr lang="pt-PT" sz="2200" dirty="0">
                <a:solidFill>
                  <a:schemeClr val="tx1"/>
                </a:solidFill>
                <a:latin typeface="Humnst777 BT" pitchFamily="34" charset="0"/>
              </a:rPr>
              <a:t>Questionários, Dados administrativos.</a:t>
            </a:r>
            <a:endParaRPr lang="pt-BR" sz="2200" dirty="0">
              <a:solidFill>
                <a:schemeClr val="bg1">
                  <a:lumMod val="50000"/>
                </a:schemeClr>
              </a:solidFill>
              <a:latin typeface="Humnst777 BT" pitchFamily="34" charset="0"/>
            </a:endParaRPr>
          </a:p>
        </p:txBody>
      </p:sp>
      <p:sp>
        <p:nvSpPr>
          <p:cNvPr id="7" name="Rectangle 38"/>
          <p:cNvSpPr>
            <a:spLocks noChangeArrowheads="1"/>
          </p:cNvSpPr>
          <p:nvPr/>
        </p:nvSpPr>
        <p:spPr bwMode="auto">
          <a:xfrm>
            <a:off x="2771775" y="404813"/>
            <a:ext cx="6048375" cy="854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r">
              <a:spcBef>
                <a:spcPct val="0"/>
              </a:spcBef>
            </a:pPr>
            <a:r>
              <a:rPr lang="pt-PT" sz="3800" dirty="0">
                <a:solidFill>
                  <a:schemeClr val="bg2"/>
                </a:solidFill>
                <a:latin typeface="Humnst777 BT" pitchFamily="34" charset="0"/>
              </a:rPr>
              <a:t>OE/Conceção</a:t>
            </a:r>
          </a:p>
        </p:txBody>
      </p:sp>
    </p:spTree>
    <p:extLst>
      <p:ext uri="{BB962C8B-B14F-4D97-AF65-F5344CB8AC3E}">
        <p14:creationId xmlns:p14="http://schemas.microsoft.com/office/powerpoint/2010/main" val="28007709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Box 39"/>
          <p:cNvSpPr txBox="1">
            <a:spLocks noChangeArrowheads="1"/>
          </p:cNvSpPr>
          <p:nvPr/>
        </p:nvSpPr>
        <p:spPr bwMode="auto">
          <a:xfrm rot="5400000" flipV="1">
            <a:off x="7775575" y="946150"/>
            <a:ext cx="504825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PT" dirty="0">
                <a:solidFill>
                  <a:srgbClr val="CC301F"/>
                </a:solidFill>
              </a:rPr>
              <a:t>«</a:t>
            </a:r>
          </a:p>
        </p:txBody>
      </p:sp>
      <p:sp>
        <p:nvSpPr>
          <p:cNvPr id="13" name="Text Box 376"/>
          <p:cNvSpPr txBox="1">
            <a:spLocks noChangeArrowheads="1"/>
          </p:cNvSpPr>
          <p:nvPr/>
        </p:nvSpPr>
        <p:spPr bwMode="auto">
          <a:xfrm>
            <a:off x="683568" y="1484784"/>
            <a:ext cx="7705725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0"/>
              </a:spcBef>
            </a:pPr>
            <a:r>
              <a:rPr lang="pt-PT" sz="2800" b="1" dirty="0">
                <a:solidFill>
                  <a:srgbClr val="CC301F"/>
                </a:solidFill>
              </a:rPr>
              <a:t>»</a:t>
            </a:r>
            <a:r>
              <a:rPr lang="pt-PT" sz="2800" dirty="0">
                <a:solidFill>
                  <a:schemeClr val="bg2"/>
                </a:solidFill>
                <a:latin typeface="Humnst777 BT" pitchFamily="34" charset="0"/>
              </a:rPr>
              <a:t> 2. Operação</a:t>
            </a:r>
          </a:p>
        </p:txBody>
      </p:sp>
      <p:sp>
        <p:nvSpPr>
          <p:cNvPr id="18" name="Text Box 13"/>
          <p:cNvSpPr txBox="1">
            <a:spLocks noChangeArrowheads="1"/>
          </p:cNvSpPr>
          <p:nvPr/>
        </p:nvSpPr>
        <p:spPr bwMode="auto">
          <a:xfrm>
            <a:off x="8416999" y="6276920"/>
            <a:ext cx="403151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pt-PT" sz="1200" dirty="0">
                <a:solidFill>
                  <a:schemeClr val="bg2"/>
                </a:solidFill>
                <a:latin typeface="Humnst777 BT" pitchFamily="34" charset="0"/>
              </a:rPr>
              <a:t>06</a:t>
            </a:r>
          </a:p>
        </p:txBody>
      </p:sp>
      <p:sp>
        <p:nvSpPr>
          <p:cNvPr id="9" name="Text Box 376"/>
          <p:cNvSpPr txBox="1">
            <a:spLocks noChangeArrowheads="1"/>
          </p:cNvSpPr>
          <p:nvPr/>
        </p:nvSpPr>
        <p:spPr bwMode="auto">
          <a:xfrm>
            <a:off x="539552" y="2132806"/>
            <a:ext cx="8136136" cy="13644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457200" indent="-457200"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Font typeface="+mj-lt"/>
              <a:buAutoNum type="arabicPeriod"/>
            </a:pPr>
            <a:r>
              <a:rPr lang="pt-PT" sz="2200" b="1" dirty="0">
                <a:solidFill>
                  <a:schemeClr val="tx1"/>
                </a:solidFill>
                <a:latin typeface="Humnst777 BT" pitchFamily="34" charset="0"/>
              </a:rPr>
              <a:t>Recolha: </a:t>
            </a:r>
            <a:r>
              <a:rPr lang="pt-PT" sz="2200" dirty="0">
                <a:solidFill>
                  <a:schemeClr val="tx1"/>
                </a:solidFill>
                <a:latin typeface="Humnst777 BT" pitchFamily="34" charset="0"/>
              </a:rPr>
              <a:t>Directa (Presencial, Telefónica, Web) ou Indirecta.</a:t>
            </a:r>
          </a:p>
          <a:p>
            <a:pPr marL="457200" indent="-457200"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Font typeface="+mj-lt"/>
              <a:buAutoNum type="arabicPeriod"/>
            </a:pPr>
            <a:r>
              <a:rPr lang="pt-PT" sz="2200" b="1" dirty="0">
                <a:solidFill>
                  <a:schemeClr val="tx1"/>
                </a:solidFill>
                <a:latin typeface="Humnst777 BT" pitchFamily="34" charset="0"/>
              </a:rPr>
              <a:t>Tratamento: </a:t>
            </a:r>
            <a:r>
              <a:rPr lang="pt-PT" sz="2200" dirty="0">
                <a:solidFill>
                  <a:schemeClr val="tx1"/>
                </a:solidFill>
                <a:latin typeface="Humnst777 BT" pitchFamily="34" charset="0"/>
              </a:rPr>
              <a:t>Formatação, Validação, </a:t>
            </a:r>
            <a:r>
              <a:rPr lang="pt-PT" sz="2200" i="1" dirty="0" err="1">
                <a:solidFill>
                  <a:schemeClr val="tx1"/>
                </a:solidFill>
                <a:latin typeface="Humnst777 BT" pitchFamily="34" charset="0"/>
              </a:rPr>
              <a:t>Outliers</a:t>
            </a:r>
            <a:r>
              <a:rPr lang="pt-PT" sz="2200" dirty="0">
                <a:solidFill>
                  <a:schemeClr val="tx1"/>
                </a:solidFill>
                <a:latin typeface="Humnst777 BT" pitchFamily="34" charset="0"/>
              </a:rPr>
              <a:t>, Imputação.</a:t>
            </a:r>
            <a:r>
              <a:rPr lang="pt-PT" sz="2200" b="1" dirty="0">
                <a:solidFill>
                  <a:schemeClr val="tx1"/>
                </a:solidFill>
                <a:latin typeface="Humnst777 BT" pitchFamily="34" charset="0"/>
              </a:rPr>
              <a:t> </a:t>
            </a:r>
          </a:p>
          <a:p>
            <a:pPr marL="457200" indent="-457200"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Font typeface="+mj-lt"/>
              <a:buAutoNum type="arabicPeriod"/>
            </a:pPr>
            <a:r>
              <a:rPr lang="pt-PT" sz="2200" b="1" dirty="0">
                <a:solidFill>
                  <a:schemeClr val="tx1"/>
                </a:solidFill>
                <a:latin typeface="Humnst777 BT" pitchFamily="34" charset="0"/>
              </a:rPr>
              <a:t>Análise: </a:t>
            </a:r>
            <a:r>
              <a:rPr lang="pt-PT" sz="2200" dirty="0">
                <a:solidFill>
                  <a:schemeClr val="tx1"/>
                </a:solidFill>
                <a:latin typeface="Humnst777 BT" pitchFamily="34" charset="0"/>
              </a:rPr>
              <a:t>Gráficos, Medidas descritivas, Modelos.</a:t>
            </a:r>
            <a:endParaRPr lang="pt-BR" sz="2200" dirty="0">
              <a:solidFill>
                <a:schemeClr val="bg1">
                  <a:lumMod val="50000"/>
                </a:schemeClr>
              </a:solidFill>
              <a:latin typeface="Humnst777 BT" pitchFamily="34" charset="0"/>
            </a:endParaRPr>
          </a:p>
        </p:txBody>
      </p:sp>
      <p:sp>
        <p:nvSpPr>
          <p:cNvPr id="7" name="Rectangle 38"/>
          <p:cNvSpPr>
            <a:spLocks noChangeArrowheads="1"/>
          </p:cNvSpPr>
          <p:nvPr/>
        </p:nvSpPr>
        <p:spPr bwMode="auto">
          <a:xfrm>
            <a:off x="2771775" y="404813"/>
            <a:ext cx="6048375" cy="854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r">
              <a:spcBef>
                <a:spcPct val="0"/>
              </a:spcBef>
            </a:pPr>
            <a:r>
              <a:rPr lang="pt-PT" sz="3800" dirty="0">
                <a:solidFill>
                  <a:schemeClr val="bg2"/>
                </a:solidFill>
                <a:latin typeface="Humnst777 BT" pitchFamily="34" charset="0"/>
              </a:rPr>
              <a:t>OE/Operação</a:t>
            </a:r>
          </a:p>
        </p:txBody>
      </p:sp>
    </p:spTree>
    <p:extLst>
      <p:ext uri="{BB962C8B-B14F-4D97-AF65-F5344CB8AC3E}">
        <p14:creationId xmlns:p14="http://schemas.microsoft.com/office/powerpoint/2010/main" val="12186551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Box 39"/>
          <p:cNvSpPr txBox="1">
            <a:spLocks noChangeArrowheads="1"/>
          </p:cNvSpPr>
          <p:nvPr/>
        </p:nvSpPr>
        <p:spPr bwMode="auto">
          <a:xfrm rot="5400000" flipV="1">
            <a:off x="7775575" y="946150"/>
            <a:ext cx="504825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PT" dirty="0">
                <a:solidFill>
                  <a:srgbClr val="CC301F"/>
                </a:solidFill>
              </a:rPr>
              <a:t>«</a:t>
            </a:r>
          </a:p>
        </p:txBody>
      </p:sp>
      <p:sp>
        <p:nvSpPr>
          <p:cNvPr id="13" name="Text Box 376"/>
          <p:cNvSpPr txBox="1">
            <a:spLocks noChangeArrowheads="1"/>
          </p:cNvSpPr>
          <p:nvPr/>
        </p:nvSpPr>
        <p:spPr bwMode="auto">
          <a:xfrm>
            <a:off x="683568" y="1484784"/>
            <a:ext cx="7705725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0"/>
              </a:spcBef>
            </a:pPr>
            <a:r>
              <a:rPr lang="pt-PT" sz="2800" b="1" dirty="0">
                <a:solidFill>
                  <a:srgbClr val="CC301F"/>
                </a:solidFill>
              </a:rPr>
              <a:t>»</a:t>
            </a:r>
            <a:r>
              <a:rPr lang="pt-PT" sz="2800" dirty="0">
                <a:solidFill>
                  <a:schemeClr val="bg2"/>
                </a:solidFill>
                <a:latin typeface="Humnst777 BT" pitchFamily="34" charset="0"/>
              </a:rPr>
              <a:t> 2.3. Análise</a:t>
            </a:r>
          </a:p>
        </p:txBody>
      </p:sp>
      <p:sp>
        <p:nvSpPr>
          <p:cNvPr id="18" name="Text Box 13"/>
          <p:cNvSpPr txBox="1">
            <a:spLocks noChangeArrowheads="1"/>
          </p:cNvSpPr>
          <p:nvPr/>
        </p:nvSpPr>
        <p:spPr bwMode="auto">
          <a:xfrm>
            <a:off x="8416999" y="6276920"/>
            <a:ext cx="403151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pt-PT" sz="1200" dirty="0">
                <a:solidFill>
                  <a:schemeClr val="bg2"/>
                </a:solidFill>
                <a:latin typeface="Humnst777 BT" pitchFamily="34" charset="0"/>
              </a:rPr>
              <a:t>07</a:t>
            </a:r>
          </a:p>
        </p:txBody>
      </p:sp>
      <p:sp>
        <p:nvSpPr>
          <p:cNvPr id="9" name="Text Box 376"/>
          <p:cNvSpPr txBox="1">
            <a:spLocks noChangeArrowheads="1"/>
          </p:cNvSpPr>
          <p:nvPr/>
        </p:nvSpPr>
        <p:spPr bwMode="auto">
          <a:xfrm>
            <a:off x="539552" y="2132806"/>
            <a:ext cx="8136136" cy="13644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</a:pPr>
            <a:r>
              <a:rPr lang="pt-PT" sz="2200" u="sng" dirty="0">
                <a:solidFill>
                  <a:schemeClr val="tx1"/>
                </a:solidFill>
                <a:latin typeface="Humnst777 BT" pitchFamily="34" charset="0"/>
              </a:rPr>
              <a:t>Gráficos</a:t>
            </a:r>
            <a:r>
              <a:rPr lang="pt-PT" sz="2200" b="1" dirty="0">
                <a:solidFill>
                  <a:schemeClr val="tx1"/>
                </a:solidFill>
                <a:latin typeface="Humnst777 BT" pitchFamily="34" charset="0"/>
              </a:rPr>
              <a:t> </a:t>
            </a:r>
            <a:r>
              <a:rPr lang="pt-PT" sz="2200" i="1" dirty="0">
                <a:solidFill>
                  <a:schemeClr val="tx1"/>
                </a:solidFill>
                <a:latin typeface="Humnst777 BT" pitchFamily="34" charset="0"/>
              </a:rPr>
              <a:t>Circular</a:t>
            </a:r>
            <a:r>
              <a:rPr lang="pt-PT" sz="2200" dirty="0">
                <a:solidFill>
                  <a:schemeClr val="tx1"/>
                </a:solidFill>
                <a:latin typeface="Humnst777 BT" pitchFamily="34" charset="0"/>
              </a:rPr>
              <a:t>, </a:t>
            </a:r>
            <a:r>
              <a:rPr lang="pt-PT" sz="2200" i="1" dirty="0">
                <a:solidFill>
                  <a:schemeClr val="tx1"/>
                </a:solidFill>
                <a:latin typeface="Humnst777 BT" pitchFamily="34" charset="0"/>
              </a:rPr>
              <a:t>Barras</a:t>
            </a:r>
            <a:r>
              <a:rPr lang="pt-PT" sz="2200" dirty="0">
                <a:solidFill>
                  <a:schemeClr val="tx1"/>
                </a:solidFill>
                <a:latin typeface="Humnst777 BT" pitchFamily="34" charset="0"/>
              </a:rPr>
              <a:t>, </a:t>
            </a:r>
            <a:r>
              <a:rPr lang="pt-PT" sz="2200" i="1" dirty="0">
                <a:solidFill>
                  <a:schemeClr val="tx1"/>
                </a:solidFill>
                <a:latin typeface="Humnst777 BT" pitchFamily="34" charset="0"/>
              </a:rPr>
              <a:t>Extremos-e-quartis</a:t>
            </a:r>
            <a:r>
              <a:rPr lang="pt-PT" sz="2200" dirty="0">
                <a:solidFill>
                  <a:schemeClr val="tx1"/>
                </a:solidFill>
                <a:latin typeface="Humnst777 BT" pitchFamily="34" charset="0"/>
              </a:rPr>
              <a:t>, </a:t>
            </a:r>
            <a:r>
              <a:rPr lang="pt-PT" sz="2200" i="1" dirty="0">
                <a:solidFill>
                  <a:schemeClr val="tx1"/>
                </a:solidFill>
                <a:latin typeface="Humnst777 BT" pitchFamily="34" charset="0"/>
              </a:rPr>
              <a:t>Histograma</a:t>
            </a:r>
            <a:r>
              <a:rPr lang="pt-PT" sz="2200" dirty="0">
                <a:solidFill>
                  <a:schemeClr val="tx1"/>
                </a:solidFill>
                <a:latin typeface="Humnst777 BT" pitchFamily="34" charset="0"/>
              </a:rPr>
              <a:t>.</a:t>
            </a:r>
          </a:p>
          <a:p>
            <a:pPr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</a:pPr>
            <a:r>
              <a:rPr lang="pt-PT" sz="2200" u="sng" dirty="0">
                <a:solidFill>
                  <a:schemeClr val="tx1"/>
                </a:solidFill>
                <a:latin typeface="Humnst777 BT" pitchFamily="34" charset="0"/>
              </a:rPr>
              <a:t>Medidas descritivas</a:t>
            </a:r>
            <a:r>
              <a:rPr lang="pt-PT" sz="2200" dirty="0">
                <a:solidFill>
                  <a:schemeClr val="tx1"/>
                </a:solidFill>
                <a:latin typeface="Humnst777 BT" pitchFamily="34" charset="0"/>
              </a:rPr>
              <a:t> Tendência central, Dispersão.</a:t>
            </a:r>
            <a:r>
              <a:rPr lang="pt-PT" sz="2200" b="1" dirty="0">
                <a:solidFill>
                  <a:schemeClr val="tx1"/>
                </a:solidFill>
                <a:latin typeface="Humnst777 BT" pitchFamily="34" charset="0"/>
              </a:rPr>
              <a:t> </a:t>
            </a:r>
          </a:p>
          <a:p>
            <a:pPr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</a:pPr>
            <a:r>
              <a:rPr lang="pt-PT" sz="2200" u="sng" dirty="0">
                <a:solidFill>
                  <a:schemeClr val="tx1"/>
                </a:solidFill>
                <a:latin typeface="Humnst777 BT" pitchFamily="34" charset="0"/>
              </a:rPr>
              <a:t>Modelos</a:t>
            </a:r>
            <a:r>
              <a:rPr lang="pt-PT" sz="2200" b="1" dirty="0">
                <a:solidFill>
                  <a:schemeClr val="tx1"/>
                </a:solidFill>
                <a:latin typeface="Humnst777 BT" pitchFamily="34" charset="0"/>
              </a:rPr>
              <a:t> </a:t>
            </a:r>
            <a:r>
              <a:rPr lang="pt-PT" sz="2200" dirty="0">
                <a:solidFill>
                  <a:schemeClr val="tx1"/>
                </a:solidFill>
                <a:latin typeface="Humnst777 BT" pitchFamily="34" charset="0"/>
              </a:rPr>
              <a:t>Regressão linear, Regressão logística.</a:t>
            </a:r>
            <a:endParaRPr lang="pt-BR" sz="2200" dirty="0">
              <a:solidFill>
                <a:schemeClr val="bg1">
                  <a:lumMod val="50000"/>
                </a:schemeClr>
              </a:solidFill>
              <a:latin typeface="Humnst777 BT" pitchFamily="34" charset="0"/>
            </a:endParaRPr>
          </a:p>
        </p:txBody>
      </p:sp>
      <p:sp>
        <p:nvSpPr>
          <p:cNvPr id="7" name="Rectangle 38"/>
          <p:cNvSpPr>
            <a:spLocks noChangeArrowheads="1"/>
          </p:cNvSpPr>
          <p:nvPr/>
        </p:nvSpPr>
        <p:spPr bwMode="auto">
          <a:xfrm>
            <a:off x="2771775" y="404813"/>
            <a:ext cx="6048375" cy="854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r">
              <a:spcBef>
                <a:spcPct val="0"/>
              </a:spcBef>
            </a:pPr>
            <a:r>
              <a:rPr lang="pt-PT" sz="3800" dirty="0">
                <a:solidFill>
                  <a:schemeClr val="bg2"/>
                </a:solidFill>
                <a:latin typeface="Humnst777 BT" pitchFamily="34" charset="0"/>
              </a:rPr>
              <a:t>OE/Operação/Análise</a:t>
            </a:r>
          </a:p>
        </p:txBody>
      </p:sp>
    </p:spTree>
    <p:extLst>
      <p:ext uri="{BB962C8B-B14F-4D97-AF65-F5344CB8AC3E}">
        <p14:creationId xmlns:p14="http://schemas.microsoft.com/office/powerpoint/2010/main" val="29346130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Box 39"/>
          <p:cNvSpPr txBox="1">
            <a:spLocks noChangeArrowheads="1"/>
          </p:cNvSpPr>
          <p:nvPr/>
        </p:nvSpPr>
        <p:spPr bwMode="auto">
          <a:xfrm rot="5400000" flipV="1">
            <a:off x="7775575" y="946150"/>
            <a:ext cx="504825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PT" dirty="0">
                <a:solidFill>
                  <a:srgbClr val="CC301F"/>
                </a:solidFill>
              </a:rPr>
              <a:t>«</a:t>
            </a:r>
          </a:p>
        </p:txBody>
      </p:sp>
      <p:sp>
        <p:nvSpPr>
          <p:cNvPr id="13" name="Text Box 376"/>
          <p:cNvSpPr txBox="1">
            <a:spLocks noChangeArrowheads="1"/>
          </p:cNvSpPr>
          <p:nvPr/>
        </p:nvSpPr>
        <p:spPr bwMode="auto">
          <a:xfrm>
            <a:off x="683568" y="1484784"/>
            <a:ext cx="7705725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0"/>
              </a:spcBef>
            </a:pPr>
            <a:r>
              <a:rPr lang="pt-PT" sz="2800" b="1" dirty="0">
                <a:solidFill>
                  <a:srgbClr val="CC301F"/>
                </a:solidFill>
              </a:rPr>
              <a:t>»</a:t>
            </a:r>
            <a:r>
              <a:rPr lang="pt-PT" sz="2800" dirty="0">
                <a:solidFill>
                  <a:schemeClr val="bg2"/>
                </a:solidFill>
                <a:latin typeface="Humnst777 BT" pitchFamily="34" charset="0"/>
              </a:rPr>
              <a:t> 3. Difusão</a:t>
            </a:r>
          </a:p>
        </p:txBody>
      </p:sp>
      <p:sp>
        <p:nvSpPr>
          <p:cNvPr id="18" name="Text Box 13"/>
          <p:cNvSpPr txBox="1">
            <a:spLocks noChangeArrowheads="1"/>
          </p:cNvSpPr>
          <p:nvPr/>
        </p:nvSpPr>
        <p:spPr bwMode="auto">
          <a:xfrm>
            <a:off x="8416999" y="6276920"/>
            <a:ext cx="403151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pt-PT" sz="1200" dirty="0">
                <a:solidFill>
                  <a:schemeClr val="bg2"/>
                </a:solidFill>
                <a:latin typeface="Humnst777 BT" pitchFamily="34" charset="0"/>
              </a:rPr>
              <a:t>08</a:t>
            </a:r>
          </a:p>
        </p:txBody>
      </p:sp>
      <p:sp>
        <p:nvSpPr>
          <p:cNvPr id="9" name="Text Box 376"/>
          <p:cNvSpPr txBox="1">
            <a:spLocks noChangeArrowheads="1"/>
          </p:cNvSpPr>
          <p:nvPr/>
        </p:nvSpPr>
        <p:spPr bwMode="auto">
          <a:xfrm>
            <a:off x="539552" y="2132806"/>
            <a:ext cx="8136136" cy="22980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</a:pPr>
            <a:r>
              <a:rPr lang="pt-PT" sz="2200" u="sng" dirty="0">
                <a:solidFill>
                  <a:schemeClr val="tx1"/>
                </a:solidFill>
                <a:latin typeface="Humnst777 BT" pitchFamily="34" charset="0"/>
              </a:rPr>
              <a:t>Indicadores</a:t>
            </a:r>
            <a:r>
              <a:rPr lang="pt-PT" sz="2200" dirty="0">
                <a:solidFill>
                  <a:schemeClr val="tx1"/>
                </a:solidFill>
                <a:latin typeface="Humnst777 BT" pitchFamily="34" charset="0"/>
              </a:rPr>
              <a:t> Resultados dos inquéritos, para público em geral.</a:t>
            </a:r>
          </a:p>
          <a:p>
            <a:pPr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</a:pPr>
            <a:r>
              <a:rPr lang="pt-PT" sz="2200" u="sng" dirty="0" err="1">
                <a:solidFill>
                  <a:schemeClr val="tx1"/>
                </a:solidFill>
                <a:latin typeface="Humnst777 BT" pitchFamily="34" charset="0"/>
              </a:rPr>
              <a:t>Microdados</a:t>
            </a:r>
            <a:r>
              <a:rPr lang="pt-PT" sz="2200" dirty="0">
                <a:solidFill>
                  <a:schemeClr val="tx1"/>
                </a:solidFill>
                <a:latin typeface="Humnst777 BT" pitchFamily="34" charset="0"/>
              </a:rPr>
              <a:t> Base de dados dos inquéritos, para investigadores. </a:t>
            </a:r>
            <a:endParaRPr lang="pt-PT" sz="2200" u="sng" dirty="0">
              <a:solidFill>
                <a:schemeClr val="tx1"/>
              </a:solidFill>
              <a:latin typeface="Humnst777 BT" pitchFamily="34" charset="0"/>
            </a:endParaRPr>
          </a:p>
          <a:p>
            <a:pPr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</a:pPr>
            <a:r>
              <a:rPr lang="pt-PT" sz="2200" u="sng" dirty="0">
                <a:solidFill>
                  <a:schemeClr val="tx1"/>
                </a:solidFill>
                <a:latin typeface="Humnst777 BT" pitchFamily="34" charset="0"/>
              </a:rPr>
              <a:t>Destaques</a:t>
            </a:r>
            <a:r>
              <a:rPr lang="pt-PT" sz="2200" dirty="0">
                <a:solidFill>
                  <a:schemeClr val="tx1"/>
                </a:solidFill>
                <a:latin typeface="Humnst777 BT" pitchFamily="34" charset="0"/>
              </a:rPr>
              <a:t> </a:t>
            </a:r>
            <a:r>
              <a:rPr lang="pt-PT" sz="2200" i="1" dirty="0" err="1">
                <a:solidFill>
                  <a:schemeClr val="tx1"/>
                </a:solidFill>
                <a:latin typeface="Humnst777 BT" pitchFamily="34" charset="0"/>
              </a:rPr>
              <a:t>Press</a:t>
            </a:r>
            <a:r>
              <a:rPr lang="pt-PT" sz="2200" i="1" dirty="0">
                <a:solidFill>
                  <a:schemeClr val="tx1"/>
                </a:solidFill>
                <a:latin typeface="Humnst777 BT" pitchFamily="34" charset="0"/>
              </a:rPr>
              <a:t> </a:t>
            </a:r>
            <a:r>
              <a:rPr lang="pt-PT" sz="2200" i="1" dirty="0" err="1">
                <a:solidFill>
                  <a:schemeClr val="tx1"/>
                </a:solidFill>
                <a:latin typeface="Humnst777 BT" pitchFamily="34" charset="0"/>
              </a:rPr>
              <a:t>release</a:t>
            </a:r>
            <a:r>
              <a:rPr lang="pt-PT" sz="2200" dirty="0">
                <a:solidFill>
                  <a:schemeClr val="tx1"/>
                </a:solidFill>
                <a:latin typeface="Humnst777 BT" pitchFamily="34" charset="0"/>
              </a:rPr>
              <a:t> curta, harmonizada, calendarizada.</a:t>
            </a:r>
            <a:endParaRPr lang="pt-BR" sz="2200" dirty="0">
              <a:solidFill>
                <a:schemeClr val="bg1">
                  <a:lumMod val="50000"/>
                </a:schemeClr>
              </a:solidFill>
              <a:latin typeface="Humnst777 BT" pitchFamily="34" charset="0"/>
            </a:endParaRPr>
          </a:p>
          <a:p>
            <a:pPr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</a:pPr>
            <a:r>
              <a:rPr lang="pt-PT" sz="2200" u="sng" dirty="0">
                <a:solidFill>
                  <a:schemeClr val="tx1"/>
                </a:solidFill>
                <a:latin typeface="Humnst777 BT" pitchFamily="34" charset="0"/>
              </a:rPr>
              <a:t>Publicações/Boletins</a:t>
            </a:r>
            <a:r>
              <a:rPr lang="pt-PT" sz="2200" dirty="0">
                <a:solidFill>
                  <a:schemeClr val="tx1"/>
                </a:solidFill>
                <a:latin typeface="Humnst777 BT" pitchFamily="34" charset="0"/>
              </a:rPr>
              <a:t> Documento longo, calendarizado.</a:t>
            </a:r>
            <a:endParaRPr lang="pt-PT" sz="2200" u="sng" dirty="0">
              <a:solidFill>
                <a:schemeClr val="tx1"/>
              </a:solidFill>
              <a:latin typeface="Humnst777 BT" pitchFamily="34" charset="0"/>
            </a:endParaRPr>
          </a:p>
          <a:p>
            <a:pPr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</a:pPr>
            <a:r>
              <a:rPr lang="pt-PT" sz="2200" u="sng" dirty="0">
                <a:solidFill>
                  <a:schemeClr val="tx1"/>
                </a:solidFill>
                <a:latin typeface="Humnst777 BT" pitchFamily="34" charset="0"/>
              </a:rPr>
              <a:t>Estudos</a:t>
            </a:r>
            <a:r>
              <a:rPr lang="pt-PT" sz="2200" dirty="0">
                <a:solidFill>
                  <a:schemeClr val="tx1"/>
                </a:solidFill>
                <a:latin typeface="Humnst777 BT" pitchFamily="34" charset="0"/>
              </a:rPr>
              <a:t> Documento longo, não-calendarizado.</a:t>
            </a:r>
          </a:p>
        </p:txBody>
      </p:sp>
      <p:sp>
        <p:nvSpPr>
          <p:cNvPr id="7" name="Rectangle 38"/>
          <p:cNvSpPr>
            <a:spLocks noChangeArrowheads="1"/>
          </p:cNvSpPr>
          <p:nvPr/>
        </p:nvSpPr>
        <p:spPr bwMode="auto">
          <a:xfrm>
            <a:off x="2771775" y="404813"/>
            <a:ext cx="6048375" cy="854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r">
              <a:spcBef>
                <a:spcPct val="0"/>
              </a:spcBef>
            </a:pPr>
            <a:r>
              <a:rPr lang="pt-PT" sz="3800" dirty="0">
                <a:solidFill>
                  <a:schemeClr val="bg2"/>
                </a:solidFill>
                <a:latin typeface="Humnst777 BT" pitchFamily="34" charset="0"/>
              </a:rPr>
              <a:t>OE/Difusão</a:t>
            </a:r>
          </a:p>
        </p:txBody>
      </p:sp>
    </p:spTree>
    <p:extLst>
      <p:ext uri="{BB962C8B-B14F-4D97-AF65-F5344CB8AC3E}">
        <p14:creationId xmlns:p14="http://schemas.microsoft.com/office/powerpoint/2010/main" val="21558105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Box 39"/>
          <p:cNvSpPr txBox="1">
            <a:spLocks noChangeArrowheads="1"/>
          </p:cNvSpPr>
          <p:nvPr/>
        </p:nvSpPr>
        <p:spPr bwMode="auto">
          <a:xfrm rot="5400000" flipV="1">
            <a:off x="7775575" y="946150"/>
            <a:ext cx="504825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PT" dirty="0">
                <a:solidFill>
                  <a:srgbClr val="CC301F"/>
                </a:solidFill>
              </a:rPr>
              <a:t>«</a:t>
            </a:r>
          </a:p>
        </p:txBody>
      </p:sp>
      <p:sp>
        <p:nvSpPr>
          <p:cNvPr id="13" name="Text Box 376"/>
          <p:cNvSpPr txBox="1">
            <a:spLocks noChangeArrowheads="1"/>
          </p:cNvSpPr>
          <p:nvPr/>
        </p:nvSpPr>
        <p:spPr bwMode="auto">
          <a:xfrm>
            <a:off x="683568" y="1484784"/>
            <a:ext cx="7705725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0"/>
              </a:spcBef>
            </a:pPr>
            <a:r>
              <a:rPr lang="pt-PT" sz="2800" b="1" dirty="0">
                <a:solidFill>
                  <a:srgbClr val="CC301F"/>
                </a:solidFill>
              </a:rPr>
              <a:t>»</a:t>
            </a:r>
            <a:r>
              <a:rPr lang="pt-PT" sz="2800" dirty="0">
                <a:solidFill>
                  <a:schemeClr val="bg2"/>
                </a:solidFill>
                <a:latin typeface="Humnst777 BT" pitchFamily="34" charset="0"/>
              </a:rPr>
              <a:t> Inquérito à Utilização do Telemóvel</a:t>
            </a:r>
          </a:p>
        </p:txBody>
      </p:sp>
      <p:sp>
        <p:nvSpPr>
          <p:cNvPr id="18" name="Text Box 13"/>
          <p:cNvSpPr txBox="1">
            <a:spLocks noChangeArrowheads="1"/>
          </p:cNvSpPr>
          <p:nvPr/>
        </p:nvSpPr>
        <p:spPr bwMode="auto">
          <a:xfrm>
            <a:off x="8416999" y="6276920"/>
            <a:ext cx="403151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pt-PT" sz="1200" dirty="0">
                <a:solidFill>
                  <a:schemeClr val="bg2"/>
                </a:solidFill>
                <a:latin typeface="Humnst777 BT" pitchFamily="34" charset="0"/>
              </a:rPr>
              <a:t>09</a:t>
            </a:r>
          </a:p>
        </p:txBody>
      </p:sp>
      <p:sp>
        <p:nvSpPr>
          <p:cNvPr id="9" name="Text Box 376"/>
          <p:cNvSpPr txBox="1">
            <a:spLocks noChangeArrowheads="1"/>
          </p:cNvSpPr>
          <p:nvPr/>
        </p:nvSpPr>
        <p:spPr bwMode="auto">
          <a:xfrm>
            <a:off x="539552" y="2132806"/>
            <a:ext cx="8136136" cy="13644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Font typeface="Wingdings" panose="05000000000000000000" pitchFamily="2" charset="2"/>
              <a:buChar char="§"/>
            </a:pPr>
            <a:r>
              <a:rPr lang="pt-PT" sz="2200" b="1" dirty="0">
                <a:solidFill>
                  <a:schemeClr val="tx1"/>
                </a:solidFill>
                <a:latin typeface="Humnst777 BT" pitchFamily="34" charset="0"/>
              </a:rPr>
              <a:t>Vídeo: </a:t>
            </a:r>
            <a:r>
              <a:rPr lang="pt-PT" sz="2200" b="1" dirty="0">
                <a:solidFill>
                  <a:schemeClr val="tx1"/>
                </a:solidFill>
                <a:latin typeface="Humnst777 BT" pitchFamily="34" charset="0"/>
                <a:hlinkClick r:id="rId2" action="ppaction://hlinkfile"/>
              </a:rPr>
              <a:t>..\media\OE-IUT_20180411.mp4</a:t>
            </a:r>
            <a:endParaRPr lang="pt-PT" sz="2200" dirty="0">
              <a:solidFill>
                <a:schemeClr val="tx1"/>
              </a:solidFill>
              <a:latin typeface="Humnst777 BT" pitchFamily="34" charset="0"/>
            </a:endParaRPr>
          </a:p>
          <a:p>
            <a:pPr marL="342900" indent="-342900"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Font typeface="Wingdings" panose="05000000000000000000" pitchFamily="2" charset="2"/>
              <a:buChar char="§"/>
            </a:pPr>
            <a:r>
              <a:rPr lang="pt-PT" sz="2200" b="1" dirty="0">
                <a:solidFill>
                  <a:schemeClr val="tx1"/>
                </a:solidFill>
                <a:latin typeface="Humnst777 BT" pitchFamily="34" charset="0"/>
              </a:rPr>
              <a:t>Questionário: </a:t>
            </a:r>
            <a:r>
              <a:rPr lang="pt-PT" sz="2200" b="1" dirty="0">
                <a:solidFill>
                  <a:schemeClr val="tx1"/>
                </a:solidFill>
                <a:latin typeface="Humnst777 BT" pitchFamily="34" charset="0"/>
                <a:hlinkClick r:id="rId3"/>
              </a:rPr>
              <a:t>https://docs.google.com/forms/.../viewform</a:t>
            </a:r>
            <a:endParaRPr lang="pt-PT" sz="2200" b="1" dirty="0">
              <a:solidFill>
                <a:schemeClr val="tx1"/>
              </a:solidFill>
              <a:latin typeface="Humnst777 BT" pitchFamily="34" charset="0"/>
            </a:endParaRPr>
          </a:p>
          <a:p>
            <a:pPr marL="342900" indent="-342900"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Font typeface="Wingdings" panose="05000000000000000000" pitchFamily="2" charset="2"/>
              <a:buChar char="§"/>
            </a:pPr>
            <a:r>
              <a:rPr lang="pt-PT" sz="2200" b="1" dirty="0">
                <a:solidFill>
                  <a:schemeClr val="tx1"/>
                </a:solidFill>
                <a:latin typeface="Humnst777 BT" pitchFamily="34" charset="0"/>
              </a:rPr>
              <a:t>Análise: </a:t>
            </a:r>
            <a:r>
              <a:rPr lang="pt-PT" sz="2200" b="1" dirty="0">
                <a:solidFill>
                  <a:schemeClr val="tx1"/>
                </a:solidFill>
                <a:latin typeface="Humnst777 BT" pitchFamily="34" charset="0"/>
                <a:hlinkClick r:id="rId4"/>
              </a:rPr>
              <a:t>https://r4.ine.pt/</a:t>
            </a:r>
            <a:endParaRPr lang="pt-PT" sz="2200" b="1" dirty="0">
              <a:solidFill>
                <a:schemeClr val="tx1"/>
              </a:solidFill>
              <a:latin typeface="Humnst777 BT" pitchFamily="34" charset="0"/>
            </a:endParaRPr>
          </a:p>
        </p:txBody>
      </p:sp>
      <p:sp>
        <p:nvSpPr>
          <p:cNvPr id="7" name="Rectangle 38"/>
          <p:cNvSpPr>
            <a:spLocks noChangeArrowheads="1"/>
          </p:cNvSpPr>
          <p:nvPr/>
        </p:nvSpPr>
        <p:spPr bwMode="auto">
          <a:xfrm>
            <a:off x="2771775" y="404813"/>
            <a:ext cx="6048375" cy="854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r">
              <a:spcBef>
                <a:spcPct val="0"/>
              </a:spcBef>
            </a:pPr>
            <a:r>
              <a:rPr lang="pt-PT" sz="3800" dirty="0">
                <a:solidFill>
                  <a:schemeClr val="bg2"/>
                </a:solidFill>
                <a:latin typeface="Humnst777 BT" pitchFamily="34" charset="0"/>
              </a:rPr>
              <a:t>IUT</a:t>
            </a:r>
          </a:p>
        </p:txBody>
      </p:sp>
    </p:spTree>
    <p:extLst>
      <p:ext uri="{BB962C8B-B14F-4D97-AF65-F5344CB8AC3E}">
        <p14:creationId xmlns:p14="http://schemas.microsoft.com/office/powerpoint/2010/main" val="40615392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6FF6326-989E-376D-1AEE-6BF1C9A0EEF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6163" y="1436309"/>
            <a:ext cx="4800600" cy="4800600"/>
          </a:xfrm>
          <a:prstGeom prst="rect">
            <a:avLst/>
          </a:prstGeom>
        </p:spPr>
      </p:pic>
      <p:sp>
        <p:nvSpPr>
          <p:cNvPr id="14" name="Text Box 39"/>
          <p:cNvSpPr txBox="1">
            <a:spLocks noChangeArrowheads="1"/>
          </p:cNvSpPr>
          <p:nvPr/>
        </p:nvSpPr>
        <p:spPr bwMode="auto">
          <a:xfrm rot="5400000" flipV="1">
            <a:off x="7775575" y="946150"/>
            <a:ext cx="504825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PT" dirty="0">
                <a:solidFill>
                  <a:srgbClr val="CC301F"/>
                </a:solidFill>
              </a:rPr>
              <a:t>«</a:t>
            </a:r>
          </a:p>
        </p:txBody>
      </p:sp>
      <p:sp>
        <p:nvSpPr>
          <p:cNvPr id="18" name="Text Box 13"/>
          <p:cNvSpPr txBox="1">
            <a:spLocks noChangeArrowheads="1"/>
          </p:cNvSpPr>
          <p:nvPr/>
        </p:nvSpPr>
        <p:spPr bwMode="auto">
          <a:xfrm>
            <a:off x="8416999" y="6276920"/>
            <a:ext cx="403151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pt-PT" sz="1200" dirty="0">
                <a:solidFill>
                  <a:schemeClr val="bg2"/>
                </a:solidFill>
                <a:latin typeface="Humnst777 BT" pitchFamily="34" charset="0"/>
              </a:rPr>
              <a:t>10</a:t>
            </a:r>
          </a:p>
        </p:txBody>
      </p:sp>
      <p:sp>
        <p:nvSpPr>
          <p:cNvPr id="7" name="Rectangle 38"/>
          <p:cNvSpPr>
            <a:spLocks noChangeArrowheads="1"/>
          </p:cNvSpPr>
          <p:nvPr/>
        </p:nvSpPr>
        <p:spPr bwMode="auto">
          <a:xfrm>
            <a:off x="2771775" y="404813"/>
            <a:ext cx="6048375" cy="854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r">
              <a:spcBef>
                <a:spcPct val="0"/>
              </a:spcBef>
            </a:pPr>
            <a:r>
              <a:rPr lang="pt-PT" sz="3800" dirty="0">
                <a:solidFill>
                  <a:schemeClr val="bg2"/>
                </a:solidFill>
                <a:latin typeface="Humnst777 BT" pitchFamily="34" charset="0"/>
              </a:rPr>
              <a:t>IUT/Analise/Exploração</a:t>
            </a:r>
          </a:p>
        </p:txBody>
      </p:sp>
    </p:spTree>
    <p:extLst>
      <p:ext uri="{BB962C8B-B14F-4D97-AF65-F5344CB8AC3E}">
        <p14:creationId xmlns:p14="http://schemas.microsoft.com/office/powerpoint/2010/main" val="1151816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BF6791E-36E3-228C-E635-6D27F40349C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1700" y="1310811"/>
            <a:ext cx="4800600" cy="4800600"/>
          </a:xfrm>
          <a:prstGeom prst="rect">
            <a:avLst/>
          </a:prstGeom>
        </p:spPr>
      </p:pic>
      <p:sp>
        <p:nvSpPr>
          <p:cNvPr id="14" name="Text Box 39"/>
          <p:cNvSpPr txBox="1">
            <a:spLocks noChangeArrowheads="1"/>
          </p:cNvSpPr>
          <p:nvPr/>
        </p:nvSpPr>
        <p:spPr bwMode="auto">
          <a:xfrm rot="5400000" flipV="1">
            <a:off x="7775575" y="946150"/>
            <a:ext cx="504825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PT" dirty="0">
                <a:solidFill>
                  <a:srgbClr val="CC301F"/>
                </a:solidFill>
              </a:rPr>
              <a:t>«</a:t>
            </a:r>
          </a:p>
        </p:txBody>
      </p:sp>
      <p:sp>
        <p:nvSpPr>
          <p:cNvPr id="18" name="Text Box 13"/>
          <p:cNvSpPr txBox="1">
            <a:spLocks noChangeArrowheads="1"/>
          </p:cNvSpPr>
          <p:nvPr/>
        </p:nvSpPr>
        <p:spPr bwMode="auto">
          <a:xfrm>
            <a:off x="8416999" y="6276920"/>
            <a:ext cx="403151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pt-PT" sz="1200" dirty="0">
                <a:solidFill>
                  <a:schemeClr val="bg2"/>
                </a:solidFill>
                <a:latin typeface="Humnst777 BT" pitchFamily="34" charset="0"/>
              </a:rPr>
              <a:t>11</a:t>
            </a:r>
          </a:p>
        </p:txBody>
      </p:sp>
      <p:sp>
        <p:nvSpPr>
          <p:cNvPr id="7" name="Rectangle 38"/>
          <p:cNvSpPr>
            <a:spLocks noChangeArrowheads="1"/>
          </p:cNvSpPr>
          <p:nvPr/>
        </p:nvSpPr>
        <p:spPr bwMode="auto">
          <a:xfrm>
            <a:off x="2771775" y="404813"/>
            <a:ext cx="6048375" cy="854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r">
              <a:spcBef>
                <a:spcPct val="0"/>
              </a:spcBef>
            </a:pPr>
            <a:r>
              <a:rPr lang="pt-PT" sz="3800" dirty="0">
                <a:solidFill>
                  <a:schemeClr val="bg2"/>
                </a:solidFill>
                <a:latin typeface="Humnst777 BT" pitchFamily="34" charset="0"/>
              </a:rPr>
              <a:t>IUT/Analise/Exploração</a:t>
            </a:r>
          </a:p>
        </p:txBody>
      </p:sp>
    </p:spTree>
    <p:extLst>
      <p:ext uri="{BB962C8B-B14F-4D97-AF65-F5344CB8AC3E}">
        <p14:creationId xmlns:p14="http://schemas.microsoft.com/office/powerpoint/2010/main" val="42201732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Box 39"/>
          <p:cNvSpPr txBox="1">
            <a:spLocks noChangeArrowheads="1"/>
          </p:cNvSpPr>
          <p:nvPr/>
        </p:nvSpPr>
        <p:spPr bwMode="auto">
          <a:xfrm rot="5400000" flipV="1">
            <a:off x="7775575" y="946150"/>
            <a:ext cx="504825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PT" dirty="0">
                <a:solidFill>
                  <a:srgbClr val="CC301F"/>
                </a:solidFill>
              </a:rPr>
              <a:t>«</a:t>
            </a:r>
          </a:p>
        </p:txBody>
      </p:sp>
      <p:sp>
        <p:nvSpPr>
          <p:cNvPr id="18" name="Text Box 13"/>
          <p:cNvSpPr txBox="1">
            <a:spLocks noChangeArrowheads="1"/>
          </p:cNvSpPr>
          <p:nvPr/>
        </p:nvSpPr>
        <p:spPr bwMode="auto">
          <a:xfrm>
            <a:off x="8416999" y="6276920"/>
            <a:ext cx="403151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pt-PT" sz="1200" dirty="0">
                <a:solidFill>
                  <a:schemeClr val="bg2"/>
                </a:solidFill>
                <a:latin typeface="Humnst777 BT" pitchFamily="34" charset="0"/>
              </a:rPr>
              <a:t>12</a:t>
            </a:r>
          </a:p>
        </p:txBody>
      </p:sp>
      <p:sp>
        <p:nvSpPr>
          <p:cNvPr id="10" name="Rectangle 38"/>
          <p:cNvSpPr>
            <a:spLocks noChangeArrowheads="1"/>
          </p:cNvSpPr>
          <p:nvPr/>
        </p:nvSpPr>
        <p:spPr bwMode="auto">
          <a:xfrm>
            <a:off x="2771775" y="404813"/>
            <a:ext cx="6048375" cy="854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r">
              <a:spcBef>
                <a:spcPct val="0"/>
              </a:spcBef>
            </a:pPr>
            <a:r>
              <a:rPr lang="pt-PT" sz="3800" dirty="0">
                <a:solidFill>
                  <a:schemeClr val="bg2"/>
                </a:solidFill>
                <a:latin typeface="Humnst777 BT" pitchFamily="34" charset="0"/>
              </a:rPr>
              <a:t>IUT/Analise/Exploração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509869C-D31C-5ABE-9FBB-81F11B0DA2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4117989"/>
              </p:ext>
            </p:extLst>
          </p:nvPr>
        </p:nvGraphicFramePr>
        <p:xfrm>
          <a:off x="1655675" y="1867852"/>
          <a:ext cx="5832649" cy="3973830"/>
        </p:xfrm>
        <a:graphic>
          <a:graphicData uri="http://schemas.openxmlformats.org/drawingml/2006/table">
            <a:tbl>
              <a:tblPr/>
              <a:tblGrid>
                <a:gridCol w="1280337">
                  <a:extLst>
                    <a:ext uri="{9D8B030D-6E8A-4147-A177-3AD203B41FA5}">
                      <a16:colId xmlns:a16="http://schemas.microsoft.com/office/drawing/2014/main" val="2455959767"/>
                    </a:ext>
                  </a:extLst>
                </a:gridCol>
                <a:gridCol w="1138078">
                  <a:extLst>
                    <a:ext uri="{9D8B030D-6E8A-4147-A177-3AD203B41FA5}">
                      <a16:colId xmlns:a16="http://schemas.microsoft.com/office/drawing/2014/main" val="1878969852"/>
                    </a:ext>
                  </a:extLst>
                </a:gridCol>
                <a:gridCol w="1138078">
                  <a:extLst>
                    <a:ext uri="{9D8B030D-6E8A-4147-A177-3AD203B41FA5}">
                      <a16:colId xmlns:a16="http://schemas.microsoft.com/office/drawing/2014/main" val="710095391"/>
                    </a:ext>
                  </a:extLst>
                </a:gridCol>
                <a:gridCol w="1138078">
                  <a:extLst>
                    <a:ext uri="{9D8B030D-6E8A-4147-A177-3AD203B41FA5}">
                      <a16:colId xmlns:a16="http://schemas.microsoft.com/office/drawing/2014/main" val="911828764"/>
                    </a:ext>
                  </a:extLst>
                </a:gridCol>
                <a:gridCol w="1138078">
                  <a:extLst>
                    <a:ext uri="{9D8B030D-6E8A-4147-A177-3AD203B41FA5}">
                      <a16:colId xmlns:a16="http://schemas.microsoft.com/office/drawing/2014/main" val="4164646068"/>
                    </a:ext>
                  </a:extLst>
                </a:gridCol>
              </a:tblGrid>
              <a:tr h="200025">
                <a:tc>
                  <a:txBody>
                    <a:bodyPr/>
                    <a:lstStyle/>
                    <a:p>
                      <a:pPr algn="l" fontAlgn="b"/>
                      <a:r>
                        <a:rPr lang="pt-PT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AGE_FIRST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PT" sz="1800" b="1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Freq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PT" sz="1800" b="1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Cumul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PT" sz="1800" b="1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Rel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PT" sz="1800" b="1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RelCumul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6877415"/>
                  </a:ext>
                </a:extLst>
              </a:tr>
              <a:tr h="175846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8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8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8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8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1.10%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8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1.10%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51928652"/>
                  </a:ext>
                </a:extLst>
              </a:tr>
              <a:tr h="252041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8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8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8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8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1.10%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8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2.30%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53367884"/>
                  </a:ext>
                </a:extLst>
              </a:tr>
              <a:tr h="252041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8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5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8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8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8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1.10%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8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3.40%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61769248"/>
                  </a:ext>
                </a:extLst>
              </a:tr>
              <a:tr h="252041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8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6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8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8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8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2.30%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8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5.70%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06639742"/>
                  </a:ext>
                </a:extLst>
              </a:tr>
              <a:tr h="252041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8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7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8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5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8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8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5.70%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8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11.50%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73601698"/>
                  </a:ext>
                </a:extLst>
              </a:tr>
              <a:tr h="252041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8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8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8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6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8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8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6.90%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8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18.40%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99036484"/>
                  </a:ext>
                </a:extLst>
              </a:tr>
              <a:tr h="252041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8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9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8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8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8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8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9.20%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8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27.60%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43869074"/>
                  </a:ext>
                </a:extLst>
              </a:tr>
              <a:tr h="252041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8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8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36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8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60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8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41.40%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8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69.00%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29849190"/>
                  </a:ext>
                </a:extLst>
              </a:tr>
              <a:tr h="252041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8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11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8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16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8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76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8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18.40%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8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87.40%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42140349"/>
                  </a:ext>
                </a:extLst>
              </a:tr>
              <a:tr h="252041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8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12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8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4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8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80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8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4.60%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8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92.00%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98222054"/>
                  </a:ext>
                </a:extLst>
              </a:tr>
              <a:tr h="252041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8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13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8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8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82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8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2.30%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8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94.30%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4860821"/>
                  </a:ext>
                </a:extLst>
              </a:tr>
              <a:tr h="252041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8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14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8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8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84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8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2.30%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8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96.60%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79693902"/>
                  </a:ext>
                </a:extLst>
              </a:tr>
              <a:tr h="252041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8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15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8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8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86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8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2.30%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98.90%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603163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86340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6EF318D-0E4A-856B-0743-B4524AA4540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1700" y="1258062"/>
            <a:ext cx="4800600" cy="4800600"/>
          </a:xfrm>
          <a:prstGeom prst="rect">
            <a:avLst/>
          </a:prstGeom>
        </p:spPr>
      </p:pic>
      <p:sp>
        <p:nvSpPr>
          <p:cNvPr id="14" name="Text Box 39"/>
          <p:cNvSpPr txBox="1">
            <a:spLocks noChangeArrowheads="1"/>
          </p:cNvSpPr>
          <p:nvPr/>
        </p:nvSpPr>
        <p:spPr bwMode="auto">
          <a:xfrm rot="5400000" flipV="1">
            <a:off x="7775575" y="946150"/>
            <a:ext cx="504825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PT" dirty="0">
                <a:solidFill>
                  <a:srgbClr val="CC301F"/>
                </a:solidFill>
              </a:rPr>
              <a:t>«</a:t>
            </a:r>
          </a:p>
        </p:txBody>
      </p:sp>
      <p:sp>
        <p:nvSpPr>
          <p:cNvPr id="18" name="Text Box 13"/>
          <p:cNvSpPr txBox="1">
            <a:spLocks noChangeArrowheads="1"/>
          </p:cNvSpPr>
          <p:nvPr/>
        </p:nvSpPr>
        <p:spPr bwMode="auto">
          <a:xfrm>
            <a:off x="8416999" y="6276920"/>
            <a:ext cx="403151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pt-PT" sz="1200" dirty="0">
                <a:solidFill>
                  <a:schemeClr val="bg2"/>
                </a:solidFill>
                <a:latin typeface="Humnst777 BT" pitchFamily="34" charset="0"/>
              </a:rPr>
              <a:t>13</a:t>
            </a:r>
          </a:p>
        </p:txBody>
      </p:sp>
      <p:sp>
        <p:nvSpPr>
          <p:cNvPr id="8" name="Rectangle 38"/>
          <p:cNvSpPr>
            <a:spLocks noChangeArrowheads="1"/>
          </p:cNvSpPr>
          <p:nvPr/>
        </p:nvSpPr>
        <p:spPr bwMode="auto">
          <a:xfrm>
            <a:off x="2771775" y="404813"/>
            <a:ext cx="6048375" cy="854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r">
              <a:spcBef>
                <a:spcPct val="0"/>
              </a:spcBef>
            </a:pPr>
            <a:r>
              <a:rPr lang="pt-PT" sz="3800" dirty="0">
                <a:solidFill>
                  <a:schemeClr val="bg2"/>
                </a:solidFill>
                <a:latin typeface="Humnst777 BT" pitchFamily="34" charset="0"/>
              </a:rPr>
              <a:t>IUT/Analise/Exploração</a:t>
            </a:r>
          </a:p>
        </p:txBody>
      </p:sp>
    </p:spTree>
    <p:extLst>
      <p:ext uri="{BB962C8B-B14F-4D97-AF65-F5344CB8AC3E}">
        <p14:creationId xmlns:p14="http://schemas.microsoft.com/office/powerpoint/2010/main" val="24234866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54BAAB6-6E95-8652-4D89-BB2B8E2F7B1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1700" y="1258888"/>
            <a:ext cx="4800600" cy="4800600"/>
          </a:xfrm>
          <a:prstGeom prst="rect">
            <a:avLst/>
          </a:prstGeom>
        </p:spPr>
      </p:pic>
      <p:sp>
        <p:nvSpPr>
          <p:cNvPr id="14" name="Text Box 39"/>
          <p:cNvSpPr txBox="1">
            <a:spLocks noChangeArrowheads="1"/>
          </p:cNvSpPr>
          <p:nvPr/>
        </p:nvSpPr>
        <p:spPr bwMode="auto">
          <a:xfrm rot="5400000" flipV="1">
            <a:off x="7775575" y="946150"/>
            <a:ext cx="504825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PT" dirty="0">
                <a:solidFill>
                  <a:srgbClr val="CC301F"/>
                </a:solidFill>
              </a:rPr>
              <a:t>«</a:t>
            </a:r>
          </a:p>
        </p:txBody>
      </p:sp>
      <p:sp>
        <p:nvSpPr>
          <p:cNvPr id="18" name="Text Box 13"/>
          <p:cNvSpPr txBox="1">
            <a:spLocks noChangeArrowheads="1"/>
          </p:cNvSpPr>
          <p:nvPr/>
        </p:nvSpPr>
        <p:spPr bwMode="auto">
          <a:xfrm>
            <a:off x="8416999" y="6276920"/>
            <a:ext cx="403151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pt-PT" sz="1200" dirty="0">
                <a:solidFill>
                  <a:schemeClr val="bg2"/>
                </a:solidFill>
                <a:latin typeface="Humnst777 BT" pitchFamily="34" charset="0"/>
              </a:rPr>
              <a:t>14</a:t>
            </a:r>
          </a:p>
        </p:txBody>
      </p:sp>
      <p:sp>
        <p:nvSpPr>
          <p:cNvPr id="8" name="Rectangle 38"/>
          <p:cNvSpPr>
            <a:spLocks noChangeArrowheads="1"/>
          </p:cNvSpPr>
          <p:nvPr/>
        </p:nvSpPr>
        <p:spPr bwMode="auto">
          <a:xfrm>
            <a:off x="2771775" y="404813"/>
            <a:ext cx="6048375" cy="854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r">
              <a:spcBef>
                <a:spcPct val="0"/>
              </a:spcBef>
            </a:pPr>
            <a:r>
              <a:rPr lang="pt-PT" sz="3800" dirty="0">
                <a:solidFill>
                  <a:schemeClr val="bg2"/>
                </a:solidFill>
                <a:latin typeface="Humnst777 BT" pitchFamily="34" charset="0"/>
              </a:rPr>
              <a:t>IUT/Analise/Exploração</a:t>
            </a:r>
          </a:p>
        </p:txBody>
      </p:sp>
    </p:spTree>
    <p:extLst>
      <p:ext uri="{BB962C8B-B14F-4D97-AF65-F5344CB8AC3E}">
        <p14:creationId xmlns:p14="http://schemas.microsoft.com/office/powerpoint/2010/main" val="31985835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20E8739-F9C8-73AD-9020-703375D5533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6847" y="1271501"/>
            <a:ext cx="4800600" cy="4800600"/>
          </a:xfrm>
          <a:prstGeom prst="rect">
            <a:avLst/>
          </a:prstGeom>
        </p:spPr>
      </p:pic>
      <p:sp>
        <p:nvSpPr>
          <p:cNvPr id="14" name="Text Box 39"/>
          <p:cNvSpPr txBox="1">
            <a:spLocks noChangeArrowheads="1"/>
          </p:cNvSpPr>
          <p:nvPr/>
        </p:nvSpPr>
        <p:spPr bwMode="auto">
          <a:xfrm rot="5400000" flipV="1">
            <a:off x="7775575" y="946150"/>
            <a:ext cx="504825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PT" dirty="0">
                <a:solidFill>
                  <a:srgbClr val="CC301F"/>
                </a:solidFill>
              </a:rPr>
              <a:t>«</a:t>
            </a:r>
          </a:p>
        </p:txBody>
      </p:sp>
      <p:sp>
        <p:nvSpPr>
          <p:cNvPr id="18" name="Text Box 13"/>
          <p:cNvSpPr txBox="1">
            <a:spLocks noChangeArrowheads="1"/>
          </p:cNvSpPr>
          <p:nvPr/>
        </p:nvSpPr>
        <p:spPr bwMode="auto">
          <a:xfrm>
            <a:off x="8416999" y="6276920"/>
            <a:ext cx="403151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pt-PT" sz="1200" dirty="0">
                <a:solidFill>
                  <a:schemeClr val="bg2"/>
                </a:solidFill>
                <a:latin typeface="Humnst777 BT" pitchFamily="34" charset="0"/>
              </a:rPr>
              <a:t>15</a:t>
            </a:r>
          </a:p>
        </p:txBody>
      </p:sp>
      <p:sp>
        <p:nvSpPr>
          <p:cNvPr id="8" name="Rectangle 38"/>
          <p:cNvSpPr>
            <a:spLocks noChangeArrowheads="1"/>
          </p:cNvSpPr>
          <p:nvPr/>
        </p:nvSpPr>
        <p:spPr bwMode="auto">
          <a:xfrm>
            <a:off x="2771775" y="404813"/>
            <a:ext cx="6048375" cy="854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r">
              <a:spcBef>
                <a:spcPct val="0"/>
              </a:spcBef>
            </a:pPr>
            <a:r>
              <a:rPr lang="pt-PT" sz="3800" dirty="0">
                <a:solidFill>
                  <a:schemeClr val="bg2"/>
                </a:solidFill>
                <a:latin typeface="Humnst777 BT" pitchFamily="34" charset="0"/>
              </a:rPr>
              <a:t>IUT/Analise/Exploração</a:t>
            </a:r>
          </a:p>
        </p:txBody>
      </p:sp>
    </p:spTree>
    <p:extLst>
      <p:ext uri="{BB962C8B-B14F-4D97-AF65-F5344CB8AC3E}">
        <p14:creationId xmlns:p14="http://schemas.microsoft.com/office/powerpoint/2010/main" val="88339523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DD8F0B0-7D7C-A398-0EDE-F06058B5F42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1700" y="1258888"/>
            <a:ext cx="4800600" cy="4800600"/>
          </a:xfrm>
          <a:prstGeom prst="rect">
            <a:avLst/>
          </a:prstGeom>
        </p:spPr>
      </p:pic>
      <p:sp>
        <p:nvSpPr>
          <p:cNvPr id="14" name="Text Box 39"/>
          <p:cNvSpPr txBox="1">
            <a:spLocks noChangeArrowheads="1"/>
          </p:cNvSpPr>
          <p:nvPr/>
        </p:nvSpPr>
        <p:spPr bwMode="auto">
          <a:xfrm rot="5400000" flipV="1">
            <a:off x="7775575" y="946150"/>
            <a:ext cx="504825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PT" dirty="0">
                <a:solidFill>
                  <a:srgbClr val="CC301F"/>
                </a:solidFill>
              </a:rPr>
              <a:t>«</a:t>
            </a:r>
          </a:p>
        </p:txBody>
      </p:sp>
      <p:sp>
        <p:nvSpPr>
          <p:cNvPr id="18" name="Text Box 13"/>
          <p:cNvSpPr txBox="1">
            <a:spLocks noChangeArrowheads="1"/>
          </p:cNvSpPr>
          <p:nvPr/>
        </p:nvSpPr>
        <p:spPr bwMode="auto">
          <a:xfrm>
            <a:off x="8416999" y="6276920"/>
            <a:ext cx="403151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pt-PT" sz="1200" dirty="0">
                <a:solidFill>
                  <a:schemeClr val="bg2"/>
                </a:solidFill>
                <a:latin typeface="Humnst777 BT" pitchFamily="34" charset="0"/>
              </a:rPr>
              <a:t>16</a:t>
            </a:r>
          </a:p>
        </p:txBody>
      </p:sp>
      <p:sp>
        <p:nvSpPr>
          <p:cNvPr id="8" name="Rectangle 38"/>
          <p:cNvSpPr>
            <a:spLocks noChangeArrowheads="1"/>
          </p:cNvSpPr>
          <p:nvPr/>
        </p:nvSpPr>
        <p:spPr bwMode="auto">
          <a:xfrm>
            <a:off x="2771775" y="404813"/>
            <a:ext cx="6048375" cy="854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r">
              <a:spcBef>
                <a:spcPct val="0"/>
              </a:spcBef>
            </a:pPr>
            <a:r>
              <a:rPr lang="pt-PT" sz="3800" dirty="0">
                <a:solidFill>
                  <a:schemeClr val="bg2"/>
                </a:solidFill>
                <a:latin typeface="Humnst777 BT" pitchFamily="34" charset="0"/>
              </a:rPr>
              <a:t>IUT/Analise/Exploração</a:t>
            </a:r>
          </a:p>
        </p:txBody>
      </p:sp>
    </p:spTree>
    <p:extLst>
      <p:ext uri="{BB962C8B-B14F-4D97-AF65-F5344CB8AC3E}">
        <p14:creationId xmlns:p14="http://schemas.microsoft.com/office/powerpoint/2010/main" val="47402606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868CEAD-A32B-5657-6077-7E484BFAFBA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8474" y="1258888"/>
            <a:ext cx="4800600" cy="4800600"/>
          </a:xfrm>
          <a:prstGeom prst="rect">
            <a:avLst/>
          </a:prstGeom>
        </p:spPr>
      </p:pic>
      <p:sp>
        <p:nvSpPr>
          <p:cNvPr id="14" name="Text Box 39"/>
          <p:cNvSpPr txBox="1">
            <a:spLocks noChangeArrowheads="1"/>
          </p:cNvSpPr>
          <p:nvPr/>
        </p:nvSpPr>
        <p:spPr bwMode="auto">
          <a:xfrm rot="5400000" flipV="1">
            <a:off x="7775575" y="946150"/>
            <a:ext cx="504825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PT" dirty="0">
                <a:solidFill>
                  <a:srgbClr val="CC301F"/>
                </a:solidFill>
              </a:rPr>
              <a:t>«</a:t>
            </a:r>
          </a:p>
        </p:txBody>
      </p:sp>
      <p:sp>
        <p:nvSpPr>
          <p:cNvPr id="18" name="Text Box 13"/>
          <p:cNvSpPr txBox="1">
            <a:spLocks noChangeArrowheads="1"/>
          </p:cNvSpPr>
          <p:nvPr/>
        </p:nvSpPr>
        <p:spPr bwMode="auto">
          <a:xfrm>
            <a:off x="8416999" y="6276920"/>
            <a:ext cx="403151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pt-PT" sz="1200" dirty="0">
                <a:solidFill>
                  <a:schemeClr val="bg2"/>
                </a:solidFill>
                <a:latin typeface="Humnst777 BT" pitchFamily="34" charset="0"/>
              </a:rPr>
              <a:t>17</a:t>
            </a:r>
          </a:p>
        </p:txBody>
      </p:sp>
      <p:sp>
        <p:nvSpPr>
          <p:cNvPr id="8" name="Rectangle 38"/>
          <p:cNvSpPr>
            <a:spLocks noChangeArrowheads="1"/>
          </p:cNvSpPr>
          <p:nvPr/>
        </p:nvSpPr>
        <p:spPr bwMode="auto">
          <a:xfrm>
            <a:off x="2771775" y="404813"/>
            <a:ext cx="6048375" cy="854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r">
              <a:spcBef>
                <a:spcPct val="0"/>
              </a:spcBef>
            </a:pPr>
            <a:r>
              <a:rPr lang="pt-PT" sz="3800" dirty="0">
                <a:solidFill>
                  <a:schemeClr val="bg2"/>
                </a:solidFill>
                <a:latin typeface="Humnst777 BT" pitchFamily="34" charset="0"/>
              </a:rPr>
              <a:t>IUT/Analise/Exploração</a:t>
            </a:r>
          </a:p>
        </p:txBody>
      </p:sp>
    </p:spTree>
    <p:extLst>
      <p:ext uri="{BB962C8B-B14F-4D97-AF65-F5344CB8AC3E}">
        <p14:creationId xmlns:p14="http://schemas.microsoft.com/office/powerpoint/2010/main" val="218535121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E308AAB-389C-B20D-5060-CC18043F62E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1700" y="1196975"/>
            <a:ext cx="4800600" cy="4800600"/>
          </a:xfrm>
          <a:prstGeom prst="rect">
            <a:avLst/>
          </a:prstGeom>
        </p:spPr>
      </p:pic>
      <p:sp>
        <p:nvSpPr>
          <p:cNvPr id="14" name="Text Box 39"/>
          <p:cNvSpPr txBox="1">
            <a:spLocks noChangeArrowheads="1"/>
          </p:cNvSpPr>
          <p:nvPr/>
        </p:nvSpPr>
        <p:spPr bwMode="auto">
          <a:xfrm rot="5400000" flipV="1">
            <a:off x="7775575" y="946150"/>
            <a:ext cx="504825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PT" dirty="0">
                <a:solidFill>
                  <a:srgbClr val="CC301F"/>
                </a:solidFill>
              </a:rPr>
              <a:t>«</a:t>
            </a:r>
          </a:p>
        </p:txBody>
      </p:sp>
      <p:sp>
        <p:nvSpPr>
          <p:cNvPr id="18" name="Text Box 13"/>
          <p:cNvSpPr txBox="1">
            <a:spLocks noChangeArrowheads="1"/>
          </p:cNvSpPr>
          <p:nvPr/>
        </p:nvSpPr>
        <p:spPr bwMode="auto">
          <a:xfrm>
            <a:off x="8416999" y="6276920"/>
            <a:ext cx="403151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pt-PT" sz="1200" dirty="0">
                <a:solidFill>
                  <a:schemeClr val="bg2"/>
                </a:solidFill>
                <a:latin typeface="Humnst777 BT" pitchFamily="34" charset="0"/>
              </a:rPr>
              <a:t>18</a:t>
            </a:r>
          </a:p>
        </p:txBody>
      </p:sp>
      <p:sp>
        <p:nvSpPr>
          <p:cNvPr id="8" name="Rectangle 38"/>
          <p:cNvSpPr>
            <a:spLocks noChangeArrowheads="1"/>
          </p:cNvSpPr>
          <p:nvPr/>
        </p:nvSpPr>
        <p:spPr bwMode="auto">
          <a:xfrm>
            <a:off x="2771775" y="404813"/>
            <a:ext cx="6048375" cy="854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r">
              <a:spcBef>
                <a:spcPct val="0"/>
              </a:spcBef>
            </a:pPr>
            <a:r>
              <a:rPr lang="pt-PT" sz="3800" dirty="0">
                <a:solidFill>
                  <a:schemeClr val="bg2"/>
                </a:solidFill>
                <a:latin typeface="Humnst777 BT" pitchFamily="34" charset="0"/>
              </a:rPr>
              <a:t>IUT/Analise/Exploração</a:t>
            </a:r>
          </a:p>
        </p:txBody>
      </p:sp>
    </p:spTree>
    <p:extLst>
      <p:ext uri="{BB962C8B-B14F-4D97-AF65-F5344CB8AC3E}">
        <p14:creationId xmlns:p14="http://schemas.microsoft.com/office/powerpoint/2010/main" val="338636476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Box 39"/>
          <p:cNvSpPr txBox="1">
            <a:spLocks noChangeArrowheads="1"/>
          </p:cNvSpPr>
          <p:nvPr/>
        </p:nvSpPr>
        <p:spPr bwMode="auto">
          <a:xfrm rot="5400000" flipV="1">
            <a:off x="7775575" y="946150"/>
            <a:ext cx="504825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PT" dirty="0">
                <a:solidFill>
                  <a:srgbClr val="CC301F"/>
                </a:solidFill>
              </a:rPr>
              <a:t>«</a:t>
            </a:r>
          </a:p>
        </p:txBody>
      </p:sp>
      <p:sp>
        <p:nvSpPr>
          <p:cNvPr id="18" name="Text Box 13"/>
          <p:cNvSpPr txBox="1">
            <a:spLocks noChangeArrowheads="1"/>
          </p:cNvSpPr>
          <p:nvPr/>
        </p:nvSpPr>
        <p:spPr bwMode="auto">
          <a:xfrm>
            <a:off x="8416999" y="6276920"/>
            <a:ext cx="403151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pt-PT" sz="1200" dirty="0">
                <a:solidFill>
                  <a:schemeClr val="bg2"/>
                </a:solidFill>
                <a:latin typeface="Humnst777 BT" pitchFamily="34" charset="0"/>
              </a:rPr>
              <a:t>19</a:t>
            </a:r>
          </a:p>
        </p:txBody>
      </p:sp>
      <p:sp>
        <p:nvSpPr>
          <p:cNvPr id="8" name="Rectangle 38"/>
          <p:cNvSpPr>
            <a:spLocks noChangeArrowheads="1"/>
          </p:cNvSpPr>
          <p:nvPr/>
        </p:nvSpPr>
        <p:spPr bwMode="auto">
          <a:xfrm>
            <a:off x="2771775" y="404813"/>
            <a:ext cx="6048375" cy="854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r">
              <a:spcBef>
                <a:spcPct val="0"/>
              </a:spcBef>
            </a:pPr>
            <a:r>
              <a:rPr lang="pt-PT" sz="3800" dirty="0">
                <a:solidFill>
                  <a:schemeClr val="bg2"/>
                </a:solidFill>
                <a:latin typeface="Humnst777 BT" pitchFamily="34" charset="0"/>
              </a:rPr>
              <a:t>IUT/Analise/Exploração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229EA5D-67BA-BA78-E2B9-0B4C2E0DE1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2773843"/>
              </p:ext>
            </p:extLst>
          </p:nvPr>
        </p:nvGraphicFramePr>
        <p:xfrm>
          <a:off x="540001" y="2861310"/>
          <a:ext cx="8063998" cy="1135380"/>
        </p:xfrm>
        <a:graphic>
          <a:graphicData uri="http://schemas.openxmlformats.org/drawingml/2006/table">
            <a:tbl>
              <a:tblPr/>
              <a:tblGrid>
                <a:gridCol w="1375930">
                  <a:extLst>
                    <a:ext uri="{9D8B030D-6E8A-4147-A177-3AD203B41FA5}">
                      <a16:colId xmlns:a16="http://schemas.microsoft.com/office/drawing/2014/main" val="784527518"/>
                    </a:ext>
                  </a:extLst>
                </a:gridCol>
                <a:gridCol w="1114678">
                  <a:extLst>
                    <a:ext uri="{9D8B030D-6E8A-4147-A177-3AD203B41FA5}">
                      <a16:colId xmlns:a16="http://schemas.microsoft.com/office/drawing/2014/main" val="3208996949"/>
                    </a:ext>
                  </a:extLst>
                </a:gridCol>
                <a:gridCol w="1114678">
                  <a:extLst>
                    <a:ext uri="{9D8B030D-6E8A-4147-A177-3AD203B41FA5}">
                      <a16:colId xmlns:a16="http://schemas.microsoft.com/office/drawing/2014/main" val="3110566216"/>
                    </a:ext>
                  </a:extLst>
                </a:gridCol>
                <a:gridCol w="1114678">
                  <a:extLst>
                    <a:ext uri="{9D8B030D-6E8A-4147-A177-3AD203B41FA5}">
                      <a16:colId xmlns:a16="http://schemas.microsoft.com/office/drawing/2014/main" val="2826009932"/>
                    </a:ext>
                  </a:extLst>
                </a:gridCol>
                <a:gridCol w="1114678">
                  <a:extLst>
                    <a:ext uri="{9D8B030D-6E8A-4147-A177-3AD203B41FA5}">
                      <a16:colId xmlns:a16="http://schemas.microsoft.com/office/drawing/2014/main" val="277164068"/>
                    </a:ext>
                  </a:extLst>
                </a:gridCol>
                <a:gridCol w="1114678">
                  <a:extLst>
                    <a:ext uri="{9D8B030D-6E8A-4147-A177-3AD203B41FA5}">
                      <a16:colId xmlns:a16="http://schemas.microsoft.com/office/drawing/2014/main" val="1063888359"/>
                    </a:ext>
                  </a:extLst>
                </a:gridCol>
                <a:gridCol w="1114678">
                  <a:extLst>
                    <a:ext uri="{9D8B030D-6E8A-4147-A177-3AD203B41FA5}">
                      <a16:colId xmlns:a16="http://schemas.microsoft.com/office/drawing/2014/main" val="1106178177"/>
                    </a:ext>
                  </a:extLst>
                </a:gridCol>
              </a:tblGrid>
              <a:tr h="200025">
                <a:tc>
                  <a:txBody>
                    <a:bodyPr/>
                    <a:lstStyle/>
                    <a:p>
                      <a:pPr algn="l" fontAlgn="b"/>
                      <a:r>
                        <a:rPr lang="pt-PT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PT" sz="18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Mean</a:t>
                      </a:r>
                      <a:endParaRPr lang="pt-PT" sz="1800" b="1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PT" sz="1800" b="1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Median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PT" sz="1800" b="1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Mode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PT" sz="1800" b="1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StDev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PT" sz="1800" b="1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IQR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PT" sz="1800" b="1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Range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852941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pt-PT" sz="1800" b="1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AGE_FIRST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8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9.87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8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8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8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2.28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8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8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6531255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pt-PT" sz="1800" b="1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PRICE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8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772.16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8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700.00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8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700.00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8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431.28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8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500.00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8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2369.00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55780354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l" fontAlgn="b"/>
                      <a:r>
                        <a:rPr lang="pt-PT" sz="1800" b="1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PRICE_NEW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8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882.58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8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850.00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8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1000.00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8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422.55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8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400.00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1800.00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113376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4920861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Box 39"/>
          <p:cNvSpPr txBox="1">
            <a:spLocks noChangeArrowheads="1"/>
          </p:cNvSpPr>
          <p:nvPr/>
        </p:nvSpPr>
        <p:spPr bwMode="auto">
          <a:xfrm rot="5400000" flipV="1">
            <a:off x="7775575" y="946150"/>
            <a:ext cx="504825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PT" dirty="0">
                <a:solidFill>
                  <a:srgbClr val="CC301F"/>
                </a:solidFill>
              </a:rPr>
              <a:t>«</a:t>
            </a:r>
          </a:p>
        </p:txBody>
      </p:sp>
      <p:sp>
        <p:nvSpPr>
          <p:cNvPr id="18" name="Text Box 13"/>
          <p:cNvSpPr txBox="1">
            <a:spLocks noChangeArrowheads="1"/>
          </p:cNvSpPr>
          <p:nvPr/>
        </p:nvSpPr>
        <p:spPr bwMode="auto">
          <a:xfrm>
            <a:off x="8416999" y="6276920"/>
            <a:ext cx="403151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pt-PT" sz="1200" dirty="0">
                <a:solidFill>
                  <a:schemeClr val="bg2"/>
                </a:solidFill>
                <a:latin typeface="Humnst777 BT" pitchFamily="34" charset="0"/>
              </a:rPr>
              <a:t>20</a:t>
            </a:r>
          </a:p>
        </p:txBody>
      </p:sp>
      <p:sp>
        <p:nvSpPr>
          <p:cNvPr id="8" name="Rectangle 38"/>
          <p:cNvSpPr>
            <a:spLocks noChangeArrowheads="1"/>
          </p:cNvSpPr>
          <p:nvPr/>
        </p:nvSpPr>
        <p:spPr bwMode="auto">
          <a:xfrm>
            <a:off x="2771775" y="404813"/>
            <a:ext cx="6048375" cy="854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r">
              <a:spcBef>
                <a:spcPct val="0"/>
              </a:spcBef>
            </a:pPr>
            <a:r>
              <a:rPr lang="pt-PT" sz="3800" dirty="0">
                <a:solidFill>
                  <a:schemeClr val="bg2"/>
                </a:solidFill>
                <a:latin typeface="Humnst777 BT" pitchFamily="34" charset="0"/>
              </a:rPr>
              <a:t>IUT/Analise/Modelos</a:t>
            </a:r>
          </a:p>
        </p:txBody>
      </p:sp>
      <p:sp>
        <p:nvSpPr>
          <p:cNvPr id="7" name="Text Box 13"/>
          <p:cNvSpPr txBox="1">
            <a:spLocks noChangeArrowheads="1"/>
          </p:cNvSpPr>
          <p:nvPr/>
        </p:nvSpPr>
        <p:spPr bwMode="auto">
          <a:xfrm>
            <a:off x="540000" y="2138367"/>
            <a:ext cx="8064000" cy="1492716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just">
              <a:spcBef>
                <a:spcPts val="0"/>
              </a:spcBef>
            </a:pPr>
            <a:r>
              <a:rPr lang="en-US" sz="13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lm</a:t>
            </a:r>
            <a:r>
              <a:rPr lang="en-US" sz="13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(formula = PRICE_NEW ~ PRICE, data = tb5)</a:t>
            </a:r>
          </a:p>
          <a:p>
            <a:pPr algn="just">
              <a:spcBef>
                <a:spcPts val="0"/>
              </a:spcBef>
            </a:pPr>
            <a:endParaRPr lang="en-US" sz="13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pPr algn="just">
              <a:spcBef>
                <a:spcPts val="0"/>
              </a:spcBef>
            </a:pPr>
            <a:r>
              <a:rPr lang="en-US" sz="13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        Estimate Std. Error t value </a:t>
            </a:r>
            <a:r>
              <a:rPr lang="en-US" sz="13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Pr</a:t>
            </a:r>
            <a:r>
              <a:rPr lang="en-US" sz="13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(&gt;|t|)    </a:t>
            </a:r>
          </a:p>
          <a:p>
            <a:pPr algn="just">
              <a:spcBef>
                <a:spcPts val="0"/>
              </a:spcBef>
            </a:pPr>
            <a:r>
              <a:rPr lang="pt-PT" sz="13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pt-PT" sz="13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Intercept</a:t>
            </a:r>
            <a:r>
              <a:rPr lang="pt-PT" sz="13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) 326.83546   75.76009   4.314 6.08e-05 ***</a:t>
            </a:r>
          </a:p>
          <a:p>
            <a:pPr algn="just">
              <a:spcBef>
                <a:spcPts val="0"/>
              </a:spcBef>
            </a:pPr>
            <a:r>
              <a:rPr lang="pt-PT" sz="13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PRICE         0.71973    0.08582   8.386 1.08e-11 ***</a:t>
            </a:r>
          </a:p>
          <a:p>
            <a:pPr algn="just">
              <a:spcBef>
                <a:spcPts val="0"/>
              </a:spcBef>
            </a:pPr>
            <a:endParaRPr lang="en-US" sz="13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pPr algn="just">
              <a:spcBef>
                <a:spcPts val="0"/>
              </a:spcBef>
            </a:pPr>
            <a:r>
              <a:rPr lang="en-US" sz="13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Multiple R-squared:  0.54,	Adjusted R-squared:   0.53</a:t>
            </a:r>
          </a:p>
        </p:txBody>
      </p:sp>
    </p:spTree>
    <p:extLst>
      <p:ext uri="{BB962C8B-B14F-4D97-AF65-F5344CB8AC3E}">
        <p14:creationId xmlns:p14="http://schemas.microsoft.com/office/powerpoint/2010/main" val="288985451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9753ADF-73F3-C1A3-3EFB-9098A8D97F8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4409" y="1269153"/>
            <a:ext cx="4800600" cy="4800600"/>
          </a:xfrm>
          <a:prstGeom prst="rect">
            <a:avLst/>
          </a:prstGeom>
        </p:spPr>
      </p:pic>
      <p:sp>
        <p:nvSpPr>
          <p:cNvPr id="14" name="Text Box 39"/>
          <p:cNvSpPr txBox="1">
            <a:spLocks noChangeArrowheads="1"/>
          </p:cNvSpPr>
          <p:nvPr/>
        </p:nvSpPr>
        <p:spPr bwMode="auto">
          <a:xfrm rot="5400000" flipV="1">
            <a:off x="7775575" y="946150"/>
            <a:ext cx="504825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PT" dirty="0">
                <a:solidFill>
                  <a:srgbClr val="CC301F"/>
                </a:solidFill>
              </a:rPr>
              <a:t>«</a:t>
            </a:r>
          </a:p>
        </p:txBody>
      </p:sp>
      <p:sp>
        <p:nvSpPr>
          <p:cNvPr id="18" name="Text Box 13"/>
          <p:cNvSpPr txBox="1">
            <a:spLocks noChangeArrowheads="1"/>
          </p:cNvSpPr>
          <p:nvPr/>
        </p:nvSpPr>
        <p:spPr bwMode="auto">
          <a:xfrm>
            <a:off x="8416999" y="6276920"/>
            <a:ext cx="403151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pt-PT" sz="1200" dirty="0">
                <a:solidFill>
                  <a:schemeClr val="bg2"/>
                </a:solidFill>
                <a:latin typeface="Humnst777 BT" pitchFamily="34" charset="0"/>
              </a:rPr>
              <a:t>21</a:t>
            </a:r>
          </a:p>
        </p:txBody>
      </p:sp>
      <p:sp>
        <p:nvSpPr>
          <p:cNvPr id="8" name="Rectangle 38"/>
          <p:cNvSpPr>
            <a:spLocks noChangeArrowheads="1"/>
          </p:cNvSpPr>
          <p:nvPr/>
        </p:nvSpPr>
        <p:spPr bwMode="auto">
          <a:xfrm>
            <a:off x="2771775" y="404813"/>
            <a:ext cx="6048375" cy="854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r">
              <a:spcBef>
                <a:spcPct val="0"/>
              </a:spcBef>
            </a:pPr>
            <a:r>
              <a:rPr lang="pt-PT" sz="3800" dirty="0">
                <a:solidFill>
                  <a:schemeClr val="bg2"/>
                </a:solidFill>
                <a:latin typeface="Humnst777 BT" pitchFamily="34" charset="0"/>
              </a:rPr>
              <a:t>IUT/Analise/Modelos</a:t>
            </a:r>
          </a:p>
        </p:txBody>
      </p:sp>
    </p:spTree>
    <p:extLst>
      <p:ext uri="{BB962C8B-B14F-4D97-AF65-F5344CB8AC3E}">
        <p14:creationId xmlns:p14="http://schemas.microsoft.com/office/powerpoint/2010/main" val="160394872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Box 39"/>
          <p:cNvSpPr txBox="1">
            <a:spLocks noChangeArrowheads="1"/>
          </p:cNvSpPr>
          <p:nvPr/>
        </p:nvSpPr>
        <p:spPr bwMode="auto">
          <a:xfrm rot="5400000" flipV="1">
            <a:off x="7775575" y="946150"/>
            <a:ext cx="504825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PT" dirty="0">
                <a:solidFill>
                  <a:srgbClr val="CC301F"/>
                </a:solidFill>
              </a:rPr>
              <a:t>«</a:t>
            </a:r>
          </a:p>
        </p:txBody>
      </p:sp>
      <p:sp>
        <p:nvSpPr>
          <p:cNvPr id="18" name="Text Box 13"/>
          <p:cNvSpPr txBox="1">
            <a:spLocks noChangeArrowheads="1"/>
          </p:cNvSpPr>
          <p:nvPr/>
        </p:nvSpPr>
        <p:spPr bwMode="auto">
          <a:xfrm>
            <a:off x="8416999" y="6276920"/>
            <a:ext cx="403151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pt-PT" sz="1200" dirty="0">
                <a:solidFill>
                  <a:schemeClr val="bg2"/>
                </a:solidFill>
                <a:latin typeface="Humnst777 BT" pitchFamily="34" charset="0"/>
              </a:rPr>
              <a:t>22</a:t>
            </a:r>
          </a:p>
        </p:txBody>
      </p:sp>
      <p:sp>
        <p:nvSpPr>
          <p:cNvPr id="8" name="Rectangle 38"/>
          <p:cNvSpPr>
            <a:spLocks noChangeArrowheads="1"/>
          </p:cNvSpPr>
          <p:nvPr/>
        </p:nvSpPr>
        <p:spPr bwMode="auto">
          <a:xfrm>
            <a:off x="2771775" y="404813"/>
            <a:ext cx="6048375" cy="854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r">
              <a:spcBef>
                <a:spcPct val="0"/>
              </a:spcBef>
            </a:pPr>
            <a:r>
              <a:rPr lang="pt-PT" sz="3800" dirty="0">
                <a:solidFill>
                  <a:schemeClr val="bg2"/>
                </a:solidFill>
                <a:latin typeface="Humnst777 BT" pitchFamily="34" charset="0"/>
              </a:rPr>
              <a:t>IUT/Analise/Modelos</a:t>
            </a:r>
          </a:p>
        </p:txBody>
      </p:sp>
      <p:sp>
        <p:nvSpPr>
          <p:cNvPr id="7" name="Text Box 13"/>
          <p:cNvSpPr txBox="1">
            <a:spLocks noChangeArrowheads="1"/>
          </p:cNvSpPr>
          <p:nvPr/>
        </p:nvSpPr>
        <p:spPr bwMode="auto">
          <a:xfrm>
            <a:off x="540000" y="2138367"/>
            <a:ext cx="8064000" cy="209288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just">
              <a:spcBef>
                <a:spcPts val="0"/>
              </a:spcBef>
            </a:pPr>
            <a:r>
              <a:rPr lang="en-US" sz="13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lm</a:t>
            </a:r>
            <a:r>
              <a:rPr lang="en-US" sz="13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(formula = PRICE_NEW ~ PRICE * PLAY_PHONE, data = tb5)</a:t>
            </a:r>
          </a:p>
          <a:p>
            <a:pPr algn="just">
              <a:spcBef>
                <a:spcPts val="0"/>
              </a:spcBef>
            </a:pPr>
            <a:endParaRPr lang="en-US" sz="13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pPr algn="just">
              <a:spcBef>
                <a:spcPts val="0"/>
              </a:spcBef>
            </a:pPr>
            <a:r>
              <a:rPr lang="en-US" sz="13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            Estimate Std. Error t value </a:t>
            </a:r>
            <a:r>
              <a:rPr lang="en-US" sz="13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Pr</a:t>
            </a:r>
            <a:r>
              <a:rPr lang="en-US" sz="13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(&gt;|t|)    </a:t>
            </a:r>
          </a:p>
          <a:p>
            <a:pPr algn="just">
              <a:spcBef>
                <a:spcPts val="0"/>
              </a:spcBef>
            </a:pPr>
            <a:r>
              <a:rPr lang="en-US" sz="13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Estimate Std. Error t value </a:t>
            </a:r>
            <a:r>
              <a:rPr lang="en-US" sz="13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Pr</a:t>
            </a:r>
            <a:r>
              <a:rPr lang="en-US" sz="13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(&gt;|t|)    </a:t>
            </a:r>
          </a:p>
          <a:p>
            <a:pPr algn="just">
              <a:spcBef>
                <a:spcPts val="0"/>
              </a:spcBef>
            </a:pPr>
            <a:r>
              <a:rPr lang="en-US" sz="13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(Intercept)          342.0034   114.4162   2.989   0.0041 ** </a:t>
            </a:r>
          </a:p>
          <a:p>
            <a:pPr algn="just">
              <a:spcBef>
                <a:spcPts val="0"/>
              </a:spcBef>
            </a:pPr>
            <a:r>
              <a:rPr lang="en-US" sz="13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PRICE                  0.6513     0.1134   5.742 3.61e-07 ***</a:t>
            </a:r>
          </a:p>
          <a:p>
            <a:pPr algn="just">
              <a:spcBef>
                <a:spcPts val="0"/>
              </a:spcBef>
            </a:pPr>
            <a:r>
              <a:rPr lang="en-US" sz="13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PLAY_PHONETRUE       -76.6385   158.3460  -0.484   0.6302    </a:t>
            </a:r>
          </a:p>
          <a:p>
            <a:pPr algn="just">
              <a:spcBef>
                <a:spcPts val="0"/>
              </a:spcBef>
            </a:pPr>
            <a:r>
              <a:rPr lang="en-US" sz="13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PRICE:PLAY_PHONETRUE   0.1744     0.1751   0.996   0.3233 </a:t>
            </a:r>
          </a:p>
          <a:p>
            <a:pPr algn="just">
              <a:spcBef>
                <a:spcPts val="0"/>
              </a:spcBef>
            </a:pPr>
            <a:endParaRPr lang="en-US" sz="13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pPr algn="just">
              <a:spcBef>
                <a:spcPts val="0"/>
              </a:spcBef>
            </a:pPr>
            <a:r>
              <a:rPr lang="en-US" sz="13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Multiple R-squared:  0.55,	Adjusted R-squared:   0.53</a:t>
            </a:r>
          </a:p>
        </p:txBody>
      </p:sp>
    </p:spTree>
    <p:extLst>
      <p:ext uri="{BB962C8B-B14F-4D97-AF65-F5344CB8AC3E}">
        <p14:creationId xmlns:p14="http://schemas.microsoft.com/office/powerpoint/2010/main" val="101132702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E4D4A85-2375-A48A-A9AD-0E6315A68AC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86016" y="1285553"/>
            <a:ext cx="4800600" cy="4800600"/>
          </a:xfrm>
          <a:prstGeom prst="rect">
            <a:avLst/>
          </a:prstGeom>
        </p:spPr>
      </p:pic>
      <p:sp>
        <p:nvSpPr>
          <p:cNvPr id="14" name="Text Box 39"/>
          <p:cNvSpPr txBox="1">
            <a:spLocks noChangeArrowheads="1"/>
          </p:cNvSpPr>
          <p:nvPr/>
        </p:nvSpPr>
        <p:spPr bwMode="auto">
          <a:xfrm rot="5400000" flipV="1">
            <a:off x="7775575" y="946150"/>
            <a:ext cx="504825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PT" dirty="0">
                <a:solidFill>
                  <a:srgbClr val="CC301F"/>
                </a:solidFill>
              </a:rPr>
              <a:t>«</a:t>
            </a:r>
          </a:p>
        </p:txBody>
      </p:sp>
      <p:sp>
        <p:nvSpPr>
          <p:cNvPr id="18" name="Text Box 13"/>
          <p:cNvSpPr txBox="1">
            <a:spLocks noChangeArrowheads="1"/>
          </p:cNvSpPr>
          <p:nvPr/>
        </p:nvSpPr>
        <p:spPr bwMode="auto">
          <a:xfrm>
            <a:off x="8416999" y="6276920"/>
            <a:ext cx="403151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pt-PT" sz="1200" dirty="0">
                <a:solidFill>
                  <a:schemeClr val="bg2"/>
                </a:solidFill>
                <a:latin typeface="Humnst777 BT" pitchFamily="34" charset="0"/>
              </a:rPr>
              <a:t>23</a:t>
            </a:r>
          </a:p>
        </p:txBody>
      </p:sp>
      <p:sp>
        <p:nvSpPr>
          <p:cNvPr id="8" name="Rectangle 38"/>
          <p:cNvSpPr>
            <a:spLocks noChangeArrowheads="1"/>
          </p:cNvSpPr>
          <p:nvPr/>
        </p:nvSpPr>
        <p:spPr bwMode="auto">
          <a:xfrm>
            <a:off x="2771775" y="404813"/>
            <a:ext cx="6048375" cy="854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r">
              <a:spcBef>
                <a:spcPct val="0"/>
              </a:spcBef>
            </a:pPr>
            <a:r>
              <a:rPr lang="pt-PT" sz="3800" dirty="0">
                <a:solidFill>
                  <a:schemeClr val="bg2"/>
                </a:solidFill>
                <a:latin typeface="Humnst777 BT" pitchFamily="34" charset="0"/>
              </a:rPr>
              <a:t>IUT/Analise/Modelos</a:t>
            </a:r>
          </a:p>
        </p:txBody>
      </p:sp>
    </p:spTree>
    <p:extLst>
      <p:ext uri="{BB962C8B-B14F-4D97-AF65-F5344CB8AC3E}">
        <p14:creationId xmlns:p14="http://schemas.microsoft.com/office/powerpoint/2010/main" val="330843225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Box 39"/>
          <p:cNvSpPr txBox="1">
            <a:spLocks noChangeArrowheads="1"/>
          </p:cNvSpPr>
          <p:nvPr/>
        </p:nvSpPr>
        <p:spPr bwMode="auto">
          <a:xfrm rot="5400000" flipV="1">
            <a:off x="7775575" y="946150"/>
            <a:ext cx="504825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PT" dirty="0">
                <a:solidFill>
                  <a:srgbClr val="CC301F"/>
                </a:solidFill>
              </a:rPr>
              <a:t>«</a:t>
            </a:r>
          </a:p>
        </p:txBody>
      </p:sp>
      <p:sp>
        <p:nvSpPr>
          <p:cNvPr id="18" name="Text Box 13"/>
          <p:cNvSpPr txBox="1">
            <a:spLocks noChangeArrowheads="1"/>
          </p:cNvSpPr>
          <p:nvPr/>
        </p:nvSpPr>
        <p:spPr bwMode="auto">
          <a:xfrm>
            <a:off x="8416999" y="6276920"/>
            <a:ext cx="403151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pt-PT" sz="1200" dirty="0">
                <a:solidFill>
                  <a:schemeClr val="bg2"/>
                </a:solidFill>
                <a:latin typeface="Humnst777 BT" pitchFamily="34" charset="0"/>
              </a:rPr>
              <a:t>24</a:t>
            </a:r>
          </a:p>
        </p:txBody>
      </p:sp>
      <p:sp>
        <p:nvSpPr>
          <p:cNvPr id="8" name="Rectangle 38"/>
          <p:cNvSpPr>
            <a:spLocks noChangeArrowheads="1"/>
          </p:cNvSpPr>
          <p:nvPr/>
        </p:nvSpPr>
        <p:spPr bwMode="auto">
          <a:xfrm>
            <a:off x="2771775" y="404813"/>
            <a:ext cx="6048375" cy="854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r">
              <a:spcBef>
                <a:spcPct val="0"/>
              </a:spcBef>
            </a:pPr>
            <a:r>
              <a:rPr lang="pt-PT" sz="3800" dirty="0">
                <a:solidFill>
                  <a:schemeClr val="bg2"/>
                </a:solidFill>
                <a:latin typeface="Humnst777 BT" pitchFamily="34" charset="0"/>
              </a:rPr>
              <a:t>IUT/Analise/Modelos</a:t>
            </a:r>
          </a:p>
        </p:txBody>
      </p:sp>
      <p:sp>
        <p:nvSpPr>
          <p:cNvPr id="7" name="Text Box 13"/>
          <p:cNvSpPr txBox="1">
            <a:spLocks noChangeArrowheads="1"/>
          </p:cNvSpPr>
          <p:nvPr/>
        </p:nvSpPr>
        <p:spPr bwMode="auto">
          <a:xfrm>
            <a:off x="540000" y="2138367"/>
            <a:ext cx="8064000" cy="209288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just">
              <a:spcBef>
                <a:spcPts val="0"/>
              </a:spcBef>
            </a:pPr>
            <a:r>
              <a:rPr lang="en-US" sz="13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glm</a:t>
            </a:r>
            <a:r>
              <a:rPr lang="en-US" sz="13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(formula = PLAY_PHONE ~ PRICE, family = "binomial", data = tb5)</a:t>
            </a:r>
          </a:p>
          <a:p>
            <a:pPr algn="just">
              <a:spcBef>
                <a:spcPts val="0"/>
              </a:spcBef>
            </a:pPr>
            <a:endParaRPr lang="en-US" sz="13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pPr algn="just">
              <a:spcBef>
                <a:spcPts val="0"/>
              </a:spcBef>
            </a:pPr>
            <a:r>
              <a:rPr lang="en-US" sz="13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          Estimate Std. Error t value </a:t>
            </a:r>
            <a:r>
              <a:rPr lang="en-US" sz="13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Pr</a:t>
            </a:r>
            <a:r>
              <a:rPr lang="en-US" sz="13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(&gt;|t|)   </a:t>
            </a:r>
          </a:p>
          <a:p>
            <a:pPr algn="just">
              <a:spcBef>
                <a:spcPts val="0"/>
              </a:spcBef>
            </a:pPr>
            <a:r>
              <a:rPr lang="en-US" sz="13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(Intercept)  1.1081508  0.5748264   1.928   0.0539 .</a:t>
            </a:r>
          </a:p>
          <a:p>
            <a:pPr algn="just">
              <a:spcBef>
                <a:spcPts val="0"/>
              </a:spcBef>
            </a:pPr>
            <a:r>
              <a:rPr lang="en-US" sz="13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PRICE       -0.0003714  0.0006331  -0.587   0.5575</a:t>
            </a:r>
          </a:p>
          <a:p>
            <a:pPr algn="just">
              <a:spcBef>
                <a:spcPts val="0"/>
              </a:spcBef>
            </a:pPr>
            <a:endParaRPr lang="en-US" sz="13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pPr algn="just">
              <a:spcBef>
                <a:spcPts val="0"/>
              </a:spcBef>
            </a:pPr>
            <a:r>
              <a:rPr lang="en-US" sz="13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AIC: 80.07</a:t>
            </a:r>
          </a:p>
          <a:p>
            <a:pPr algn="just">
              <a:spcBef>
                <a:spcPts val="0"/>
              </a:spcBef>
            </a:pPr>
            <a:endParaRPr lang="en-US" sz="13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pPr algn="just">
              <a:spcBef>
                <a:spcPts val="0"/>
              </a:spcBef>
            </a:pPr>
            <a:r>
              <a:rPr lang="en-US" sz="13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     OR 2.5 % 97.5 %</a:t>
            </a:r>
          </a:p>
          <a:p>
            <a:pPr algn="just">
              <a:spcBef>
                <a:spcPts val="0"/>
              </a:spcBef>
            </a:pPr>
            <a:r>
              <a:rPr lang="en-US" sz="13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PRICE 1.000 0.998  1.001</a:t>
            </a:r>
          </a:p>
        </p:txBody>
      </p:sp>
    </p:spTree>
    <p:extLst>
      <p:ext uri="{BB962C8B-B14F-4D97-AF65-F5344CB8AC3E}">
        <p14:creationId xmlns:p14="http://schemas.microsoft.com/office/powerpoint/2010/main" val="87213595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0F6F966-A191-11FD-F74A-4F109FF39D5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1700" y="1196975"/>
            <a:ext cx="4800600" cy="4800600"/>
          </a:xfrm>
          <a:prstGeom prst="rect">
            <a:avLst/>
          </a:prstGeom>
        </p:spPr>
      </p:pic>
      <p:sp>
        <p:nvSpPr>
          <p:cNvPr id="14" name="Text Box 39"/>
          <p:cNvSpPr txBox="1">
            <a:spLocks noChangeArrowheads="1"/>
          </p:cNvSpPr>
          <p:nvPr/>
        </p:nvSpPr>
        <p:spPr bwMode="auto">
          <a:xfrm rot="5400000" flipV="1">
            <a:off x="7775575" y="946150"/>
            <a:ext cx="504825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PT" dirty="0">
                <a:solidFill>
                  <a:srgbClr val="CC301F"/>
                </a:solidFill>
              </a:rPr>
              <a:t>«</a:t>
            </a:r>
          </a:p>
        </p:txBody>
      </p:sp>
      <p:sp>
        <p:nvSpPr>
          <p:cNvPr id="18" name="Text Box 13"/>
          <p:cNvSpPr txBox="1">
            <a:spLocks noChangeArrowheads="1"/>
          </p:cNvSpPr>
          <p:nvPr/>
        </p:nvSpPr>
        <p:spPr bwMode="auto">
          <a:xfrm>
            <a:off x="8416999" y="6276920"/>
            <a:ext cx="403151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pt-PT" sz="1200" dirty="0">
                <a:solidFill>
                  <a:schemeClr val="bg2"/>
                </a:solidFill>
                <a:latin typeface="Humnst777 BT" pitchFamily="34" charset="0"/>
              </a:rPr>
              <a:t>25</a:t>
            </a:r>
          </a:p>
        </p:txBody>
      </p:sp>
      <p:sp>
        <p:nvSpPr>
          <p:cNvPr id="8" name="Rectangle 38"/>
          <p:cNvSpPr>
            <a:spLocks noChangeArrowheads="1"/>
          </p:cNvSpPr>
          <p:nvPr/>
        </p:nvSpPr>
        <p:spPr bwMode="auto">
          <a:xfrm>
            <a:off x="2771775" y="404813"/>
            <a:ext cx="6048375" cy="854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r">
              <a:spcBef>
                <a:spcPct val="0"/>
              </a:spcBef>
            </a:pPr>
            <a:r>
              <a:rPr lang="pt-PT" sz="3800" dirty="0">
                <a:solidFill>
                  <a:schemeClr val="bg2"/>
                </a:solidFill>
                <a:latin typeface="Humnst777 BT" pitchFamily="34" charset="0"/>
              </a:rPr>
              <a:t>IUT/Analise/Modelos</a:t>
            </a:r>
          </a:p>
        </p:txBody>
      </p:sp>
    </p:spTree>
    <p:extLst>
      <p:ext uri="{BB962C8B-B14F-4D97-AF65-F5344CB8AC3E}">
        <p14:creationId xmlns:p14="http://schemas.microsoft.com/office/powerpoint/2010/main" val="270447883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Box 39"/>
          <p:cNvSpPr txBox="1">
            <a:spLocks noChangeArrowheads="1"/>
          </p:cNvSpPr>
          <p:nvPr/>
        </p:nvSpPr>
        <p:spPr bwMode="auto">
          <a:xfrm rot="5400000" flipV="1">
            <a:off x="7775575" y="946150"/>
            <a:ext cx="504825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PT" dirty="0">
                <a:solidFill>
                  <a:srgbClr val="CC301F"/>
                </a:solidFill>
              </a:rPr>
              <a:t>«</a:t>
            </a:r>
          </a:p>
        </p:txBody>
      </p:sp>
      <p:sp>
        <p:nvSpPr>
          <p:cNvPr id="18" name="Text Box 13"/>
          <p:cNvSpPr txBox="1">
            <a:spLocks noChangeArrowheads="1"/>
          </p:cNvSpPr>
          <p:nvPr/>
        </p:nvSpPr>
        <p:spPr bwMode="auto">
          <a:xfrm>
            <a:off x="8416999" y="6276920"/>
            <a:ext cx="403151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pt-PT" sz="1200" dirty="0">
                <a:solidFill>
                  <a:schemeClr val="bg2"/>
                </a:solidFill>
                <a:latin typeface="Humnst777 BT" pitchFamily="34" charset="0"/>
              </a:rPr>
              <a:t>26</a:t>
            </a:r>
          </a:p>
        </p:txBody>
      </p:sp>
      <p:sp>
        <p:nvSpPr>
          <p:cNvPr id="8" name="Rectangle 38"/>
          <p:cNvSpPr>
            <a:spLocks noChangeArrowheads="1"/>
          </p:cNvSpPr>
          <p:nvPr/>
        </p:nvSpPr>
        <p:spPr bwMode="auto">
          <a:xfrm>
            <a:off x="2771775" y="404813"/>
            <a:ext cx="6048375" cy="854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r">
              <a:spcBef>
                <a:spcPct val="0"/>
              </a:spcBef>
            </a:pPr>
            <a:r>
              <a:rPr lang="pt-PT" sz="3800" dirty="0">
                <a:solidFill>
                  <a:schemeClr val="bg2"/>
                </a:solidFill>
                <a:latin typeface="Humnst777 BT" pitchFamily="34" charset="0"/>
              </a:rPr>
              <a:t>IUT/Analise/Modelos</a:t>
            </a:r>
          </a:p>
        </p:txBody>
      </p:sp>
      <p:sp>
        <p:nvSpPr>
          <p:cNvPr id="7" name="Text Box 13"/>
          <p:cNvSpPr txBox="1">
            <a:spLocks noChangeArrowheads="1"/>
          </p:cNvSpPr>
          <p:nvPr/>
        </p:nvSpPr>
        <p:spPr bwMode="auto">
          <a:xfrm>
            <a:off x="540000" y="2138367"/>
            <a:ext cx="8064000" cy="289310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just">
              <a:spcBef>
                <a:spcPts val="0"/>
              </a:spcBef>
            </a:pPr>
            <a:r>
              <a:rPr lang="en-US" sz="13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glm</a:t>
            </a:r>
            <a:r>
              <a:rPr lang="en-US" sz="13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(formula = PLAY_PHONE ~ PRICE * SOCIALNET, family = "binomial", data = tb5)</a:t>
            </a:r>
          </a:p>
          <a:p>
            <a:pPr algn="just">
              <a:spcBef>
                <a:spcPts val="0"/>
              </a:spcBef>
            </a:pPr>
            <a:endParaRPr lang="en-US" sz="13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pPr algn="just">
              <a:spcBef>
                <a:spcPts val="0"/>
              </a:spcBef>
            </a:pPr>
            <a:r>
              <a:rPr lang="fr-FR" sz="13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                 </a:t>
            </a:r>
            <a:r>
              <a:rPr lang="fr-FR" sz="13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Estimate</a:t>
            </a:r>
            <a:r>
              <a:rPr lang="fr-FR" sz="13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Std. </a:t>
            </a:r>
            <a:r>
              <a:rPr lang="fr-FR" sz="13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Error</a:t>
            </a:r>
            <a:r>
              <a:rPr lang="fr-FR" sz="13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z value Pr(&gt;|z|)</a:t>
            </a:r>
          </a:p>
          <a:p>
            <a:pPr algn="just">
              <a:spcBef>
                <a:spcPts val="0"/>
              </a:spcBef>
            </a:pPr>
            <a:r>
              <a:rPr lang="fr-FR" sz="13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(Intercept)            2.5438274  0.9172197   2.773  0.00555 **</a:t>
            </a:r>
          </a:p>
          <a:p>
            <a:pPr algn="just">
              <a:spcBef>
                <a:spcPts val="0"/>
              </a:spcBef>
            </a:pPr>
            <a:r>
              <a:rPr lang="fr-FR" sz="13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PRICE                 -0.0017183  0.0009451  -1.818  0.06905 . </a:t>
            </a:r>
          </a:p>
          <a:p>
            <a:pPr algn="just">
              <a:spcBef>
                <a:spcPts val="0"/>
              </a:spcBef>
            </a:pPr>
            <a:r>
              <a:rPr lang="fr-FR" sz="13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SOCIALNETTikTok</a:t>
            </a:r>
            <a:r>
              <a:rPr lang="fr-FR" sz="13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   -3.2911420  1.4448272  -2.278  0.02273 * </a:t>
            </a:r>
          </a:p>
          <a:p>
            <a:pPr algn="just">
              <a:spcBef>
                <a:spcPts val="0"/>
              </a:spcBef>
            </a:pPr>
            <a:r>
              <a:rPr lang="fr-FR" sz="13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PRICE:SOCIALNETTikTok</a:t>
            </a:r>
            <a:r>
              <a:rPr lang="fr-FR" sz="13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0.0033907  0.0017529   1.934  0.05307 .</a:t>
            </a:r>
          </a:p>
          <a:p>
            <a:pPr algn="just">
              <a:spcBef>
                <a:spcPts val="0"/>
              </a:spcBef>
            </a:pPr>
            <a:endParaRPr lang="en-US" sz="13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pPr algn="just">
              <a:spcBef>
                <a:spcPts val="0"/>
              </a:spcBef>
            </a:pPr>
            <a:r>
              <a:rPr lang="en-US" sz="13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AIC: 71.49</a:t>
            </a:r>
          </a:p>
          <a:p>
            <a:pPr algn="just">
              <a:spcBef>
                <a:spcPts val="0"/>
              </a:spcBef>
            </a:pPr>
            <a:endParaRPr lang="en-US" sz="13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pPr algn="just">
              <a:spcBef>
                <a:spcPts val="0"/>
              </a:spcBef>
            </a:pPr>
            <a:r>
              <a:rPr lang="pt-PT" sz="13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                     OR 2.5 % 97.5 %</a:t>
            </a:r>
          </a:p>
          <a:p>
            <a:pPr algn="just">
              <a:spcBef>
                <a:spcPts val="0"/>
              </a:spcBef>
            </a:pPr>
            <a:r>
              <a:rPr lang="pt-PT" sz="13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PRICE                 0.998 0.996  1.000</a:t>
            </a:r>
          </a:p>
          <a:p>
            <a:pPr algn="just">
              <a:spcBef>
                <a:spcPts val="0"/>
              </a:spcBef>
            </a:pPr>
            <a:r>
              <a:rPr lang="pt-PT" sz="13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SOCIALNETTikTok</a:t>
            </a:r>
            <a:r>
              <a:rPr lang="pt-PT" sz="13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   0.037 0.002  0.632</a:t>
            </a:r>
          </a:p>
          <a:p>
            <a:pPr algn="just">
              <a:spcBef>
                <a:spcPts val="0"/>
              </a:spcBef>
            </a:pPr>
            <a:r>
              <a:rPr lang="pt-PT" sz="13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PRICE:SOCIALNETTikTok</a:t>
            </a:r>
            <a:r>
              <a:rPr lang="pt-PT" sz="13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1.003 1.000  1.007</a:t>
            </a:r>
            <a:endParaRPr lang="en-US" sz="13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701626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F4319BD-E4AE-B8A5-685E-EE42F6C88BD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1700" y="1257747"/>
            <a:ext cx="4800600" cy="4800600"/>
          </a:xfrm>
          <a:prstGeom prst="rect">
            <a:avLst/>
          </a:prstGeom>
        </p:spPr>
      </p:pic>
      <p:sp>
        <p:nvSpPr>
          <p:cNvPr id="14" name="Text Box 39"/>
          <p:cNvSpPr txBox="1">
            <a:spLocks noChangeArrowheads="1"/>
          </p:cNvSpPr>
          <p:nvPr/>
        </p:nvSpPr>
        <p:spPr bwMode="auto">
          <a:xfrm rot="5400000" flipV="1">
            <a:off x="7775575" y="946150"/>
            <a:ext cx="504825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PT" dirty="0">
                <a:solidFill>
                  <a:srgbClr val="CC301F"/>
                </a:solidFill>
              </a:rPr>
              <a:t>«</a:t>
            </a:r>
          </a:p>
        </p:txBody>
      </p:sp>
      <p:sp>
        <p:nvSpPr>
          <p:cNvPr id="18" name="Text Box 13"/>
          <p:cNvSpPr txBox="1">
            <a:spLocks noChangeArrowheads="1"/>
          </p:cNvSpPr>
          <p:nvPr/>
        </p:nvSpPr>
        <p:spPr bwMode="auto">
          <a:xfrm>
            <a:off x="8416999" y="6276920"/>
            <a:ext cx="403151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pt-PT" sz="1200" dirty="0">
                <a:solidFill>
                  <a:schemeClr val="bg2"/>
                </a:solidFill>
                <a:latin typeface="Humnst777 BT" pitchFamily="34" charset="0"/>
              </a:rPr>
              <a:t>27</a:t>
            </a:r>
          </a:p>
        </p:txBody>
      </p:sp>
      <p:sp>
        <p:nvSpPr>
          <p:cNvPr id="8" name="Rectangle 38"/>
          <p:cNvSpPr>
            <a:spLocks noChangeArrowheads="1"/>
          </p:cNvSpPr>
          <p:nvPr/>
        </p:nvSpPr>
        <p:spPr bwMode="auto">
          <a:xfrm>
            <a:off x="2771775" y="404813"/>
            <a:ext cx="6048375" cy="854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r">
              <a:spcBef>
                <a:spcPct val="0"/>
              </a:spcBef>
            </a:pPr>
            <a:r>
              <a:rPr lang="pt-PT" sz="3800" dirty="0">
                <a:solidFill>
                  <a:schemeClr val="bg2"/>
                </a:solidFill>
                <a:latin typeface="Humnst777 BT" pitchFamily="34" charset="0"/>
              </a:rPr>
              <a:t>IUT/Analise/Modelos</a:t>
            </a:r>
          </a:p>
        </p:txBody>
      </p:sp>
    </p:spTree>
    <p:extLst>
      <p:ext uri="{BB962C8B-B14F-4D97-AF65-F5344CB8AC3E}">
        <p14:creationId xmlns:p14="http://schemas.microsoft.com/office/powerpoint/2010/main" val="426298864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3" name="Text Box 39"/>
          <p:cNvSpPr txBox="1">
            <a:spLocks noChangeArrowheads="1"/>
          </p:cNvSpPr>
          <p:nvPr/>
        </p:nvSpPr>
        <p:spPr bwMode="auto">
          <a:xfrm rot="5400000" flipV="1">
            <a:off x="7775575" y="946150"/>
            <a:ext cx="504825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PT">
                <a:solidFill>
                  <a:srgbClr val="CC301F"/>
                </a:solidFill>
              </a:rPr>
              <a:t>«</a:t>
            </a:r>
          </a:p>
        </p:txBody>
      </p:sp>
      <p:sp>
        <p:nvSpPr>
          <p:cNvPr id="819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8196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6" name="Rectangle 38"/>
          <p:cNvSpPr>
            <a:spLocks noChangeArrowheads="1"/>
          </p:cNvSpPr>
          <p:nvPr/>
        </p:nvSpPr>
        <p:spPr bwMode="auto">
          <a:xfrm>
            <a:off x="2771775" y="404813"/>
            <a:ext cx="6048375" cy="854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r">
              <a:spcBef>
                <a:spcPct val="0"/>
              </a:spcBef>
            </a:pPr>
            <a:r>
              <a:rPr lang="pt-PT" sz="3800" dirty="0">
                <a:solidFill>
                  <a:schemeClr val="bg2"/>
                </a:solidFill>
                <a:latin typeface="Humnst777 BT" pitchFamily="34" charset="0"/>
              </a:rPr>
              <a:t>OE-IUT</a:t>
            </a:r>
          </a:p>
        </p:txBody>
      </p:sp>
      <p:sp>
        <p:nvSpPr>
          <p:cNvPr id="13" name="Text Box 376"/>
          <p:cNvSpPr txBox="1">
            <a:spLocks noChangeArrowheads="1"/>
          </p:cNvSpPr>
          <p:nvPr/>
        </p:nvSpPr>
        <p:spPr bwMode="auto">
          <a:xfrm>
            <a:off x="540000" y="1548000"/>
            <a:ext cx="8064000" cy="35240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800"/>
              </a:spcAft>
            </a:pPr>
            <a:r>
              <a:rPr lang="pt-PT" sz="3800" dirty="0">
                <a:solidFill>
                  <a:schemeClr val="tx1"/>
                </a:solidFill>
                <a:latin typeface="Humnst777 BT"/>
              </a:rPr>
              <a:t>Obrigado</a:t>
            </a:r>
          </a:p>
          <a:p>
            <a:pPr>
              <a:spcBef>
                <a:spcPts val="0"/>
              </a:spcBef>
              <a:spcAft>
                <a:spcPts val="1800"/>
              </a:spcAft>
            </a:pPr>
            <a:endParaRPr lang="pt-PT" sz="3800" dirty="0">
              <a:solidFill>
                <a:schemeClr val="tx1"/>
              </a:solidFill>
              <a:latin typeface="Humnst777 BT"/>
            </a:endParaRPr>
          </a:p>
          <a:p>
            <a:pPr>
              <a:spcBef>
                <a:spcPts val="0"/>
              </a:spcBef>
              <a:spcAft>
                <a:spcPts val="1800"/>
              </a:spcAft>
            </a:pPr>
            <a:r>
              <a:rPr lang="pt-PT" sz="1800" dirty="0">
                <a:solidFill>
                  <a:schemeClr val="tx1"/>
                </a:solidFill>
                <a:latin typeface="Humnst777 BT" pitchFamily="34" charset="0"/>
                <a:hlinkClick r:id="rId2"/>
              </a:rPr>
              <a:t>https://www.r-project.org/</a:t>
            </a:r>
            <a:endParaRPr lang="pt-PT" sz="1800" dirty="0">
              <a:solidFill>
                <a:schemeClr val="tx1"/>
              </a:solidFill>
              <a:latin typeface="Humnst777 BT" pitchFamily="34" charset="0"/>
            </a:endParaRPr>
          </a:p>
          <a:p>
            <a:pPr>
              <a:spcBef>
                <a:spcPts val="0"/>
              </a:spcBef>
              <a:spcAft>
                <a:spcPts val="1800"/>
              </a:spcAft>
            </a:pPr>
            <a:r>
              <a:rPr lang="en-US" sz="1800" dirty="0">
                <a:solidFill>
                  <a:schemeClr val="tx1"/>
                </a:solidFill>
                <a:latin typeface="Humnst777 BT"/>
                <a:hlinkClick r:id="rId3"/>
              </a:rPr>
              <a:t>https://rstudio.com/</a:t>
            </a:r>
            <a:endParaRPr lang="en-US" sz="1800" dirty="0">
              <a:solidFill>
                <a:schemeClr val="tx1"/>
              </a:solidFill>
              <a:latin typeface="Humnst777 BT"/>
            </a:endParaRPr>
          </a:p>
          <a:p>
            <a:pPr>
              <a:spcBef>
                <a:spcPts val="0"/>
              </a:spcBef>
              <a:spcAft>
                <a:spcPts val="1800"/>
              </a:spcAft>
            </a:pPr>
            <a:endParaRPr lang="en-US" sz="1800" dirty="0">
              <a:solidFill>
                <a:schemeClr val="tx1"/>
              </a:solidFill>
              <a:latin typeface="Humnst777 BT"/>
            </a:endParaRPr>
          </a:p>
          <a:p>
            <a:pPr>
              <a:spcBef>
                <a:spcPts val="0"/>
              </a:spcBef>
              <a:spcAft>
                <a:spcPts val="1800"/>
              </a:spcAft>
            </a:pPr>
            <a:r>
              <a:rPr lang="en-US" sz="1800" dirty="0">
                <a:solidFill>
                  <a:schemeClr val="tx1"/>
                </a:solidFill>
                <a:latin typeface="Humnst777 BT"/>
                <a:hlinkClick r:id="rId4"/>
              </a:rPr>
              <a:t>https://github.com/jsollari/OE-IUT2020</a:t>
            </a:r>
            <a:endParaRPr lang="en-US" sz="1800" dirty="0">
              <a:solidFill>
                <a:schemeClr val="tx1"/>
              </a:solidFill>
              <a:latin typeface="Humnst777 BT"/>
            </a:endParaRPr>
          </a:p>
        </p:txBody>
      </p:sp>
      <p:sp>
        <p:nvSpPr>
          <p:cNvPr id="14" name="Line 11"/>
          <p:cNvSpPr>
            <a:spLocks noChangeShapeType="1"/>
          </p:cNvSpPr>
          <p:nvPr/>
        </p:nvSpPr>
        <p:spPr bwMode="auto">
          <a:xfrm>
            <a:off x="539552" y="1506793"/>
            <a:ext cx="448" cy="3565249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Box 13"/>
          <p:cNvSpPr txBox="1">
            <a:spLocks noChangeArrowheads="1"/>
          </p:cNvSpPr>
          <p:nvPr/>
        </p:nvSpPr>
        <p:spPr bwMode="auto">
          <a:xfrm>
            <a:off x="8416999" y="6276920"/>
            <a:ext cx="403151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pt-PT" sz="1200" dirty="0">
                <a:solidFill>
                  <a:schemeClr val="bg2"/>
                </a:solidFill>
                <a:latin typeface="Humnst777 BT" pitchFamily="34" charset="0"/>
              </a:rPr>
              <a:t>28</a:t>
            </a:r>
          </a:p>
        </p:txBody>
      </p:sp>
    </p:spTree>
    <p:extLst>
      <p:ext uri="{BB962C8B-B14F-4D97-AF65-F5344CB8AC3E}">
        <p14:creationId xmlns:p14="http://schemas.microsoft.com/office/powerpoint/2010/main" val="1380187137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Foundry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80000"/>
              </a:schemeClr>
            </a:gs>
            <a:gs pos="62000">
              <a:schemeClr val="phClr">
                <a:tint val="30000"/>
                <a:satMod val="180000"/>
              </a:schemeClr>
            </a:gs>
            <a:gs pos="100000">
              <a:schemeClr val="phClr">
                <a:tint val="22000"/>
                <a:satMod val="18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58000"/>
                <a:satMod val="150000"/>
              </a:schemeClr>
            </a:gs>
            <a:gs pos="72000">
              <a:schemeClr val="phClr">
                <a:tint val="90000"/>
                <a:satMod val="135000"/>
              </a:schemeClr>
            </a:gs>
            <a:gs pos="100000">
              <a:schemeClr val="phClr">
                <a:tint val="8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80000"/>
            </a:schemeClr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soft" dir="tl">
              <a:rot lat="0" lon="0" rev="20000000"/>
            </a:lightRig>
          </a:scene3d>
          <a:sp3d prstMaterial="matte">
            <a:bevelT w="63500" h="6350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rtlCol="0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sz="6000" b="0" i="0" u="none" strike="noStrike" cap="none" normalizeH="0" baseline="0" smtClean="0">
            <a:ln>
              <a:noFill/>
            </a:ln>
            <a:solidFill>
              <a:srgbClr val="CC0000"/>
            </a:solidFill>
            <a:effectLst/>
            <a:latin typeface="Humanst521 BT" pitchFamily="34" charset="0"/>
          </a:defRPr>
        </a:defPPr>
      </a:lstStyle>
    </a:spDef>
    <a:lnDef>
      <a:spPr bwMode="auto"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arrow"/>
        </a:ln>
        <a:effectLst/>
      </a:spPr>
      <a:bodyPr/>
      <a:lstStyle/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70506</TotalTime>
  <Words>932</Words>
  <Application>Microsoft Office PowerPoint</Application>
  <PresentationFormat>On-screen Show (4:3)</PresentationFormat>
  <Paragraphs>296</Paragraphs>
  <Slides>29</Slides>
  <Notes>4</Notes>
  <HiddenSlides>1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5" baseType="lpstr">
      <vt:lpstr>Arial</vt:lpstr>
      <vt:lpstr>Courier New</vt:lpstr>
      <vt:lpstr>Humanst521 BT</vt:lpstr>
      <vt:lpstr>Humnst777 BT</vt:lpstr>
      <vt:lpstr>Wingdings</vt:lpstr>
      <vt:lpstr>Default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INE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título</dc:title>
  <dc:creator>DPHCN</dc:creator>
  <cp:lastModifiedBy>João Lopes</cp:lastModifiedBy>
  <cp:revision>2937</cp:revision>
  <cp:lastPrinted>2025-05-20T08:17:05Z</cp:lastPrinted>
  <dcterms:created xsi:type="dcterms:W3CDTF">2004-01-14T16:14:16Z</dcterms:created>
  <dcterms:modified xsi:type="dcterms:W3CDTF">2026-04-20T08:26:53Z</dcterms:modified>
</cp:coreProperties>
</file>