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1244" r:id="rId3"/>
    <p:sldId id="1197" r:id="rId4"/>
    <p:sldId id="1245" r:id="rId5"/>
    <p:sldId id="1243" r:id="rId6"/>
    <p:sldId id="1215" r:id="rId7"/>
    <p:sldId id="1216" r:id="rId8"/>
    <p:sldId id="1218" r:id="rId9"/>
    <p:sldId id="1217" r:id="rId10"/>
    <p:sldId id="1225" r:id="rId11"/>
    <p:sldId id="1226" r:id="rId12"/>
    <p:sldId id="1227" r:id="rId13"/>
    <p:sldId id="1219" r:id="rId14"/>
    <p:sldId id="1228" r:id="rId15"/>
    <p:sldId id="1229" r:id="rId16"/>
    <p:sldId id="1230" r:id="rId17"/>
    <p:sldId id="1231" r:id="rId18"/>
    <p:sldId id="1232" r:id="rId19"/>
    <p:sldId id="1233" r:id="rId20"/>
    <p:sldId id="1234" r:id="rId21"/>
    <p:sldId id="1235" r:id="rId22"/>
    <p:sldId id="1236" r:id="rId23"/>
    <p:sldId id="1237" r:id="rId24"/>
    <p:sldId id="1240" r:id="rId25"/>
    <p:sldId id="1239" r:id="rId26"/>
    <p:sldId id="1238" r:id="rId27"/>
    <p:sldId id="1241" r:id="rId28"/>
    <p:sldId id="1242" r:id="rId29"/>
    <p:sldId id="1067" r:id="rId30"/>
  </p:sldIdLst>
  <p:sldSz cx="9144000" cy="6858000" type="screen4x3"/>
  <p:notesSz cx="6669088" cy="9926638"/>
  <p:defaultTextStyle>
    <a:defPPr>
      <a:defRPr lang="pt-PT"/>
    </a:defPPr>
    <a:lvl1pPr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5pPr>
    <a:lvl6pPr marL="22860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6pPr>
    <a:lvl7pPr marL="27432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7pPr>
    <a:lvl8pPr marL="32004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8pPr>
    <a:lvl9pPr marL="36576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3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6C"/>
    <a:srgbClr val="FFFFCC"/>
    <a:srgbClr val="B7ECFF"/>
    <a:srgbClr val="BDFBC3"/>
    <a:srgbClr val="CCCC00"/>
    <a:srgbClr val="EDDDA1"/>
    <a:srgbClr val="BDBB5F"/>
    <a:srgbClr val="E5B9BD"/>
    <a:srgbClr val="CC301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10" autoAdjust="0"/>
    <p:restoredTop sz="93691" autoAdjust="0"/>
  </p:normalViewPr>
  <p:slideViewPr>
    <p:cSldViewPr>
      <p:cViewPr varScale="1">
        <p:scale>
          <a:sx n="74" d="100"/>
          <a:sy n="74" d="100"/>
        </p:scale>
        <p:origin x="78" y="636"/>
      </p:cViewPr>
      <p:guideLst>
        <p:guide orient="horz" pos="1344"/>
        <p:guide pos="340"/>
      </p:guideLst>
    </p:cSldViewPr>
  </p:slideViewPr>
  <p:outlineViewPr>
    <p:cViewPr>
      <p:scale>
        <a:sx n="33" d="100"/>
        <a:sy n="33" d="100"/>
      </p:scale>
      <p:origin x="0" y="123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1524" y="102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7607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7607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786E3228-BDA5-4C88-B65C-28A18C301E9B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4418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607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2950"/>
            <a:ext cx="4964112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714837"/>
            <a:ext cx="5335270" cy="4467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Click to edit Master text styles</a:t>
            </a:r>
          </a:p>
          <a:p>
            <a:pPr lvl="1"/>
            <a:r>
              <a:rPr lang="pt-PT" noProof="0"/>
              <a:t>Second level</a:t>
            </a:r>
          </a:p>
          <a:p>
            <a:pPr lvl="2"/>
            <a:r>
              <a:rPr lang="pt-PT" noProof="0"/>
              <a:t>Third level</a:t>
            </a:r>
          </a:p>
          <a:p>
            <a:pPr lvl="3"/>
            <a:r>
              <a:rPr lang="pt-PT" noProof="0"/>
              <a:t>Fourth level</a:t>
            </a:r>
          </a:p>
          <a:p>
            <a:pPr lvl="4"/>
            <a:r>
              <a:rPr lang="pt-PT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607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5705EB50-1723-4F02-82E6-3547F8722922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36443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0</a:t>
            </a:fld>
            <a:endParaRPr lang="pt-P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4332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74937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25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0653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3"/>
          <p:cNvSpPr txBox="1">
            <a:spLocks noChangeArrowheads="1"/>
          </p:cNvSpPr>
          <p:nvPr userDrawn="1"/>
        </p:nvSpPr>
        <p:spPr bwMode="auto">
          <a:xfrm>
            <a:off x="8324645" y="6163979"/>
            <a:ext cx="855867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l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       /28</a:t>
            </a:r>
          </a:p>
        </p:txBody>
      </p:sp>
      <p:sp>
        <p:nvSpPr>
          <p:cNvPr id="7" name="Text Box 13"/>
          <p:cNvSpPr txBox="1">
            <a:spLocks noChangeArrowheads="1"/>
          </p:cNvSpPr>
          <p:nvPr userDrawn="1"/>
        </p:nvSpPr>
        <p:spPr bwMode="auto">
          <a:xfrm>
            <a:off x="3779912" y="6164408"/>
            <a:ext cx="2808000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ctr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Operação Estatística - IUT</a:t>
            </a:r>
          </a:p>
        </p:txBody>
      </p:sp>
      <p:sp>
        <p:nvSpPr>
          <p:cNvPr id="8" name="Text Box 13"/>
          <p:cNvSpPr txBox="1">
            <a:spLocks noChangeArrowheads="1"/>
          </p:cNvSpPr>
          <p:nvPr userDrawn="1"/>
        </p:nvSpPr>
        <p:spPr bwMode="auto">
          <a:xfrm>
            <a:off x="6587911" y="6176009"/>
            <a:ext cx="1670517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ctr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Maio 2026</a:t>
            </a:r>
          </a:p>
        </p:txBody>
      </p:sp>
      <p:sp>
        <p:nvSpPr>
          <p:cNvPr id="9" name="Text Box 34"/>
          <p:cNvSpPr txBox="1">
            <a:spLocks noChangeArrowheads="1"/>
          </p:cNvSpPr>
          <p:nvPr userDrawn="1"/>
        </p:nvSpPr>
        <p:spPr bwMode="auto">
          <a:xfrm flipV="1">
            <a:off x="8027988" y="6215453"/>
            <a:ext cx="469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2400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1755822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468313" y="765175"/>
            <a:ext cx="215900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6" name="Rectangle 12"/>
          <p:cNvSpPr>
            <a:spLocks noChangeArrowheads="1"/>
          </p:cNvSpPr>
          <p:nvPr userDrawn="1"/>
        </p:nvSpPr>
        <p:spPr bwMode="auto">
          <a:xfrm>
            <a:off x="757238" y="765175"/>
            <a:ext cx="287337" cy="215900"/>
          </a:xfrm>
          <a:prstGeom prst="rect">
            <a:avLst/>
          </a:prstGeom>
          <a:solidFill>
            <a:srgbClr val="CC301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spcBef>
                <a:spcPct val="0"/>
              </a:spcBef>
              <a:defRPr/>
            </a:pP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37" name="Rectangle 13"/>
          <p:cNvSpPr>
            <a:spLocks noChangeArrowheads="1"/>
          </p:cNvSpPr>
          <p:nvPr userDrawn="1"/>
        </p:nvSpPr>
        <p:spPr bwMode="auto">
          <a:xfrm>
            <a:off x="1116013" y="765175"/>
            <a:ext cx="865187" cy="2159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8" name="Rectangle 14"/>
          <p:cNvSpPr>
            <a:spLocks noChangeArrowheads="1"/>
          </p:cNvSpPr>
          <p:nvPr userDrawn="1"/>
        </p:nvSpPr>
        <p:spPr bwMode="auto">
          <a:xfrm>
            <a:off x="2052638" y="765175"/>
            <a:ext cx="576262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9" name="Rectangle 15"/>
          <p:cNvSpPr>
            <a:spLocks noChangeArrowheads="1"/>
          </p:cNvSpPr>
          <p:nvPr userDrawn="1"/>
        </p:nvSpPr>
        <p:spPr bwMode="auto">
          <a:xfrm>
            <a:off x="828675" y="909638"/>
            <a:ext cx="576263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031" name="Picture 17" descr="Logo2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825" y="6237288"/>
            <a:ext cx="3635375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.../viewform" TargetMode="External"/><Relationship Id="rId2" Type="http://schemas.openxmlformats.org/officeDocument/2006/relationships/hyperlink" Target="../media/OE-IUT_20180411.mp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4.ine.pt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rstudio.com/" TargetMode="External"/><Relationship Id="rId2" Type="http://schemas.openxmlformats.org/officeDocument/2006/relationships/hyperlink" Target="https://www.r-project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sollari/OE-IUT20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4"/>
          <p:cNvSpPr txBox="1">
            <a:spLocks noChangeArrowheads="1"/>
          </p:cNvSpPr>
          <p:nvPr/>
        </p:nvSpPr>
        <p:spPr bwMode="auto">
          <a:xfrm flipV="1">
            <a:off x="684213" y="2506662"/>
            <a:ext cx="504825" cy="92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5400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2054" name="Rectangle 60"/>
          <p:cNvSpPr>
            <a:spLocks noChangeArrowheads="1"/>
          </p:cNvSpPr>
          <p:nvPr/>
        </p:nvSpPr>
        <p:spPr bwMode="auto">
          <a:xfrm>
            <a:off x="1116013" y="2564829"/>
            <a:ext cx="7416800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pt-PT" sz="3600" b="1" dirty="0">
                <a:solidFill>
                  <a:schemeClr val="bg2"/>
                </a:solidFill>
                <a:latin typeface="Humnst777 BT" pitchFamily="34" charset="0"/>
              </a:rPr>
              <a:t>Operação Estatística - IUT</a:t>
            </a:r>
          </a:p>
        </p:txBody>
      </p:sp>
      <p:pic>
        <p:nvPicPr>
          <p:cNvPr id="2055" name="Picture 81" descr="Logo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750" y="404813"/>
            <a:ext cx="3168650" cy="1154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27"/>
          <p:cNvSpPr>
            <a:spLocks noChangeArrowheads="1"/>
          </p:cNvSpPr>
          <p:nvPr/>
        </p:nvSpPr>
        <p:spPr bwMode="auto">
          <a:xfrm>
            <a:off x="2005013" y="5470550"/>
            <a:ext cx="6696075" cy="4794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pt-PT" sz="1800" dirty="0">
                <a:solidFill>
                  <a:srgbClr val="002060"/>
                </a:solidFill>
                <a:latin typeface="Humnst777 BT" pitchFamily="34" charset="0"/>
              </a:rPr>
              <a:t>DMSI / ME</a:t>
            </a: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124075" y="5876950"/>
            <a:ext cx="215900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2413000" y="5876950"/>
            <a:ext cx="287338" cy="215900"/>
          </a:xfrm>
          <a:prstGeom prst="rect">
            <a:avLst/>
          </a:prstGeom>
          <a:solidFill>
            <a:srgbClr val="CC301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>
              <a:spcBef>
                <a:spcPct val="0"/>
              </a:spcBef>
            </a:pP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2771775" y="5876950"/>
            <a:ext cx="865188" cy="2159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3708400" y="5876950"/>
            <a:ext cx="576263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7" name="Text Box 45"/>
          <p:cNvSpPr txBox="1">
            <a:spLocks noChangeArrowheads="1"/>
          </p:cNvSpPr>
          <p:nvPr/>
        </p:nvSpPr>
        <p:spPr bwMode="auto">
          <a:xfrm>
            <a:off x="4284663" y="5805512"/>
            <a:ext cx="2735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sz="1800" dirty="0">
                <a:solidFill>
                  <a:srgbClr val="002060"/>
                </a:solidFill>
                <a:latin typeface="Humnst777 BT" pitchFamily="34" charset="0"/>
              </a:rPr>
              <a:t>  Maio de 2026</a:t>
            </a:r>
          </a:p>
        </p:txBody>
      </p:sp>
      <p:sp>
        <p:nvSpPr>
          <p:cNvPr id="2063" name="Rectangle 33"/>
          <p:cNvSpPr>
            <a:spLocks noChangeArrowheads="1"/>
          </p:cNvSpPr>
          <p:nvPr/>
        </p:nvSpPr>
        <p:spPr bwMode="auto">
          <a:xfrm>
            <a:off x="2484438" y="6021412"/>
            <a:ext cx="576262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843420" y="4077072"/>
            <a:ext cx="149585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pt-PT" sz="2000" dirty="0">
                <a:solidFill>
                  <a:schemeClr val="bg1">
                    <a:lumMod val="50000"/>
                  </a:schemeClr>
                </a:solidFill>
                <a:latin typeface="Humnst777 BT"/>
              </a:rPr>
              <a:t>João Lopes</a:t>
            </a:r>
          </a:p>
          <a:p>
            <a:pPr algn="r">
              <a:spcBef>
                <a:spcPts val="600"/>
              </a:spcBef>
            </a:pPr>
            <a:r>
              <a:rPr lang="pt-PT" sz="2000" dirty="0">
                <a:solidFill>
                  <a:schemeClr val="bg1">
                    <a:lumMod val="50000"/>
                  </a:schemeClr>
                </a:solidFill>
                <a:latin typeface="Humnst777 BT"/>
              </a:rPr>
              <a:t>Filipe Santos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78216E-3077-C860-479B-411B7AC3079F}"/>
              </a:ext>
            </a:extLst>
          </p:cNvPr>
          <p:cNvSpPr txBox="1"/>
          <p:nvPr/>
        </p:nvSpPr>
        <p:spPr>
          <a:xfrm>
            <a:off x="1113806" y="3363282"/>
            <a:ext cx="57485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pt-PT" sz="2000" dirty="0">
                <a:solidFill>
                  <a:schemeClr val="bg1">
                    <a:lumMod val="50000"/>
                  </a:schemeClr>
                </a:solidFill>
                <a:latin typeface="Humnst777 BT"/>
              </a:rPr>
              <a:t>Instituto de Educação e Desenvolvimento Profissional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23C06-6924-B54A-D1C5-1354D8509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>
            <a:extLst>
              <a:ext uri="{FF2B5EF4-FFF2-40B4-BE49-F238E27FC236}">
                <a16:creationId xmlns:a16="http://schemas.microsoft.com/office/drawing/2014/main" id="{8E1E50E5-CD8A-0E41-2168-A849B6ACC4D1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0616A8F4-7501-5F3C-C138-642477C8D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INE – Código de conduta 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D5B067E2-DB2D-C35A-0046-D3FDC9405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01</a:t>
            </a:r>
          </a:p>
        </p:txBody>
      </p:sp>
      <p:sp>
        <p:nvSpPr>
          <p:cNvPr id="9" name="Text Box 376">
            <a:extLst>
              <a:ext uri="{FF2B5EF4-FFF2-40B4-BE49-F238E27FC236}">
                <a16:creationId xmlns:a16="http://schemas.microsoft.com/office/drawing/2014/main" id="{1D6781EA-E887-70A6-C3B4-278248983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20" y="2133600"/>
            <a:ext cx="8136136" cy="41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Independência profissional</a:t>
            </a:r>
          </a:p>
          <a:p>
            <a:pPr marL="914400" lvl="1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lphaU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Coordenação e cooperação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Mandato para recolha de dados e acesso aos dados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Adequação de recursos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Compromisso com a qualidade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Confidencialidade estatística e proteção dos dados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Imparcialidade e objetividade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algn="r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16 de Novembro 2017 (CSEE)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BA2345B3-FEE9-7577-C735-3F1851253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Enquadramento institucional (1-6/15)</a:t>
            </a:r>
          </a:p>
        </p:txBody>
      </p:sp>
    </p:spTree>
    <p:extLst>
      <p:ext uri="{BB962C8B-B14F-4D97-AF65-F5344CB8AC3E}">
        <p14:creationId xmlns:p14="http://schemas.microsoft.com/office/powerpoint/2010/main" val="254756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INE – Código de conduta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02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40320" y="2133600"/>
            <a:ext cx="8136136" cy="41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Metodologia sólida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Procedimentos Estatísticos Apropriados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Carga não excessiva sobre os respondentes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Eficácia na utilização dos recursos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algn="r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16 de Novembro 2017 (CSEE)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A18323B3-6A61-2441-0B51-4911F24E5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Processos estatísticos (7-10/16)</a:t>
            </a:r>
          </a:p>
        </p:txBody>
      </p:sp>
    </p:spTree>
    <p:extLst>
      <p:ext uri="{BB962C8B-B14F-4D97-AF65-F5344CB8AC3E}">
        <p14:creationId xmlns:p14="http://schemas.microsoft.com/office/powerpoint/2010/main" val="318618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A2D1-81C4-C970-8DCE-375C94A45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>
            <a:extLst>
              <a:ext uri="{FF2B5EF4-FFF2-40B4-BE49-F238E27FC236}">
                <a16:creationId xmlns:a16="http://schemas.microsoft.com/office/drawing/2014/main" id="{89E84E09-791A-0C3D-0D68-9F85EB7CA589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E048EB5D-8D27-A1D4-62F7-C6CD778B8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INE – Código de conduta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9516877A-AF61-3CC9-364B-9EBC7FE8A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03</a:t>
            </a:r>
          </a:p>
        </p:txBody>
      </p:sp>
      <p:sp>
        <p:nvSpPr>
          <p:cNvPr id="9" name="Text Box 376">
            <a:extLst>
              <a:ext uri="{FF2B5EF4-FFF2-40B4-BE49-F238E27FC236}">
                <a16:creationId xmlns:a16="http://schemas.microsoft.com/office/drawing/2014/main" id="{AAA37E85-2C6F-095E-F716-ACB81A98E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20" y="2133600"/>
            <a:ext cx="8136136" cy="41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Relevância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Precisão e fiabilidade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Oportunidade e pontualidade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Coerência e comparabilidade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Acessibilidade e clareza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algn="r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16 de Novembro 2017 (CSEE)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6C3AC6AD-2D1C-0D6F-C840-0604E3C74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Produção estatística (11-15/15)</a:t>
            </a:r>
          </a:p>
        </p:txBody>
      </p:sp>
    </p:spTree>
    <p:extLst>
      <p:ext uri="{BB962C8B-B14F-4D97-AF65-F5344CB8AC3E}">
        <p14:creationId xmlns:p14="http://schemas.microsoft.com/office/powerpoint/2010/main" val="2189051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D942F-75D4-C7E8-0A05-6F2F316A2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>
            <a:extLst>
              <a:ext uri="{FF2B5EF4-FFF2-40B4-BE49-F238E27FC236}">
                <a16:creationId xmlns:a16="http://schemas.microsoft.com/office/drawing/2014/main" id="{BBC4CFFE-B267-3EEE-DA7B-6067FC86030C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2F42C9FB-0485-996B-D570-99C899E0C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</a:t>
            </a:r>
          </a:p>
        </p:txBody>
      </p:sp>
      <p:sp>
        <p:nvSpPr>
          <p:cNvPr id="13" name="Text Box 376">
            <a:extLst>
              <a:ext uri="{FF2B5EF4-FFF2-40B4-BE49-F238E27FC236}">
                <a16:creationId xmlns:a16="http://schemas.microsoft.com/office/drawing/2014/main" id="{1310924B-A3FD-B23E-8778-F0D4720F9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Fases da Operação Estatística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008EAA2D-194A-EB14-C01C-33DF09442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04</a:t>
            </a:r>
          </a:p>
        </p:txBody>
      </p:sp>
      <p:sp>
        <p:nvSpPr>
          <p:cNvPr id="9" name="Text Box 376">
            <a:extLst>
              <a:ext uri="{FF2B5EF4-FFF2-40B4-BE49-F238E27FC236}">
                <a16:creationId xmlns:a16="http://schemas.microsoft.com/office/drawing/2014/main" id="{B84C8DBF-503D-4436-EE9F-13C6D750C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Concepção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Operação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Difusão</a:t>
            </a:r>
            <a:endParaRPr lang="pt-BR" sz="2200" b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1. Conceção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05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Objetivo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Compreender a realidade a partir de dados.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Tipo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Recenseamento, Amostragem, Estudo estatístico.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Fonte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Questionários, Dados administrativos.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OE/Conceção</a:t>
            </a:r>
          </a:p>
        </p:txBody>
      </p:sp>
    </p:spTree>
    <p:extLst>
      <p:ext uri="{BB962C8B-B14F-4D97-AF65-F5344CB8AC3E}">
        <p14:creationId xmlns:p14="http://schemas.microsoft.com/office/powerpoint/2010/main" val="2800770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2. Operação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06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Recolha: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Directa (Presencial, Telefónica, Web) ou Indirecta.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Tratamento: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Formatação, Validação, </a:t>
            </a:r>
            <a:r>
              <a:rPr lang="pt-PT" sz="2200" i="1" dirty="0" err="1">
                <a:solidFill>
                  <a:schemeClr val="tx1"/>
                </a:solidFill>
                <a:latin typeface="Humnst777 BT" pitchFamily="34" charset="0"/>
              </a:rPr>
              <a:t>Outliers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Imputação.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Análise: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Gráficos, Medidas descritivas, Modelos.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OE/Operação</a:t>
            </a:r>
          </a:p>
        </p:txBody>
      </p:sp>
    </p:spTree>
    <p:extLst>
      <p:ext uri="{BB962C8B-B14F-4D97-AF65-F5344CB8AC3E}">
        <p14:creationId xmlns:p14="http://schemas.microsoft.com/office/powerpoint/2010/main" val="121865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2.3. Análise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07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Gráficos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Circular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Barras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Extremos-e-quartis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Histograma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Medidas descritivas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Tendência central, Dispersão.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Modelos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Regressão linear, Regressão logística.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OE/Operação/Análise</a:t>
            </a:r>
          </a:p>
        </p:txBody>
      </p:sp>
    </p:spTree>
    <p:extLst>
      <p:ext uri="{BB962C8B-B14F-4D97-AF65-F5344CB8AC3E}">
        <p14:creationId xmlns:p14="http://schemas.microsoft.com/office/powerpoint/2010/main" val="2934613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3. Difusão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08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2298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Indicadores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Resultados dos inquéritos, para público em geral.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 err="1">
                <a:solidFill>
                  <a:schemeClr val="tx1"/>
                </a:solidFill>
                <a:latin typeface="Humnst777 BT" pitchFamily="34" charset="0"/>
              </a:rPr>
              <a:t>Microdados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Base de dados dos inquéritos, para investigadores. </a:t>
            </a:r>
            <a:endParaRPr lang="pt-PT" sz="2200" u="sng" dirty="0">
              <a:solidFill>
                <a:schemeClr val="tx1"/>
              </a:solidFill>
              <a:latin typeface="Humnst777 BT" pitchFamily="34" charset="0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Destaques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i="1" dirty="0" err="1">
                <a:solidFill>
                  <a:schemeClr val="tx1"/>
                </a:solidFill>
                <a:latin typeface="Humnst777 BT" pitchFamily="34" charset="0"/>
              </a:rPr>
              <a:t>Press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i="1" dirty="0" err="1">
                <a:solidFill>
                  <a:schemeClr val="tx1"/>
                </a:solidFill>
                <a:latin typeface="Humnst777 BT" pitchFamily="34" charset="0"/>
              </a:rPr>
              <a:t>release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curta, harmonizada, calendarizada.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Publicações/Boletins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Documento longo, calendarizado.</a:t>
            </a:r>
            <a:endParaRPr lang="pt-PT" sz="2200" u="sng" dirty="0">
              <a:solidFill>
                <a:schemeClr val="tx1"/>
              </a:solidFill>
              <a:latin typeface="Humnst777 BT" pitchFamily="34" charset="0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Estudos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Documento longo, não-calendarizado.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OE/Difusão</a:t>
            </a:r>
          </a:p>
        </p:txBody>
      </p:sp>
    </p:spTree>
    <p:extLst>
      <p:ext uri="{BB962C8B-B14F-4D97-AF65-F5344CB8AC3E}">
        <p14:creationId xmlns:p14="http://schemas.microsoft.com/office/powerpoint/2010/main" val="2155810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Inquérito à Utilização do Telemóvel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09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Vídeo: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  <a:hlinkClick r:id="rId2" action="ppaction://hlinkfile"/>
              </a:rPr>
              <a:t>..\media\OE-IUT_20180411.mp4</a:t>
            </a: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342900" indent="-3429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Questionário: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  <a:hlinkClick r:id="rId3"/>
              </a:rPr>
              <a:t>https://docs.google.com/forms/.../viewform</a:t>
            </a:r>
            <a:endParaRPr lang="pt-PT" sz="2200" b="1" dirty="0">
              <a:solidFill>
                <a:schemeClr val="tx1"/>
              </a:solidFill>
              <a:latin typeface="Humnst777 BT" pitchFamily="34" charset="0"/>
            </a:endParaRPr>
          </a:p>
          <a:p>
            <a:pPr marL="342900" indent="-3429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Análise: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  <a:hlinkClick r:id="rId4"/>
              </a:rPr>
              <a:t>https://r4.ine.pt/</a:t>
            </a:r>
            <a:endParaRPr lang="pt-PT" sz="2200" b="1" dirty="0">
              <a:solidFill>
                <a:schemeClr val="tx1"/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</a:t>
            </a:r>
          </a:p>
        </p:txBody>
      </p:sp>
    </p:spTree>
    <p:extLst>
      <p:ext uri="{BB962C8B-B14F-4D97-AF65-F5344CB8AC3E}">
        <p14:creationId xmlns:p14="http://schemas.microsoft.com/office/powerpoint/2010/main" val="4061539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CB9770-1F32-9DED-3FA2-5CB0947C5F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163" y="1476320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10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115181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126168-E6BB-3F53-F16D-A9F460E390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321076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11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4220173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12</a:t>
            </a:r>
          </a:p>
        </p:txBody>
      </p:sp>
      <p:sp>
        <p:nvSpPr>
          <p:cNvPr id="10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09869C-D31C-5ABE-9FBB-81F11B0DA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514334"/>
              </p:ext>
            </p:extLst>
          </p:nvPr>
        </p:nvGraphicFramePr>
        <p:xfrm>
          <a:off x="1655675" y="1867852"/>
          <a:ext cx="5832649" cy="2838450"/>
        </p:xfrm>
        <a:graphic>
          <a:graphicData uri="http://schemas.openxmlformats.org/drawingml/2006/table">
            <a:tbl>
              <a:tblPr/>
              <a:tblGrid>
                <a:gridCol w="1280337">
                  <a:extLst>
                    <a:ext uri="{9D8B030D-6E8A-4147-A177-3AD203B41FA5}">
                      <a16:colId xmlns:a16="http://schemas.microsoft.com/office/drawing/2014/main" val="2455959767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1878969852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710095391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911828764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4164646068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AGE_FIRST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Freq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Cumul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RelCumul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877415"/>
                  </a:ext>
                </a:extLst>
              </a:tr>
              <a:tr h="1758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6.20%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6.20%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928652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6.20%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3367884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37.50%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769248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6.20%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43.80%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6639742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18.80%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62.50%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3601698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6.20%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68.80%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9036484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81.20%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869074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6.20%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87.50%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849190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316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634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28F954-DA77-D23C-0B72-B349D75287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58062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13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2423486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6804BA-6560-658E-98A5-F047913E8E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58888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14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3198583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963BD8-4974-C8A6-83A7-15033BF76E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847" y="1271501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15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883395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409B20-BCAE-7097-D453-FE6AD582FF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58888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16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474026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BF1FEF-7D00-0798-53FD-FA06208AD9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58888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17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2185351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7963FA-496D-2CB3-56B3-D2ABCC7E84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911" y="1196975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18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3386364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19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29EA5D-67BA-BA78-E2B9-0B4C2E0DE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138269"/>
              </p:ext>
            </p:extLst>
          </p:nvPr>
        </p:nvGraphicFramePr>
        <p:xfrm>
          <a:off x="540001" y="2861310"/>
          <a:ext cx="8063998" cy="1135380"/>
        </p:xfrm>
        <a:graphic>
          <a:graphicData uri="http://schemas.openxmlformats.org/drawingml/2006/table">
            <a:tbl>
              <a:tblPr/>
              <a:tblGrid>
                <a:gridCol w="1375930">
                  <a:extLst>
                    <a:ext uri="{9D8B030D-6E8A-4147-A177-3AD203B41FA5}">
                      <a16:colId xmlns:a16="http://schemas.microsoft.com/office/drawing/2014/main" val="784527518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3208996949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3110566216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2826009932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277164068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1063888359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1106178177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Mean</a:t>
                      </a:r>
                      <a:endParaRPr lang="pt-PT" sz="18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Median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Mode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StDev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IQR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5294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AGE_FIRST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3125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787.64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780.00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481.14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699.50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1556.00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7803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PRICE_NEW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900.01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511.59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699.50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1498.90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337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208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20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149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PRICE_NEW ~ PRICE,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Estimate Std. Error t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415.7953   263.5846   1.577   0.1491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0.6148     0.2892   2.126   0.0624 .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Multiple R-squared:  0.33,	Adjusted R-squared:   0.26</a:t>
            </a:r>
          </a:p>
        </p:txBody>
      </p:sp>
    </p:spTree>
    <p:extLst>
      <p:ext uri="{BB962C8B-B14F-4D97-AF65-F5344CB8AC3E}">
        <p14:creationId xmlns:p14="http://schemas.microsoft.com/office/powerpoint/2010/main" val="2889854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D34036-9BDF-FC45-A5EF-16BC17D858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409" y="1269153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21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1603948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22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189282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PRICE_NEW ~ PRICE * PLAY_PHONE,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Estimate Std. Error t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          629.7438   341.6714   1.843    0.108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          0.3063     0.3596   0.852    0.423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PLAY_PHONETRUE       -539.7444   521.2261  -1.036    0.335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PRICE:PLAY_PHONETRUE    0.8806     0.5908   1.491    0.180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Multiple R-squared:  0.51,	Adjusted R-squared:   0.29</a:t>
            </a:r>
          </a:p>
        </p:txBody>
      </p:sp>
    </p:spTree>
    <p:extLst>
      <p:ext uri="{BB962C8B-B14F-4D97-AF65-F5344CB8AC3E}">
        <p14:creationId xmlns:p14="http://schemas.microsoft.com/office/powerpoint/2010/main" val="1011327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56DF7D-9245-2B22-197E-2D46B25317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372" y="1285553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23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3308432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24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20928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PLAY_PHONE ~ PRICE, family = "binomial",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Estimate Std. Error z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(&gt;|z|)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-0.0623344  1.2356392  -0.050    0.960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-0.0006473  0.0014183  -0.456    0.648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AIC: 18.21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OR 2.5 % 97.5 %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0.999 0.997  1.002</a:t>
            </a:r>
          </a:p>
        </p:txBody>
      </p:sp>
    </p:spTree>
    <p:extLst>
      <p:ext uri="{BB962C8B-B14F-4D97-AF65-F5344CB8AC3E}">
        <p14:creationId xmlns:p14="http://schemas.microsoft.com/office/powerpoint/2010/main" val="872135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A3D1AB-52C2-B805-7CD1-BDD9292D39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196975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25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2704478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26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28931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PLAY_PHONE ~ PRICE * SOCIALNET, family = "binomial",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Estimate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Std.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Error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z value Pr(&gt;|z|)</a:t>
            </a:r>
          </a:p>
          <a:p>
            <a:pPr algn="just">
              <a:spcBef>
                <a:spcPts val="0"/>
              </a:spcBef>
            </a:pP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                   NA        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</a:t>
            </a:r>
            <a:endParaRPr lang="fr-FR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                 NA        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</a:t>
            </a:r>
            <a:endParaRPr lang="fr-FR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SOCIALNETInstagram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NA        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</a:t>
            </a:r>
            <a:endParaRPr lang="fr-FR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PRICE:SOCIALNETInstagram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NA        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</a:t>
            </a:r>
            <a:endParaRPr lang="fr-FR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AIC: NA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   OR 2.5 % 97.5 %</a:t>
            </a: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              NA    </a:t>
            </a: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</a:t>
            </a:r>
            <a:endParaRPr lang="pt-PT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SOCIALNETInstagram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NA    </a:t>
            </a: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</a:t>
            </a:r>
            <a:endParaRPr lang="pt-PT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PRICE:SOCIALNETInstagram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NA    </a:t>
            </a: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</a:t>
            </a: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0162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FE2B2A-08AF-B916-024E-578BE4C9DD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608" y="1257747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27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4262988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OE-IUT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540000" y="1548000"/>
            <a:ext cx="8064000" cy="3524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pt-PT" sz="3800" dirty="0">
                <a:solidFill>
                  <a:schemeClr val="tx1"/>
                </a:solidFill>
                <a:latin typeface="Humnst777 BT"/>
              </a:rPr>
              <a:t>Obrigado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endParaRPr lang="pt-PT" sz="3800" dirty="0">
              <a:solidFill>
                <a:schemeClr val="tx1"/>
              </a:solidFill>
              <a:latin typeface="Humnst777 BT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pt-PT" sz="1800" dirty="0">
                <a:solidFill>
                  <a:schemeClr val="tx1"/>
                </a:solidFill>
                <a:latin typeface="Humnst777 BT" pitchFamily="34" charset="0"/>
                <a:hlinkClick r:id="rId2"/>
              </a:rPr>
              <a:t>https://www.r-project.org/</a:t>
            </a:r>
            <a:endParaRPr lang="pt-PT" sz="1800" dirty="0">
              <a:solidFill>
                <a:schemeClr val="tx1"/>
              </a:solidFill>
              <a:latin typeface="Humnst777 BT" pitchFamily="34" charset="0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1800" dirty="0">
                <a:solidFill>
                  <a:schemeClr val="tx1"/>
                </a:solidFill>
                <a:latin typeface="Humnst777 BT"/>
                <a:hlinkClick r:id="rId3"/>
              </a:rPr>
              <a:t>https://rstudio.com/</a:t>
            </a:r>
            <a:endParaRPr lang="en-US" sz="1800" dirty="0">
              <a:solidFill>
                <a:schemeClr val="tx1"/>
              </a:solidFill>
              <a:latin typeface="Humnst777 BT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endParaRPr lang="en-US" sz="1800" dirty="0">
              <a:solidFill>
                <a:schemeClr val="tx1"/>
              </a:solidFill>
              <a:latin typeface="Humnst777 BT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1800" dirty="0">
                <a:solidFill>
                  <a:schemeClr val="tx1"/>
                </a:solidFill>
                <a:latin typeface="Humnst777 BT"/>
                <a:hlinkClick r:id="rId4"/>
              </a:rPr>
              <a:t>https://github.com/jsollari/OE-IUT2020</a:t>
            </a:r>
            <a:endParaRPr lang="en-US" sz="1800" dirty="0">
              <a:solidFill>
                <a:schemeClr val="tx1"/>
              </a:solidFill>
              <a:latin typeface="Humnst777 BT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539552" y="1506793"/>
            <a:ext cx="448" cy="35652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8018713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6000" b="0" i="0" u="none" strike="noStrike" cap="none" normalizeH="0" baseline="0" smtClean="0">
            <a:ln>
              <a:noFill/>
            </a:ln>
            <a:solidFill>
              <a:srgbClr val="CC0000"/>
            </a:solidFill>
            <a:effectLst/>
            <a:latin typeface="Humanst521 BT" pitchFamily="34" charset="0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70621</TotalTime>
  <Words>883</Words>
  <Application>Microsoft Office PowerPoint</Application>
  <PresentationFormat>On-screen Show (4:3)</PresentationFormat>
  <Paragraphs>275</Paragraphs>
  <Slides>29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Courier New</vt:lpstr>
      <vt:lpstr>Humanst521 BT</vt:lpstr>
      <vt:lpstr>Humnst777 BT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DPHCN</dc:creator>
  <cp:lastModifiedBy>João Lopes</cp:lastModifiedBy>
  <cp:revision>2938</cp:revision>
  <cp:lastPrinted>2025-05-20T08:17:05Z</cp:lastPrinted>
  <dcterms:created xsi:type="dcterms:W3CDTF">2004-01-14T16:14:16Z</dcterms:created>
  <dcterms:modified xsi:type="dcterms:W3CDTF">2026-05-12T11:05:14Z</dcterms:modified>
</cp:coreProperties>
</file>