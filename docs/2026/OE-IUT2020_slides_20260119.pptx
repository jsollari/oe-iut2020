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1244" r:id="rId3"/>
    <p:sldId id="1197" r:id="rId4"/>
    <p:sldId id="1245" r:id="rId5"/>
    <p:sldId id="1243" r:id="rId6"/>
    <p:sldId id="1215" r:id="rId7"/>
    <p:sldId id="1216" r:id="rId8"/>
    <p:sldId id="1218" r:id="rId9"/>
    <p:sldId id="1217" r:id="rId10"/>
    <p:sldId id="1225" r:id="rId11"/>
    <p:sldId id="1226" r:id="rId12"/>
    <p:sldId id="1227" r:id="rId13"/>
    <p:sldId id="1219" r:id="rId14"/>
    <p:sldId id="1228" r:id="rId15"/>
    <p:sldId id="1229" r:id="rId16"/>
    <p:sldId id="1230" r:id="rId17"/>
    <p:sldId id="1231" r:id="rId18"/>
    <p:sldId id="1232" r:id="rId19"/>
    <p:sldId id="1233" r:id="rId20"/>
    <p:sldId id="1234" r:id="rId21"/>
    <p:sldId id="1235" r:id="rId22"/>
    <p:sldId id="1236" r:id="rId23"/>
    <p:sldId id="1237" r:id="rId24"/>
    <p:sldId id="1240" r:id="rId25"/>
    <p:sldId id="1239" r:id="rId26"/>
    <p:sldId id="1238" r:id="rId27"/>
    <p:sldId id="1241" r:id="rId28"/>
    <p:sldId id="1242" r:id="rId29"/>
    <p:sldId id="1067" r:id="rId30"/>
  </p:sldIdLst>
  <p:sldSz cx="9144000" cy="6858000" type="screen4x3"/>
  <p:notesSz cx="6669088" cy="9926638"/>
  <p:defaultTextStyle>
    <a:defPPr>
      <a:defRPr lang="pt-PT"/>
    </a:defPPr>
    <a:lvl1pPr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5pPr>
    <a:lvl6pPr marL="22860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6pPr>
    <a:lvl7pPr marL="27432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7pPr>
    <a:lvl8pPr marL="32004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8pPr>
    <a:lvl9pPr marL="36576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" userDrawn="1">
          <p15:clr>
            <a:srgbClr val="A4A3A4"/>
          </p15:clr>
        </p15:guide>
        <p15:guide id="2" pos="3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C"/>
    <a:srgbClr val="FFFFCC"/>
    <a:srgbClr val="B7ECFF"/>
    <a:srgbClr val="BDFBC3"/>
    <a:srgbClr val="CCCC00"/>
    <a:srgbClr val="EDDDA1"/>
    <a:srgbClr val="BDBB5F"/>
    <a:srgbClr val="E5B9BD"/>
    <a:srgbClr val="CC301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10" autoAdjust="0"/>
    <p:restoredTop sz="93691" autoAdjust="0"/>
  </p:normalViewPr>
  <p:slideViewPr>
    <p:cSldViewPr>
      <p:cViewPr varScale="1">
        <p:scale>
          <a:sx n="100" d="100"/>
          <a:sy n="100" d="100"/>
        </p:scale>
        <p:origin x="120" y="78"/>
      </p:cViewPr>
      <p:guideLst>
        <p:guide orient="horz" pos="1344"/>
        <p:guide pos="340"/>
      </p:guideLst>
    </p:cSldViewPr>
  </p:slideViewPr>
  <p:outlineViewPr>
    <p:cViewPr>
      <p:scale>
        <a:sx n="33" d="100"/>
        <a:sy n="33" d="100"/>
      </p:scale>
      <p:origin x="0" y="123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1524" y="102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786E3228-BDA5-4C88-B65C-28A18C301E9B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4418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52488" y="742950"/>
            <a:ext cx="4964112" cy="3724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909" y="4714837"/>
            <a:ext cx="5335270" cy="44679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 noProof="0"/>
              <a:t>Click to edit Master text styles</a:t>
            </a:r>
          </a:p>
          <a:p>
            <a:pPr lvl="1"/>
            <a:r>
              <a:rPr lang="pt-PT" noProof="0"/>
              <a:t>Second level</a:t>
            </a:r>
          </a:p>
          <a:p>
            <a:pPr lvl="2"/>
            <a:r>
              <a:rPr lang="pt-PT" noProof="0"/>
              <a:t>Third level</a:t>
            </a:r>
          </a:p>
          <a:p>
            <a:pPr lvl="3"/>
            <a:r>
              <a:rPr lang="pt-PT" noProof="0"/>
              <a:t>Fourth level</a:t>
            </a:r>
          </a:p>
          <a:p>
            <a:pPr lvl="4"/>
            <a:r>
              <a:rPr lang="pt-PT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5705EB50-1723-4F02-82E6-3547F8722922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6443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0</a:t>
            </a:fld>
            <a:endParaRPr lang="pt-P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543327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74937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0653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13"/>
          <p:cNvSpPr txBox="1">
            <a:spLocks noChangeArrowheads="1"/>
          </p:cNvSpPr>
          <p:nvPr userDrawn="1"/>
        </p:nvSpPr>
        <p:spPr bwMode="auto">
          <a:xfrm>
            <a:off x="8324645" y="6163979"/>
            <a:ext cx="855867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l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      /28</a:t>
            </a:r>
          </a:p>
        </p:txBody>
      </p:sp>
      <p:sp>
        <p:nvSpPr>
          <p:cNvPr id="7" name="Text Box 13"/>
          <p:cNvSpPr txBox="1">
            <a:spLocks noChangeArrowheads="1"/>
          </p:cNvSpPr>
          <p:nvPr userDrawn="1"/>
        </p:nvSpPr>
        <p:spPr bwMode="auto">
          <a:xfrm>
            <a:off x="3779912" y="6164408"/>
            <a:ext cx="280800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Operação Estatística - IUT</a:t>
            </a:r>
          </a:p>
        </p:txBody>
      </p:sp>
      <p:sp>
        <p:nvSpPr>
          <p:cNvPr id="8" name="Text Box 13"/>
          <p:cNvSpPr txBox="1">
            <a:spLocks noChangeArrowheads="1"/>
          </p:cNvSpPr>
          <p:nvPr userDrawn="1"/>
        </p:nvSpPr>
        <p:spPr bwMode="auto">
          <a:xfrm>
            <a:off x="6587911" y="6176009"/>
            <a:ext cx="1670517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Maio 2025</a:t>
            </a:r>
          </a:p>
        </p:txBody>
      </p:sp>
      <p:sp>
        <p:nvSpPr>
          <p:cNvPr id="9" name="Text Box 34"/>
          <p:cNvSpPr txBox="1">
            <a:spLocks noChangeArrowheads="1"/>
          </p:cNvSpPr>
          <p:nvPr userDrawn="1"/>
        </p:nvSpPr>
        <p:spPr bwMode="auto">
          <a:xfrm flipV="1">
            <a:off x="8027988" y="6215453"/>
            <a:ext cx="4699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2400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75582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ChangeArrowheads="1"/>
          </p:cNvSpPr>
          <p:nvPr userDrawn="1"/>
        </p:nvSpPr>
        <p:spPr bwMode="auto">
          <a:xfrm>
            <a:off x="468313" y="765175"/>
            <a:ext cx="215900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036" name="Rectangle 12"/>
          <p:cNvSpPr>
            <a:spLocks noChangeArrowheads="1"/>
          </p:cNvSpPr>
          <p:nvPr userDrawn="1"/>
        </p:nvSpPr>
        <p:spPr bwMode="auto">
          <a:xfrm>
            <a:off x="757238" y="765175"/>
            <a:ext cx="287337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r">
              <a:spcBef>
                <a:spcPct val="0"/>
              </a:spcBef>
              <a:defRPr/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7" name="Rectangle 13"/>
          <p:cNvSpPr>
            <a:spLocks noChangeArrowheads="1"/>
          </p:cNvSpPr>
          <p:nvPr userDrawn="1"/>
        </p:nvSpPr>
        <p:spPr bwMode="auto">
          <a:xfrm>
            <a:off x="1116013" y="765175"/>
            <a:ext cx="865187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038" name="Rectangle 14"/>
          <p:cNvSpPr>
            <a:spLocks noChangeArrowheads="1"/>
          </p:cNvSpPr>
          <p:nvPr userDrawn="1"/>
        </p:nvSpPr>
        <p:spPr bwMode="auto">
          <a:xfrm>
            <a:off x="2052638" y="765175"/>
            <a:ext cx="576262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039" name="Rectangle 15"/>
          <p:cNvSpPr>
            <a:spLocks noChangeArrowheads="1"/>
          </p:cNvSpPr>
          <p:nvPr userDrawn="1"/>
        </p:nvSpPr>
        <p:spPr bwMode="auto">
          <a:xfrm>
            <a:off x="828675" y="909638"/>
            <a:ext cx="576263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pic>
        <p:nvPicPr>
          <p:cNvPr id="1031" name="Picture 17" descr="Logo2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50825" y="6237288"/>
            <a:ext cx="3635375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forms/.../viewform" TargetMode="External"/><Relationship Id="rId2" Type="http://schemas.openxmlformats.org/officeDocument/2006/relationships/hyperlink" Target="../media/OE-IUT_20180411.mp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4.ine.pt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i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rstudio.com/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jsollari/OE-IUT202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Text Box 44"/>
          <p:cNvSpPr txBox="1">
            <a:spLocks noChangeArrowheads="1"/>
          </p:cNvSpPr>
          <p:nvPr/>
        </p:nvSpPr>
        <p:spPr bwMode="auto">
          <a:xfrm flipV="1">
            <a:off x="684213" y="2506662"/>
            <a:ext cx="504825" cy="922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5400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2054" name="Rectangle 60"/>
          <p:cNvSpPr>
            <a:spLocks noChangeArrowheads="1"/>
          </p:cNvSpPr>
          <p:nvPr/>
        </p:nvSpPr>
        <p:spPr bwMode="auto">
          <a:xfrm>
            <a:off x="1116013" y="2564829"/>
            <a:ext cx="7416800" cy="792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pt-PT" sz="3600" b="1" dirty="0">
                <a:solidFill>
                  <a:schemeClr val="bg2"/>
                </a:solidFill>
                <a:latin typeface="Humnst777 BT" pitchFamily="34" charset="0"/>
              </a:rPr>
              <a:t>Operação Estatística - IUT</a:t>
            </a:r>
          </a:p>
        </p:txBody>
      </p:sp>
      <p:pic>
        <p:nvPicPr>
          <p:cNvPr id="2055" name="Picture 81" descr="Logo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9750" y="404813"/>
            <a:ext cx="3168650" cy="1154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Rectangle 27"/>
          <p:cNvSpPr>
            <a:spLocks noChangeArrowheads="1"/>
          </p:cNvSpPr>
          <p:nvPr/>
        </p:nvSpPr>
        <p:spPr bwMode="auto">
          <a:xfrm>
            <a:off x="2005013" y="5470550"/>
            <a:ext cx="6696075" cy="47942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lnSpc>
                <a:spcPct val="90000"/>
              </a:lnSpc>
              <a:spcBef>
                <a:spcPct val="20000"/>
              </a:spcBef>
              <a:defRPr/>
            </a:pPr>
            <a:r>
              <a:rPr lang="pt-PT" sz="1800" dirty="0">
                <a:solidFill>
                  <a:srgbClr val="002060"/>
                </a:solidFill>
                <a:latin typeface="Humnst777 BT" pitchFamily="34" charset="0"/>
              </a:rPr>
              <a:t>DMSI / ME</a:t>
            </a:r>
          </a:p>
        </p:txBody>
      </p:sp>
      <p:sp>
        <p:nvSpPr>
          <p:cNvPr id="2058" name="Rectangle 10"/>
          <p:cNvSpPr>
            <a:spLocks noChangeArrowheads="1"/>
          </p:cNvSpPr>
          <p:nvPr/>
        </p:nvSpPr>
        <p:spPr bwMode="auto">
          <a:xfrm>
            <a:off x="2124075" y="5876950"/>
            <a:ext cx="215900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59" name="Rectangle 11"/>
          <p:cNvSpPr>
            <a:spLocks noChangeArrowheads="1"/>
          </p:cNvSpPr>
          <p:nvPr/>
        </p:nvSpPr>
        <p:spPr bwMode="auto">
          <a:xfrm>
            <a:off x="2413000" y="5876950"/>
            <a:ext cx="287338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r">
              <a:spcBef>
                <a:spcPct val="0"/>
              </a:spcBef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060" name="Rectangle 12"/>
          <p:cNvSpPr>
            <a:spLocks noChangeArrowheads="1"/>
          </p:cNvSpPr>
          <p:nvPr/>
        </p:nvSpPr>
        <p:spPr bwMode="auto">
          <a:xfrm>
            <a:off x="2771775" y="5876950"/>
            <a:ext cx="865188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61" name="Rectangle 13"/>
          <p:cNvSpPr>
            <a:spLocks noChangeArrowheads="1"/>
          </p:cNvSpPr>
          <p:nvPr/>
        </p:nvSpPr>
        <p:spPr bwMode="auto">
          <a:xfrm>
            <a:off x="3708400" y="5876950"/>
            <a:ext cx="576263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57" name="Text Box 45"/>
          <p:cNvSpPr txBox="1">
            <a:spLocks noChangeArrowheads="1"/>
          </p:cNvSpPr>
          <p:nvPr/>
        </p:nvSpPr>
        <p:spPr bwMode="auto">
          <a:xfrm>
            <a:off x="4284663" y="5805512"/>
            <a:ext cx="27352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defRPr/>
            </a:pPr>
            <a:r>
              <a:rPr lang="pt-PT" sz="1800" dirty="0">
                <a:solidFill>
                  <a:srgbClr val="002060"/>
                </a:solidFill>
                <a:latin typeface="Humnst777 BT" pitchFamily="34" charset="0"/>
              </a:rPr>
              <a:t>  Janeiro de 2026</a:t>
            </a:r>
          </a:p>
        </p:txBody>
      </p:sp>
      <p:sp>
        <p:nvSpPr>
          <p:cNvPr id="2063" name="Rectangle 33"/>
          <p:cNvSpPr>
            <a:spLocks noChangeArrowheads="1"/>
          </p:cNvSpPr>
          <p:nvPr/>
        </p:nvSpPr>
        <p:spPr bwMode="auto">
          <a:xfrm>
            <a:off x="2484438" y="6021412"/>
            <a:ext cx="576262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843420" y="4077072"/>
            <a:ext cx="1495859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pt-PT" sz="2000" dirty="0">
                <a:solidFill>
                  <a:schemeClr val="bg1">
                    <a:lumMod val="50000"/>
                  </a:schemeClr>
                </a:solidFill>
                <a:latin typeface="Humnst777 BT"/>
              </a:rPr>
              <a:t>João Lopes</a:t>
            </a:r>
          </a:p>
          <a:p>
            <a:pPr algn="r">
              <a:spcBef>
                <a:spcPts val="600"/>
              </a:spcBef>
            </a:pPr>
            <a:r>
              <a:rPr lang="pt-PT" sz="2000" dirty="0">
                <a:solidFill>
                  <a:schemeClr val="bg1">
                    <a:lumMod val="50000"/>
                  </a:schemeClr>
                </a:solidFill>
                <a:latin typeface="Humnst777 BT"/>
              </a:rPr>
              <a:t>Filipe Santos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78216E-3077-C860-479B-411B7AC3079F}"/>
              </a:ext>
            </a:extLst>
          </p:cNvPr>
          <p:cNvSpPr txBox="1"/>
          <p:nvPr/>
        </p:nvSpPr>
        <p:spPr>
          <a:xfrm>
            <a:off x="1113806" y="3363282"/>
            <a:ext cx="42700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pt-PT" sz="2000" dirty="0">
                <a:solidFill>
                  <a:schemeClr val="bg1">
                    <a:lumMod val="50000"/>
                  </a:schemeClr>
                </a:solidFill>
                <a:latin typeface="Humnst777 BT"/>
              </a:rPr>
              <a:t>Agrupamento de Escolas de Almodôvar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23C06-6924-B54A-D1C5-1354D8509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>
            <a:extLst>
              <a:ext uri="{FF2B5EF4-FFF2-40B4-BE49-F238E27FC236}">
                <a16:creationId xmlns:a16="http://schemas.microsoft.com/office/drawing/2014/main" id="{8E1E50E5-CD8A-0E41-2168-A849B6ACC4D1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>
            <a:extLst>
              <a:ext uri="{FF2B5EF4-FFF2-40B4-BE49-F238E27FC236}">
                <a16:creationId xmlns:a16="http://schemas.microsoft.com/office/drawing/2014/main" id="{0616A8F4-7501-5F3C-C138-642477C8D6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INE – Código de conduta </a:t>
            </a:r>
          </a:p>
        </p:txBody>
      </p:sp>
      <p:sp>
        <p:nvSpPr>
          <p:cNvPr id="18" name="Text Box 13">
            <a:extLst>
              <a:ext uri="{FF2B5EF4-FFF2-40B4-BE49-F238E27FC236}">
                <a16:creationId xmlns:a16="http://schemas.microsoft.com/office/drawing/2014/main" id="{D5B067E2-DB2D-C35A-0046-D3FDC9405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01</a:t>
            </a:r>
          </a:p>
        </p:txBody>
      </p:sp>
      <p:sp>
        <p:nvSpPr>
          <p:cNvPr id="9" name="Text Box 376">
            <a:extLst>
              <a:ext uri="{FF2B5EF4-FFF2-40B4-BE49-F238E27FC236}">
                <a16:creationId xmlns:a16="http://schemas.microsoft.com/office/drawing/2014/main" id="{1D6781EA-E887-70A6-C3B4-278248983B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320" y="2133600"/>
            <a:ext cx="8136136" cy="41652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Independência profissional</a:t>
            </a:r>
          </a:p>
          <a:p>
            <a:pPr marL="914400" lvl="1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lphaUcPeriod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Coordenação e cooperação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Mandato para recolha de dados e acesso aos dados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Adequação de recursos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Compromisso com a qualidade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Confidencialidade estatística e proteção dos dados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Imparcialidade e objetividade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endParaRPr lang="pt-PT" sz="2200" dirty="0">
              <a:solidFill>
                <a:schemeClr val="tx1"/>
              </a:solidFill>
              <a:latin typeface="Humnst777 BT" pitchFamily="34" charset="0"/>
            </a:endParaRPr>
          </a:p>
          <a:p>
            <a:pPr algn="r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16 de Novembro 2017 (CSEE)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A2345B3-FEE9-7577-C735-3F18512532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8" y="1484784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Enquadramento institucional (1-6/15)</a:t>
            </a:r>
          </a:p>
        </p:txBody>
      </p:sp>
    </p:spTree>
    <p:extLst>
      <p:ext uri="{BB962C8B-B14F-4D97-AF65-F5344CB8AC3E}">
        <p14:creationId xmlns:p14="http://schemas.microsoft.com/office/powerpoint/2010/main" val="2547561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INE – Código de conduta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02</a:t>
            </a:r>
          </a:p>
        </p:txBody>
      </p:sp>
      <p:sp>
        <p:nvSpPr>
          <p:cNvPr id="9" name="Text Box 376"/>
          <p:cNvSpPr txBox="1">
            <a:spLocks noChangeArrowheads="1"/>
          </p:cNvSpPr>
          <p:nvPr/>
        </p:nvSpPr>
        <p:spPr bwMode="auto">
          <a:xfrm>
            <a:off x="540320" y="2133600"/>
            <a:ext cx="8136136" cy="41652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7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Metodologia sólida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7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Procedimentos Estatísticos Apropriados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7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Carga não excessiva sobre os respondentes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7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Eficácia na utilização dos recursos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7"/>
            </a:pPr>
            <a:endParaRPr lang="pt-PT" sz="2200" dirty="0">
              <a:solidFill>
                <a:schemeClr val="tx1"/>
              </a:solidFill>
              <a:latin typeface="Humnst777 BT" pitchFamily="34" charset="0"/>
            </a:endParaRP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7"/>
            </a:pPr>
            <a:endParaRPr lang="pt-PT" sz="2200" dirty="0">
              <a:solidFill>
                <a:schemeClr val="tx1"/>
              </a:solidFill>
              <a:latin typeface="Humnst777 BT" pitchFamily="34" charset="0"/>
            </a:endParaRP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7"/>
            </a:pPr>
            <a:endParaRPr lang="pt-PT" sz="2200" dirty="0">
              <a:solidFill>
                <a:schemeClr val="tx1"/>
              </a:solidFill>
              <a:latin typeface="Humnst777 BT" pitchFamily="34" charset="0"/>
            </a:endParaRP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7"/>
            </a:pPr>
            <a:endParaRPr lang="pt-PT" sz="2200" dirty="0">
              <a:solidFill>
                <a:schemeClr val="tx1"/>
              </a:solidFill>
              <a:latin typeface="Humnst777 BT" pitchFamily="34" charset="0"/>
            </a:endParaRPr>
          </a:p>
          <a:p>
            <a:pPr algn="r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16 de Novembro 2017 (CSEE)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A18323B3-6A61-2441-0B51-4911F24E5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8" y="1484784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Processos estatísticos (7-10/16)</a:t>
            </a:r>
          </a:p>
        </p:txBody>
      </p:sp>
    </p:spTree>
    <p:extLst>
      <p:ext uri="{BB962C8B-B14F-4D97-AF65-F5344CB8AC3E}">
        <p14:creationId xmlns:p14="http://schemas.microsoft.com/office/powerpoint/2010/main" val="3186188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CA2D1-81C4-C970-8DCE-375C94A45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>
            <a:extLst>
              <a:ext uri="{FF2B5EF4-FFF2-40B4-BE49-F238E27FC236}">
                <a16:creationId xmlns:a16="http://schemas.microsoft.com/office/drawing/2014/main" id="{89E84E09-791A-0C3D-0D68-9F85EB7CA58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>
            <a:extLst>
              <a:ext uri="{FF2B5EF4-FFF2-40B4-BE49-F238E27FC236}">
                <a16:creationId xmlns:a16="http://schemas.microsoft.com/office/drawing/2014/main" id="{E048EB5D-8D27-A1D4-62F7-C6CD778B8E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INE – Código de conduta</a:t>
            </a:r>
          </a:p>
        </p:txBody>
      </p:sp>
      <p:sp>
        <p:nvSpPr>
          <p:cNvPr id="18" name="Text Box 13">
            <a:extLst>
              <a:ext uri="{FF2B5EF4-FFF2-40B4-BE49-F238E27FC236}">
                <a16:creationId xmlns:a16="http://schemas.microsoft.com/office/drawing/2014/main" id="{9516877A-AF61-3CC9-364B-9EBC7FE8A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03</a:t>
            </a:r>
          </a:p>
        </p:txBody>
      </p:sp>
      <p:sp>
        <p:nvSpPr>
          <p:cNvPr id="9" name="Text Box 376">
            <a:extLst>
              <a:ext uri="{FF2B5EF4-FFF2-40B4-BE49-F238E27FC236}">
                <a16:creationId xmlns:a16="http://schemas.microsoft.com/office/drawing/2014/main" id="{AAA37E85-2C6F-095E-F716-ACB81A98E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320" y="2133600"/>
            <a:ext cx="8136136" cy="41652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11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Relevância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11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Precisão e fiabilidade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11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Oportunidade e pontualidade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11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Coerência e comparabilidade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11"/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Acessibilidade e clareza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11"/>
            </a:pPr>
            <a:endParaRPr lang="pt-PT" sz="2200" dirty="0">
              <a:solidFill>
                <a:schemeClr val="tx1"/>
              </a:solidFill>
              <a:latin typeface="Humnst777 BT" pitchFamily="34" charset="0"/>
            </a:endParaRP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11"/>
            </a:pPr>
            <a:endParaRPr lang="pt-PT" sz="2200" dirty="0">
              <a:solidFill>
                <a:schemeClr val="tx1"/>
              </a:solidFill>
              <a:latin typeface="Humnst777 BT" pitchFamily="34" charset="0"/>
            </a:endParaRP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 startAt="11"/>
            </a:pPr>
            <a:endParaRPr lang="pt-PT" sz="2200" dirty="0">
              <a:solidFill>
                <a:schemeClr val="tx1"/>
              </a:solidFill>
              <a:latin typeface="Humnst777 BT" pitchFamily="34" charset="0"/>
            </a:endParaRPr>
          </a:p>
          <a:p>
            <a:pPr algn="r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16 de Novembro 2017 (CSEE)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6C3AC6AD-2D1C-0D6F-C840-0604E3C744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8" y="1484784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Produção estatística (11-15/15)</a:t>
            </a:r>
          </a:p>
        </p:txBody>
      </p:sp>
    </p:spTree>
    <p:extLst>
      <p:ext uri="{BB962C8B-B14F-4D97-AF65-F5344CB8AC3E}">
        <p14:creationId xmlns:p14="http://schemas.microsoft.com/office/powerpoint/2010/main" val="2189051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D942F-75D4-C7E8-0A05-6F2F316A2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>
            <a:extLst>
              <a:ext uri="{FF2B5EF4-FFF2-40B4-BE49-F238E27FC236}">
                <a16:creationId xmlns:a16="http://schemas.microsoft.com/office/drawing/2014/main" id="{BBC4CFFE-B267-3EEE-DA7B-6067FC86030C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>
            <a:extLst>
              <a:ext uri="{FF2B5EF4-FFF2-40B4-BE49-F238E27FC236}">
                <a16:creationId xmlns:a16="http://schemas.microsoft.com/office/drawing/2014/main" id="{2F42C9FB-0485-996B-D570-99C899E0C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OE</a:t>
            </a:r>
          </a:p>
        </p:txBody>
      </p:sp>
      <p:sp>
        <p:nvSpPr>
          <p:cNvPr id="13" name="Text Box 376">
            <a:extLst>
              <a:ext uri="{FF2B5EF4-FFF2-40B4-BE49-F238E27FC236}">
                <a16:creationId xmlns:a16="http://schemas.microsoft.com/office/drawing/2014/main" id="{1310924B-A3FD-B23E-8778-F0D4720F9C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8" y="1484784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Fases da Operação Estatística</a:t>
            </a:r>
          </a:p>
        </p:txBody>
      </p:sp>
      <p:sp>
        <p:nvSpPr>
          <p:cNvPr id="18" name="Text Box 13">
            <a:extLst>
              <a:ext uri="{FF2B5EF4-FFF2-40B4-BE49-F238E27FC236}">
                <a16:creationId xmlns:a16="http://schemas.microsoft.com/office/drawing/2014/main" id="{008EAA2D-194A-EB14-C01C-33DF094429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04</a:t>
            </a:r>
          </a:p>
        </p:txBody>
      </p:sp>
      <p:sp>
        <p:nvSpPr>
          <p:cNvPr id="9" name="Text Box 376">
            <a:extLst>
              <a:ext uri="{FF2B5EF4-FFF2-40B4-BE49-F238E27FC236}">
                <a16:creationId xmlns:a16="http://schemas.microsoft.com/office/drawing/2014/main" id="{B84C8DBF-503D-4436-EE9F-13C6D750CC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552" y="2132806"/>
            <a:ext cx="8136136" cy="13644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Concepção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Operação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Difusão</a:t>
            </a:r>
            <a:endParaRPr lang="pt-BR" sz="2200" b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0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683568" y="1484784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1. Conceção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05</a:t>
            </a:r>
          </a:p>
        </p:txBody>
      </p:sp>
      <p:sp>
        <p:nvSpPr>
          <p:cNvPr id="9" name="Text Box 376"/>
          <p:cNvSpPr txBox="1">
            <a:spLocks noChangeArrowheads="1"/>
          </p:cNvSpPr>
          <p:nvPr/>
        </p:nvSpPr>
        <p:spPr bwMode="auto">
          <a:xfrm>
            <a:off x="539552" y="2132806"/>
            <a:ext cx="8136136" cy="13644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Objetivo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Compreender a realidade a partir de dados.</a:t>
            </a:r>
          </a:p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Tipo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Recenseamento, Amostragem, Estudo estatístico.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 </a:t>
            </a:r>
          </a:p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Fonte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Questionários, Dados administrativos.</a:t>
            </a:r>
            <a:endParaRPr lang="pt-BR" sz="2200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7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OE/Conceção</a:t>
            </a:r>
          </a:p>
        </p:txBody>
      </p:sp>
    </p:spTree>
    <p:extLst>
      <p:ext uri="{BB962C8B-B14F-4D97-AF65-F5344CB8AC3E}">
        <p14:creationId xmlns:p14="http://schemas.microsoft.com/office/powerpoint/2010/main" val="2800770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683568" y="1484784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2. Operação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06</a:t>
            </a:r>
          </a:p>
        </p:txBody>
      </p:sp>
      <p:sp>
        <p:nvSpPr>
          <p:cNvPr id="9" name="Text Box 376"/>
          <p:cNvSpPr txBox="1">
            <a:spLocks noChangeArrowheads="1"/>
          </p:cNvSpPr>
          <p:nvPr/>
        </p:nvSpPr>
        <p:spPr bwMode="auto">
          <a:xfrm>
            <a:off x="539552" y="2132806"/>
            <a:ext cx="8136136" cy="13644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Recolha: 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Directa (Presencial, Telefónica, Web) ou Indirecta.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Tratamento: 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Formatação, Validação, </a:t>
            </a:r>
            <a:r>
              <a:rPr lang="pt-PT" sz="2200" i="1" dirty="0" err="1">
                <a:solidFill>
                  <a:schemeClr val="tx1"/>
                </a:solidFill>
                <a:latin typeface="Humnst777 BT" pitchFamily="34" charset="0"/>
              </a:rPr>
              <a:t>Outliers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, Imputação.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 </a:t>
            </a:r>
          </a:p>
          <a:p>
            <a:pPr marL="457200" indent="-4572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Análise: 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Gráficos, Medidas descritivas, Modelos.</a:t>
            </a:r>
            <a:endParaRPr lang="pt-BR" sz="2200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7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OE/Operação</a:t>
            </a:r>
          </a:p>
        </p:txBody>
      </p:sp>
    </p:spTree>
    <p:extLst>
      <p:ext uri="{BB962C8B-B14F-4D97-AF65-F5344CB8AC3E}">
        <p14:creationId xmlns:p14="http://schemas.microsoft.com/office/powerpoint/2010/main" val="1218655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683568" y="1484784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2.3. Análise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07</a:t>
            </a:r>
          </a:p>
        </p:txBody>
      </p:sp>
      <p:sp>
        <p:nvSpPr>
          <p:cNvPr id="9" name="Text Box 376"/>
          <p:cNvSpPr txBox="1">
            <a:spLocks noChangeArrowheads="1"/>
          </p:cNvSpPr>
          <p:nvPr/>
        </p:nvSpPr>
        <p:spPr bwMode="auto">
          <a:xfrm>
            <a:off x="539552" y="2132806"/>
            <a:ext cx="8136136" cy="13644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Gráficos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i="1" dirty="0">
                <a:solidFill>
                  <a:schemeClr val="tx1"/>
                </a:solidFill>
                <a:latin typeface="Humnst777 BT" pitchFamily="34" charset="0"/>
              </a:rPr>
              <a:t>Circular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200" i="1" dirty="0">
                <a:solidFill>
                  <a:schemeClr val="tx1"/>
                </a:solidFill>
                <a:latin typeface="Humnst777 BT" pitchFamily="34" charset="0"/>
              </a:rPr>
              <a:t>Barras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200" i="1" dirty="0">
                <a:solidFill>
                  <a:schemeClr val="tx1"/>
                </a:solidFill>
                <a:latin typeface="Humnst777 BT" pitchFamily="34" charset="0"/>
              </a:rPr>
              <a:t>Extremos-e-quartis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200" i="1" dirty="0">
                <a:solidFill>
                  <a:schemeClr val="tx1"/>
                </a:solidFill>
                <a:latin typeface="Humnst777 BT" pitchFamily="34" charset="0"/>
              </a:rPr>
              <a:t>Histograma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.</a:t>
            </a:r>
          </a:p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Medidas descritivas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Tendência central, Dispersão.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 </a:t>
            </a:r>
          </a:p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Modelos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Regressão linear, Regressão logística.</a:t>
            </a:r>
            <a:endParaRPr lang="pt-BR" sz="2200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7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OE/Operação/Análise</a:t>
            </a:r>
          </a:p>
        </p:txBody>
      </p:sp>
    </p:spTree>
    <p:extLst>
      <p:ext uri="{BB962C8B-B14F-4D97-AF65-F5344CB8AC3E}">
        <p14:creationId xmlns:p14="http://schemas.microsoft.com/office/powerpoint/2010/main" val="2934613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683568" y="1484784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3. Difusão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08</a:t>
            </a:r>
          </a:p>
        </p:txBody>
      </p:sp>
      <p:sp>
        <p:nvSpPr>
          <p:cNvPr id="9" name="Text Box 376"/>
          <p:cNvSpPr txBox="1">
            <a:spLocks noChangeArrowheads="1"/>
          </p:cNvSpPr>
          <p:nvPr/>
        </p:nvSpPr>
        <p:spPr bwMode="auto">
          <a:xfrm>
            <a:off x="539552" y="2132806"/>
            <a:ext cx="8136136" cy="22980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Indicadores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Resultados dos inquéritos, para público em geral.</a:t>
            </a:r>
          </a:p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 err="1">
                <a:solidFill>
                  <a:schemeClr val="tx1"/>
                </a:solidFill>
                <a:latin typeface="Humnst777 BT" pitchFamily="34" charset="0"/>
              </a:rPr>
              <a:t>Microdados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Base de dados dos inquéritos, para investigadores. </a:t>
            </a:r>
            <a:endParaRPr lang="pt-PT" sz="2200" u="sng" dirty="0">
              <a:solidFill>
                <a:schemeClr val="tx1"/>
              </a:solidFill>
              <a:latin typeface="Humnst777 BT" pitchFamily="34" charset="0"/>
            </a:endParaRPr>
          </a:p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Destaques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i="1" dirty="0" err="1">
                <a:solidFill>
                  <a:schemeClr val="tx1"/>
                </a:solidFill>
                <a:latin typeface="Humnst777 BT" pitchFamily="34" charset="0"/>
              </a:rPr>
              <a:t>Press</a:t>
            </a:r>
            <a:r>
              <a:rPr lang="pt-PT" sz="2200" i="1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200" i="1" dirty="0" err="1">
                <a:solidFill>
                  <a:schemeClr val="tx1"/>
                </a:solidFill>
                <a:latin typeface="Humnst777 BT" pitchFamily="34" charset="0"/>
              </a:rPr>
              <a:t>release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curta, harmonizada, calendarizada.</a:t>
            </a:r>
            <a:endParaRPr lang="pt-BR" sz="2200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Publicações/Boletins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Documento longo, calendarizado.</a:t>
            </a:r>
            <a:endParaRPr lang="pt-PT" sz="2200" u="sng" dirty="0">
              <a:solidFill>
                <a:schemeClr val="tx1"/>
              </a:solidFill>
              <a:latin typeface="Humnst777 BT" pitchFamily="34" charset="0"/>
            </a:endParaRPr>
          </a:p>
          <a:p>
            <a:pPr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</a:pPr>
            <a:r>
              <a:rPr lang="pt-PT" sz="2200" u="sng" dirty="0">
                <a:solidFill>
                  <a:schemeClr val="tx1"/>
                </a:solidFill>
                <a:latin typeface="Humnst777 BT" pitchFamily="34" charset="0"/>
              </a:rPr>
              <a:t>Estudos</a:t>
            </a:r>
            <a:r>
              <a:rPr lang="pt-PT" sz="2200" dirty="0">
                <a:solidFill>
                  <a:schemeClr val="tx1"/>
                </a:solidFill>
                <a:latin typeface="Humnst777 BT" pitchFamily="34" charset="0"/>
              </a:rPr>
              <a:t> Documento longo, não-calendarizado.</a:t>
            </a:r>
          </a:p>
        </p:txBody>
      </p:sp>
      <p:sp>
        <p:nvSpPr>
          <p:cNvPr id="7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OE/Difusão</a:t>
            </a:r>
          </a:p>
        </p:txBody>
      </p:sp>
    </p:spTree>
    <p:extLst>
      <p:ext uri="{BB962C8B-B14F-4D97-AF65-F5344CB8AC3E}">
        <p14:creationId xmlns:p14="http://schemas.microsoft.com/office/powerpoint/2010/main" val="2155810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683568" y="1484784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Inquérito à Utilização do Telemóvel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09</a:t>
            </a:r>
          </a:p>
        </p:txBody>
      </p:sp>
      <p:sp>
        <p:nvSpPr>
          <p:cNvPr id="9" name="Text Box 376"/>
          <p:cNvSpPr txBox="1">
            <a:spLocks noChangeArrowheads="1"/>
          </p:cNvSpPr>
          <p:nvPr/>
        </p:nvSpPr>
        <p:spPr bwMode="auto">
          <a:xfrm>
            <a:off x="539552" y="2132806"/>
            <a:ext cx="8136136" cy="13644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Wingdings" panose="05000000000000000000" pitchFamily="2" charset="2"/>
              <a:buChar char="§"/>
            </a:pP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Vídeo: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  <a:hlinkClick r:id="rId2" action="ppaction://hlinkfile"/>
              </a:rPr>
              <a:t>..\media\OE-IUT_20180411.mp4</a:t>
            </a:r>
            <a:endParaRPr lang="pt-PT" sz="2200" dirty="0">
              <a:solidFill>
                <a:schemeClr val="tx1"/>
              </a:solidFill>
              <a:latin typeface="Humnst777 BT" pitchFamily="34" charset="0"/>
            </a:endParaRPr>
          </a:p>
          <a:p>
            <a:pPr marL="342900" indent="-3429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Wingdings" panose="05000000000000000000" pitchFamily="2" charset="2"/>
              <a:buChar char="§"/>
            </a:pP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Questionário: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https://docs.google.com/forms/.../viewform</a:t>
            </a:r>
            <a:endParaRPr lang="pt-PT" sz="2200" b="1" dirty="0">
              <a:solidFill>
                <a:schemeClr val="tx1"/>
              </a:solidFill>
              <a:latin typeface="Humnst777 BT" pitchFamily="34" charset="0"/>
            </a:endParaRPr>
          </a:p>
          <a:p>
            <a:pPr marL="342900" indent="-342900"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Font typeface="Wingdings" panose="05000000000000000000" pitchFamily="2" charset="2"/>
              <a:buChar char="§"/>
            </a:pP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</a:rPr>
              <a:t>Análise: </a:t>
            </a:r>
            <a:r>
              <a:rPr lang="pt-PT" sz="2200" b="1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https://r4.ine.pt/</a:t>
            </a:r>
            <a:endParaRPr lang="pt-PT" sz="2200" b="1" dirty="0">
              <a:solidFill>
                <a:schemeClr val="tx1"/>
              </a:solidFill>
              <a:latin typeface="Humnst777 BT" pitchFamily="34" charset="0"/>
            </a:endParaRPr>
          </a:p>
        </p:txBody>
      </p:sp>
      <p:sp>
        <p:nvSpPr>
          <p:cNvPr id="7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</a:t>
            </a:r>
          </a:p>
        </p:txBody>
      </p:sp>
    </p:spTree>
    <p:extLst>
      <p:ext uri="{BB962C8B-B14F-4D97-AF65-F5344CB8AC3E}">
        <p14:creationId xmlns:p14="http://schemas.microsoft.com/office/powerpoint/2010/main" val="4061539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C7AEF91-D9C9-EB62-AE6F-ABB07613E6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6163" y="1446733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10</a:t>
            </a:r>
          </a:p>
        </p:txBody>
      </p:sp>
      <p:sp>
        <p:nvSpPr>
          <p:cNvPr id="7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</p:spTree>
    <p:extLst>
      <p:ext uri="{BB962C8B-B14F-4D97-AF65-F5344CB8AC3E}">
        <p14:creationId xmlns:p14="http://schemas.microsoft.com/office/powerpoint/2010/main" val="1151816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410C0E-DC95-C4B7-FC8D-90DF270E44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700" y="1310811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11</a:t>
            </a:r>
          </a:p>
        </p:txBody>
      </p:sp>
      <p:sp>
        <p:nvSpPr>
          <p:cNvPr id="7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</p:spTree>
    <p:extLst>
      <p:ext uri="{BB962C8B-B14F-4D97-AF65-F5344CB8AC3E}">
        <p14:creationId xmlns:p14="http://schemas.microsoft.com/office/powerpoint/2010/main" val="4220173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12</a:t>
            </a:r>
          </a:p>
        </p:txBody>
      </p:sp>
      <p:sp>
        <p:nvSpPr>
          <p:cNvPr id="1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509869C-D31C-5ABE-9FBB-81F11B0DA2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234698"/>
              </p:ext>
            </p:extLst>
          </p:nvPr>
        </p:nvGraphicFramePr>
        <p:xfrm>
          <a:off x="1655675" y="1867852"/>
          <a:ext cx="5832649" cy="3973830"/>
        </p:xfrm>
        <a:graphic>
          <a:graphicData uri="http://schemas.openxmlformats.org/drawingml/2006/table">
            <a:tbl>
              <a:tblPr/>
              <a:tblGrid>
                <a:gridCol w="1280337">
                  <a:extLst>
                    <a:ext uri="{9D8B030D-6E8A-4147-A177-3AD203B41FA5}">
                      <a16:colId xmlns:a16="http://schemas.microsoft.com/office/drawing/2014/main" val="2455959767"/>
                    </a:ext>
                  </a:extLst>
                </a:gridCol>
                <a:gridCol w="1138078">
                  <a:extLst>
                    <a:ext uri="{9D8B030D-6E8A-4147-A177-3AD203B41FA5}">
                      <a16:colId xmlns:a16="http://schemas.microsoft.com/office/drawing/2014/main" val="1878969852"/>
                    </a:ext>
                  </a:extLst>
                </a:gridCol>
                <a:gridCol w="1138078">
                  <a:extLst>
                    <a:ext uri="{9D8B030D-6E8A-4147-A177-3AD203B41FA5}">
                      <a16:colId xmlns:a16="http://schemas.microsoft.com/office/drawing/2014/main" val="710095391"/>
                    </a:ext>
                  </a:extLst>
                </a:gridCol>
                <a:gridCol w="1138078">
                  <a:extLst>
                    <a:ext uri="{9D8B030D-6E8A-4147-A177-3AD203B41FA5}">
                      <a16:colId xmlns:a16="http://schemas.microsoft.com/office/drawing/2014/main" val="911828764"/>
                    </a:ext>
                  </a:extLst>
                </a:gridCol>
                <a:gridCol w="1138078">
                  <a:extLst>
                    <a:ext uri="{9D8B030D-6E8A-4147-A177-3AD203B41FA5}">
                      <a16:colId xmlns:a16="http://schemas.microsoft.com/office/drawing/2014/main" val="4164646068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PT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AGE_FIRST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Freq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Cumul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RelCumul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877415"/>
                  </a:ext>
                </a:extLst>
              </a:tr>
              <a:tr h="175846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928652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1.70%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3367884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4.50%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6.20%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222054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7.30%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13.50%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860821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23.00%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9693902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34.80%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57.90%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879972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16.30%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74.20%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0316380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13.50%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87.60%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7249509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5.10%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92.70%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5877528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4.50%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97.20%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4072225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1.70%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98.90%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8451557"/>
                  </a:ext>
                </a:extLst>
              </a:tr>
              <a:tr h="252041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99.40%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5256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6836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86340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4B2E78-E79B-EB83-5299-94AB0789956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3538" y="1258062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13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</p:spTree>
    <p:extLst>
      <p:ext uri="{BB962C8B-B14F-4D97-AF65-F5344CB8AC3E}">
        <p14:creationId xmlns:p14="http://schemas.microsoft.com/office/powerpoint/2010/main" val="2423486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A8D90E-5B83-3176-19B8-9449A7247C1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700" y="1264162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14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</p:spTree>
    <p:extLst>
      <p:ext uri="{BB962C8B-B14F-4D97-AF65-F5344CB8AC3E}">
        <p14:creationId xmlns:p14="http://schemas.microsoft.com/office/powerpoint/2010/main" val="31985835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4745D9-C57A-38A5-91D3-F902C1856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507" y="1258888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15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</p:spTree>
    <p:extLst>
      <p:ext uri="{BB962C8B-B14F-4D97-AF65-F5344CB8AC3E}">
        <p14:creationId xmlns:p14="http://schemas.microsoft.com/office/powerpoint/2010/main" val="883395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1C4A08-7413-3350-940B-5EA0049A6B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700" y="1265362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16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</p:spTree>
    <p:extLst>
      <p:ext uri="{BB962C8B-B14F-4D97-AF65-F5344CB8AC3E}">
        <p14:creationId xmlns:p14="http://schemas.microsoft.com/office/powerpoint/2010/main" val="4740260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4E725B-0842-0113-CF9F-F48D71FEF2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620" y="1263080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17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</p:spTree>
    <p:extLst>
      <p:ext uri="{BB962C8B-B14F-4D97-AF65-F5344CB8AC3E}">
        <p14:creationId xmlns:p14="http://schemas.microsoft.com/office/powerpoint/2010/main" val="2185351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6BB8E64-5F42-D9B7-8529-57DD96DE4F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700" y="1196975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18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</p:spTree>
    <p:extLst>
      <p:ext uri="{BB962C8B-B14F-4D97-AF65-F5344CB8AC3E}">
        <p14:creationId xmlns:p14="http://schemas.microsoft.com/office/powerpoint/2010/main" val="33863647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19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IUT/Analise/Exploração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229EA5D-67BA-BA78-E2B9-0B4C2E0DE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0248183"/>
              </p:ext>
            </p:extLst>
          </p:nvPr>
        </p:nvGraphicFramePr>
        <p:xfrm>
          <a:off x="540001" y="2861310"/>
          <a:ext cx="8063998" cy="1135380"/>
        </p:xfrm>
        <a:graphic>
          <a:graphicData uri="http://schemas.openxmlformats.org/drawingml/2006/table">
            <a:tbl>
              <a:tblPr/>
              <a:tblGrid>
                <a:gridCol w="1375930">
                  <a:extLst>
                    <a:ext uri="{9D8B030D-6E8A-4147-A177-3AD203B41FA5}">
                      <a16:colId xmlns:a16="http://schemas.microsoft.com/office/drawing/2014/main" val="784527518"/>
                    </a:ext>
                  </a:extLst>
                </a:gridCol>
                <a:gridCol w="1114678">
                  <a:extLst>
                    <a:ext uri="{9D8B030D-6E8A-4147-A177-3AD203B41FA5}">
                      <a16:colId xmlns:a16="http://schemas.microsoft.com/office/drawing/2014/main" val="3208996949"/>
                    </a:ext>
                  </a:extLst>
                </a:gridCol>
                <a:gridCol w="1114678">
                  <a:extLst>
                    <a:ext uri="{9D8B030D-6E8A-4147-A177-3AD203B41FA5}">
                      <a16:colId xmlns:a16="http://schemas.microsoft.com/office/drawing/2014/main" val="3110566216"/>
                    </a:ext>
                  </a:extLst>
                </a:gridCol>
                <a:gridCol w="1114678">
                  <a:extLst>
                    <a:ext uri="{9D8B030D-6E8A-4147-A177-3AD203B41FA5}">
                      <a16:colId xmlns:a16="http://schemas.microsoft.com/office/drawing/2014/main" val="2826009932"/>
                    </a:ext>
                  </a:extLst>
                </a:gridCol>
                <a:gridCol w="1114678">
                  <a:extLst>
                    <a:ext uri="{9D8B030D-6E8A-4147-A177-3AD203B41FA5}">
                      <a16:colId xmlns:a16="http://schemas.microsoft.com/office/drawing/2014/main" val="277164068"/>
                    </a:ext>
                  </a:extLst>
                </a:gridCol>
                <a:gridCol w="1114678">
                  <a:extLst>
                    <a:ext uri="{9D8B030D-6E8A-4147-A177-3AD203B41FA5}">
                      <a16:colId xmlns:a16="http://schemas.microsoft.com/office/drawing/2014/main" val="1063888359"/>
                    </a:ext>
                  </a:extLst>
                </a:gridCol>
                <a:gridCol w="1114678">
                  <a:extLst>
                    <a:ext uri="{9D8B030D-6E8A-4147-A177-3AD203B41FA5}">
                      <a16:colId xmlns:a16="http://schemas.microsoft.com/office/drawing/2014/main" val="1106178177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PT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Mean</a:t>
                      </a:r>
                      <a:endParaRPr lang="pt-PT" sz="18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Median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StDev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IQR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5294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AGE_FIRST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10.47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53125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PRICE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525.92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400.00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300.00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384.72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450.00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1760.00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578035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PT" sz="18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PRICE_NEW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657.34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550.00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400.00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396.72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450.00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P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1960.00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1337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92086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20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IUT/Analise/Modelos</a:t>
            </a:r>
          </a:p>
        </p:txBody>
      </p:sp>
      <p:sp>
        <p:nvSpPr>
          <p:cNvPr id="7" name="Text Box 13"/>
          <p:cNvSpPr txBox="1">
            <a:spLocks noChangeArrowheads="1"/>
          </p:cNvSpPr>
          <p:nvPr/>
        </p:nvSpPr>
        <p:spPr bwMode="auto">
          <a:xfrm>
            <a:off x="540000" y="2138367"/>
            <a:ext cx="8064000" cy="149271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lm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(formula = PRICE_NEW ~ PRICE, data = tb5)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Estimate Std. Error t value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(&gt;|t|)    </a:t>
            </a:r>
          </a:p>
          <a:p>
            <a:pPr algn="just">
              <a:spcBef>
                <a:spcPts val="0"/>
              </a:spcBef>
            </a:pPr>
            <a:r>
              <a:rPr lang="pt-PT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290.74286   45.55911   6.382 4.38e-09 ***</a:t>
            </a:r>
          </a:p>
          <a:p>
            <a:pPr algn="just">
              <a:spcBef>
                <a:spcPts val="0"/>
              </a:spcBef>
            </a:pPr>
            <a:r>
              <a:rPr lang="pt-PT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         0.70746    0.07053  10.030  &lt; 2e-16 ***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Multiple R-squared:  0.48,	Adjusted R-squared:   0.48</a:t>
            </a:r>
          </a:p>
        </p:txBody>
      </p:sp>
    </p:spTree>
    <p:extLst>
      <p:ext uri="{BB962C8B-B14F-4D97-AF65-F5344CB8AC3E}">
        <p14:creationId xmlns:p14="http://schemas.microsoft.com/office/powerpoint/2010/main" val="2889854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8F0AF3-1F07-99E0-0CD7-1704FFA8109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409" y="1258888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21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IUT/Analise/Modelos</a:t>
            </a:r>
          </a:p>
        </p:txBody>
      </p:sp>
    </p:spTree>
    <p:extLst>
      <p:ext uri="{BB962C8B-B14F-4D97-AF65-F5344CB8AC3E}">
        <p14:creationId xmlns:p14="http://schemas.microsoft.com/office/powerpoint/2010/main" val="1603948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22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IUT/Analise/Modelos</a:t>
            </a:r>
          </a:p>
        </p:txBody>
      </p:sp>
      <p:sp>
        <p:nvSpPr>
          <p:cNvPr id="7" name="Text Box 13"/>
          <p:cNvSpPr txBox="1">
            <a:spLocks noChangeArrowheads="1"/>
          </p:cNvSpPr>
          <p:nvPr/>
        </p:nvSpPr>
        <p:spPr bwMode="auto">
          <a:xfrm>
            <a:off x="540000" y="2138367"/>
            <a:ext cx="8064000" cy="189282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lm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(formula = PRICE_NEW ~ PRICE + PLAY_PHONE, data = tb5)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Estimate Std. Error t value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(&gt;|t|)    </a:t>
            </a: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(Intercept)           466.0688    77.2925   6.030 2.38e-08 ***</a:t>
            </a: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                   0.4381     0.1115   3.929 0.000152 ***</a:t>
            </a: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PLAY_PHONETRUE       -266.7643    94.1912  -2.832 0.005526 ** </a:t>
            </a: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PRICE:PLAY_PHONETRUE    0.4267     0.1411   3.025 0.003115 ** 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Multiple R-squared:  0.52,	Adjusted R-squared:   0.51</a:t>
            </a:r>
          </a:p>
        </p:txBody>
      </p:sp>
    </p:spTree>
    <p:extLst>
      <p:ext uri="{BB962C8B-B14F-4D97-AF65-F5344CB8AC3E}">
        <p14:creationId xmlns:p14="http://schemas.microsoft.com/office/powerpoint/2010/main" val="10113270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45AE46-CCF9-84F5-AF36-6E11F9DED8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286" y="1285553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23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IUT/Analise/Modelos</a:t>
            </a:r>
          </a:p>
        </p:txBody>
      </p:sp>
    </p:spTree>
    <p:extLst>
      <p:ext uri="{BB962C8B-B14F-4D97-AF65-F5344CB8AC3E}">
        <p14:creationId xmlns:p14="http://schemas.microsoft.com/office/powerpoint/2010/main" val="3308432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24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IUT/Analise/Modelos</a:t>
            </a:r>
          </a:p>
        </p:txBody>
      </p:sp>
      <p:sp>
        <p:nvSpPr>
          <p:cNvPr id="7" name="Text Box 13"/>
          <p:cNvSpPr txBox="1">
            <a:spLocks noChangeArrowheads="1"/>
          </p:cNvSpPr>
          <p:nvPr/>
        </p:nvSpPr>
        <p:spPr bwMode="auto">
          <a:xfrm>
            <a:off x="540000" y="2138367"/>
            <a:ext cx="8064000" cy="209288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(formula = PLAY_PHONE ~ PRICE, family = "binomial", data = tb5)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Estimate Std. Error t value </a:t>
            </a: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(&gt;|t|)   </a:t>
            </a: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(Intercept)  0.9378153  0.3343879   2.805  0.00504 **</a:t>
            </a: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       -0.0002934  0.0005007  -0.586  0.55786 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AIC: 154.26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OR 2.5 % 97.5 %</a:t>
            </a: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 1.00  1.00   1.00</a:t>
            </a:r>
          </a:p>
        </p:txBody>
      </p:sp>
    </p:spTree>
    <p:extLst>
      <p:ext uri="{BB962C8B-B14F-4D97-AF65-F5344CB8AC3E}">
        <p14:creationId xmlns:p14="http://schemas.microsoft.com/office/powerpoint/2010/main" val="872135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1002AFE-D386-AD67-9D4E-1CB0BD5CEA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499" y="1196975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25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IUT/Analise/Modelos</a:t>
            </a:r>
          </a:p>
        </p:txBody>
      </p:sp>
    </p:spTree>
    <p:extLst>
      <p:ext uri="{BB962C8B-B14F-4D97-AF65-F5344CB8AC3E}">
        <p14:creationId xmlns:p14="http://schemas.microsoft.com/office/powerpoint/2010/main" val="27044788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26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IUT/Analise/Modelos</a:t>
            </a:r>
          </a:p>
        </p:txBody>
      </p:sp>
      <p:sp>
        <p:nvSpPr>
          <p:cNvPr id="7" name="Text Box 13"/>
          <p:cNvSpPr txBox="1">
            <a:spLocks noChangeArrowheads="1"/>
          </p:cNvSpPr>
          <p:nvPr/>
        </p:nvSpPr>
        <p:spPr bwMode="auto">
          <a:xfrm>
            <a:off x="540000" y="2138367"/>
            <a:ext cx="8064000" cy="369331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(formula = PLAY_PHONE ~ PRICE + SOCIALNET, family = "binomial", data = tb5)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fr-FR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fr-FR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Estimate</a:t>
            </a:r>
            <a:r>
              <a:rPr lang="fr-FR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Std. </a:t>
            </a:r>
            <a:r>
              <a:rPr lang="fr-FR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z value Pr(&gt;|z|)</a:t>
            </a:r>
          </a:p>
          <a:p>
            <a:pPr algn="just">
              <a:spcBef>
                <a:spcPts val="0"/>
              </a:spcBef>
            </a:pPr>
            <a:r>
              <a:rPr lang="fr-FR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(Intercept)               1.829428   1.044127   1.752   0.0798 .</a:t>
            </a:r>
          </a:p>
          <a:p>
            <a:pPr algn="just">
              <a:spcBef>
                <a:spcPts val="0"/>
              </a:spcBef>
            </a:pPr>
            <a:r>
              <a:rPr lang="fr-FR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                    -0.001501   0.001599  -0.939   0.3479  </a:t>
            </a:r>
          </a:p>
          <a:p>
            <a:pPr algn="just">
              <a:spcBef>
                <a:spcPts val="0"/>
              </a:spcBef>
            </a:pPr>
            <a:r>
              <a:rPr lang="fr-FR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SOCIALNETInstagram</a:t>
            </a:r>
            <a:r>
              <a:rPr lang="fr-FR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-0.929485   1.138465  -0.816   0.4142  </a:t>
            </a:r>
          </a:p>
          <a:p>
            <a:pPr algn="just">
              <a:spcBef>
                <a:spcPts val="0"/>
              </a:spcBef>
            </a:pPr>
            <a:r>
              <a:rPr lang="fr-FR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SOCIALNETTikTok</a:t>
            </a:r>
            <a:r>
              <a:rPr lang="fr-FR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-1.954051   1.308128  -1.494   0.1352  </a:t>
            </a:r>
          </a:p>
          <a:p>
            <a:pPr algn="just">
              <a:spcBef>
                <a:spcPts val="0"/>
              </a:spcBef>
            </a:pPr>
            <a:r>
              <a:rPr lang="fr-FR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PRICE:SOCIALNETInstagram</a:t>
            </a:r>
            <a:r>
              <a:rPr lang="fr-FR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0.001734   0.001782   0.973   0.3304  </a:t>
            </a:r>
          </a:p>
          <a:p>
            <a:pPr algn="just">
              <a:spcBef>
                <a:spcPts val="0"/>
              </a:spcBef>
            </a:pPr>
            <a:r>
              <a:rPr lang="fr-FR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PRICE:SOCIALNETTikTok</a:t>
            </a:r>
            <a:r>
              <a:rPr lang="fr-FR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0.001671   0.001828   0.914   0.3607 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AIC: 144.61</a:t>
            </a:r>
          </a:p>
          <a:p>
            <a:pPr algn="just">
              <a:spcBef>
                <a:spcPts val="0"/>
              </a:spcBef>
            </a:pPr>
            <a:endParaRPr lang="en-US" sz="13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OR 2.5 % 97.5 %</a:t>
            </a:r>
          </a:p>
          <a:p>
            <a:pPr algn="just">
              <a:spcBef>
                <a:spcPts val="0"/>
              </a:spcBef>
            </a:pP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                    1.00  1.00   1.00</a:t>
            </a:r>
          </a:p>
          <a:p>
            <a:pPr algn="just">
              <a:spcBef>
                <a:spcPts val="0"/>
              </a:spcBef>
            </a:pP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SOCIALNETInstagram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0.39  0.04   3.68</a:t>
            </a:r>
          </a:p>
          <a:p>
            <a:pPr algn="just">
              <a:spcBef>
                <a:spcPts val="0"/>
              </a:spcBef>
            </a:pP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SOCIALNETTikTok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0.14  0.01   1.84</a:t>
            </a:r>
          </a:p>
          <a:p>
            <a:pPr algn="just">
              <a:spcBef>
                <a:spcPts val="0"/>
              </a:spcBef>
            </a:pP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PRICE:SOCIALNETInstagram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1.00  1.00   1.01</a:t>
            </a:r>
          </a:p>
          <a:p>
            <a:pPr algn="just">
              <a:spcBef>
                <a:spcPts val="0"/>
              </a:spcBef>
            </a:pPr>
            <a:r>
              <a:rPr lang="en-US" sz="13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PRICE:SOCIALNETTikTok</a:t>
            </a:r>
            <a:r>
              <a:rPr lang="en-US" sz="13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1.00  1.00   1.01</a:t>
            </a:r>
          </a:p>
        </p:txBody>
      </p:sp>
    </p:spTree>
    <p:extLst>
      <p:ext uri="{BB962C8B-B14F-4D97-AF65-F5344CB8AC3E}">
        <p14:creationId xmlns:p14="http://schemas.microsoft.com/office/powerpoint/2010/main" val="2987016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B4A6F1E-C79A-2FBE-1D93-A796061810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700" y="1257747"/>
            <a:ext cx="4800600" cy="4800600"/>
          </a:xfrm>
          <a:prstGeom prst="rect">
            <a:avLst/>
          </a:prstGeom>
        </p:spPr>
      </p:pic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27</a:t>
            </a:r>
          </a:p>
        </p:txBody>
      </p:sp>
      <p:sp>
        <p:nvSpPr>
          <p:cNvPr id="8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IUT/Analise/Modelos</a:t>
            </a:r>
          </a:p>
        </p:txBody>
      </p:sp>
    </p:spTree>
    <p:extLst>
      <p:ext uri="{BB962C8B-B14F-4D97-AF65-F5344CB8AC3E}">
        <p14:creationId xmlns:p14="http://schemas.microsoft.com/office/powerpoint/2010/main" val="42629886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2"/>
                </a:solidFill>
                <a:latin typeface="Humnst777 BT" pitchFamily="34" charset="0"/>
              </a:rPr>
              <a:t>OE-IUT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540000" y="1548000"/>
            <a:ext cx="8064000" cy="35240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pt-PT" sz="3800" dirty="0">
                <a:solidFill>
                  <a:schemeClr val="tx1"/>
                </a:solidFill>
                <a:latin typeface="Humnst777 BT"/>
              </a:rPr>
              <a:t>Obrigado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pt-PT" sz="3800" dirty="0">
              <a:solidFill>
                <a:schemeClr val="tx1"/>
              </a:solidFill>
              <a:latin typeface="Humnst777 BT"/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pt-PT" sz="18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https://www.r-project.org/</a:t>
            </a:r>
            <a:endParaRPr lang="pt-PT" sz="1800" dirty="0">
              <a:solidFill>
                <a:schemeClr val="tx1"/>
              </a:solidFill>
              <a:latin typeface="Humnst777 BT" pitchFamily="34" charset="0"/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US" sz="1800" dirty="0">
                <a:solidFill>
                  <a:schemeClr val="tx1"/>
                </a:solidFill>
                <a:latin typeface="Humnst777 BT"/>
                <a:hlinkClick r:id="rId3"/>
              </a:rPr>
              <a:t>https://rstudio.com/</a:t>
            </a:r>
            <a:endParaRPr lang="en-US" sz="1800" dirty="0">
              <a:solidFill>
                <a:schemeClr val="tx1"/>
              </a:solidFill>
              <a:latin typeface="Humnst777 BT"/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en-US" sz="1800" dirty="0">
              <a:solidFill>
                <a:schemeClr val="tx1"/>
              </a:solidFill>
              <a:latin typeface="Humnst777 BT"/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US" sz="1800" dirty="0">
                <a:solidFill>
                  <a:schemeClr val="tx1"/>
                </a:solidFill>
                <a:latin typeface="Humnst777 BT"/>
                <a:hlinkClick r:id="rId4"/>
              </a:rPr>
              <a:t>https://github.com/jsollari/OE-IUT2020</a:t>
            </a:r>
            <a:endParaRPr lang="en-US" sz="1800" dirty="0">
              <a:solidFill>
                <a:schemeClr val="tx1"/>
              </a:solidFill>
              <a:latin typeface="Humnst777 BT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539552" y="1506793"/>
            <a:ext cx="448" cy="356524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38018713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6000" b="0" i="0" u="none" strike="noStrike" cap="none" normalizeH="0" baseline="0" smtClean="0">
            <a:ln>
              <a:noFill/>
            </a:ln>
            <a:solidFill>
              <a:srgbClr val="CC0000"/>
            </a:solidFill>
            <a:effectLst/>
            <a:latin typeface="Humanst521 BT" pitchFamily="34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70095</TotalTime>
  <Words>944</Words>
  <Application>Microsoft Office PowerPoint</Application>
  <PresentationFormat>On-screen Show (4:3)</PresentationFormat>
  <Paragraphs>299</Paragraphs>
  <Slides>29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Courier New</vt:lpstr>
      <vt:lpstr>Humanst521 BT</vt:lpstr>
      <vt:lpstr>Humnst777 BT</vt:lpstr>
      <vt:lpstr>Wingdings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</dc:title>
  <dc:creator>DPHCN</dc:creator>
  <cp:lastModifiedBy>João Lopes</cp:lastModifiedBy>
  <cp:revision>2931</cp:revision>
  <cp:lastPrinted>2025-05-20T08:17:05Z</cp:lastPrinted>
  <dcterms:created xsi:type="dcterms:W3CDTF">2004-01-14T16:14:16Z</dcterms:created>
  <dcterms:modified xsi:type="dcterms:W3CDTF">2026-01-16T12:17:35Z</dcterms:modified>
</cp:coreProperties>
</file>