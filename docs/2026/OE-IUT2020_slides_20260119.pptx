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i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</p:sldMasterIdLst>
  <p:notesMasterIdLst>
    <p:notesMasterId r:id="rId31"/>
  </p:notesMasterIdLst>
  <p:handoutMasterIdLst>
    <p:handoutMasterId r:id="rId32"/>
  </p:handoutMasterIdLst>
  <p:sldIdLst>
    <p:sldId id="256" r:id="rId2"/>
    <p:sldId id="1244" r:id="rId3"/>
    <p:sldId id="1197" r:id="rId4"/>
    <p:sldId id="1245" r:id="rId5"/>
    <p:sldId id="1243" r:id="rId6"/>
    <p:sldId id="1215" r:id="rId7"/>
    <p:sldId id="1216" r:id="rId8"/>
    <p:sldId id="1218" r:id="rId9"/>
    <p:sldId id="1217" r:id="rId10"/>
    <p:sldId id="1225" r:id="rId11"/>
    <p:sldId id="1226" r:id="rId12"/>
    <p:sldId id="1227" r:id="rId13"/>
    <p:sldId id="1219" r:id="rId14"/>
    <p:sldId id="1228" r:id="rId15"/>
    <p:sldId id="1229" r:id="rId16"/>
    <p:sldId id="1230" r:id="rId17"/>
    <p:sldId id="1231" r:id="rId18"/>
    <p:sldId id="1232" r:id="rId19"/>
    <p:sldId id="1233" r:id="rId20"/>
    <p:sldId id="1234" r:id="rId21"/>
    <p:sldId id="1235" r:id="rId22"/>
    <p:sldId id="1236" r:id="rId23"/>
    <p:sldId id="1237" r:id="rId24"/>
    <p:sldId id="1240" r:id="rId25"/>
    <p:sldId id="1239" r:id="rId26"/>
    <p:sldId id="1238" r:id="rId27"/>
    <p:sldId id="1241" r:id="rId28"/>
    <p:sldId id="1242" r:id="rId29"/>
    <p:sldId id="1067" r:id="rId30"/>
  </p:sldIdLst>
  <p:sldSz cx="9144000" cy="6858000" type="screen4x3"/>
  <p:notesSz cx="6669088" cy="9926638"/>
  <p:defaultTextStyle>
    <a:defPPr>
      <a:defRPr lang="pt-PT"/>
    </a:defPPr>
    <a:lvl1pPr algn="l" rtl="0" fontAlgn="base">
      <a:spcBef>
        <a:spcPct val="50000"/>
      </a:spcBef>
      <a:spcAft>
        <a:spcPct val="0"/>
      </a:spcAft>
      <a:defRPr sz="6000" kern="1200">
        <a:solidFill>
          <a:srgbClr val="CC0000"/>
        </a:solidFill>
        <a:latin typeface="Humanst521 BT" pitchFamily="34" charset="0"/>
        <a:ea typeface="+mn-ea"/>
        <a:cs typeface="+mn-cs"/>
      </a:defRPr>
    </a:lvl1pPr>
    <a:lvl2pPr marL="457200" algn="l" rtl="0" fontAlgn="base">
      <a:spcBef>
        <a:spcPct val="50000"/>
      </a:spcBef>
      <a:spcAft>
        <a:spcPct val="0"/>
      </a:spcAft>
      <a:defRPr sz="6000" kern="1200">
        <a:solidFill>
          <a:srgbClr val="CC0000"/>
        </a:solidFill>
        <a:latin typeface="Humanst521 BT" pitchFamily="34" charset="0"/>
        <a:ea typeface="+mn-ea"/>
        <a:cs typeface="+mn-cs"/>
      </a:defRPr>
    </a:lvl2pPr>
    <a:lvl3pPr marL="914400" algn="l" rtl="0" fontAlgn="base">
      <a:spcBef>
        <a:spcPct val="50000"/>
      </a:spcBef>
      <a:spcAft>
        <a:spcPct val="0"/>
      </a:spcAft>
      <a:defRPr sz="6000" kern="1200">
        <a:solidFill>
          <a:srgbClr val="CC0000"/>
        </a:solidFill>
        <a:latin typeface="Humanst521 BT" pitchFamily="34" charset="0"/>
        <a:ea typeface="+mn-ea"/>
        <a:cs typeface="+mn-cs"/>
      </a:defRPr>
    </a:lvl3pPr>
    <a:lvl4pPr marL="1371600" algn="l" rtl="0" fontAlgn="base">
      <a:spcBef>
        <a:spcPct val="50000"/>
      </a:spcBef>
      <a:spcAft>
        <a:spcPct val="0"/>
      </a:spcAft>
      <a:defRPr sz="6000" kern="1200">
        <a:solidFill>
          <a:srgbClr val="CC0000"/>
        </a:solidFill>
        <a:latin typeface="Humanst521 BT" pitchFamily="34" charset="0"/>
        <a:ea typeface="+mn-ea"/>
        <a:cs typeface="+mn-cs"/>
      </a:defRPr>
    </a:lvl4pPr>
    <a:lvl5pPr marL="1828800" algn="l" rtl="0" fontAlgn="base">
      <a:spcBef>
        <a:spcPct val="50000"/>
      </a:spcBef>
      <a:spcAft>
        <a:spcPct val="0"/>
      </a:spcAft>
      <a:defRPr sz="6000" kern="1200">
        <a:solidFill>
          <a:srgbClr val="CC0000"/>
        </a:solidFill>
        <a:latin typeface="Humanst521 BT" pitchFamily="34" charset="0"/>
        <a:ea typeface="+mn-ea"/>
        <a:cs typeface="+mn-cs"/>
      </a:defRPr>
    </a:lvl5pPr>
    <a:lvl6pPr marL="2286000" algn="l" defTabSz="914400" rtl="0" eaLnBrk="1" latinLnBrk="0" hangingPunct="1">
      <a:defRPr sz="6000" kern="1200">
        <a:solidFill>
          <a:srgbClr val="CC0000"/>
        </a:solidFill>
        <a:latin typeface="Humanst521 BT" pitchFamily="34" charset="0"/>
        <a:ea typeface="+mn-ea"/>
        <a:cs typeface="+mn-cs"/>
      </a:defRPr>
    </a:lvl6pPr>
    <a:lvl7pPr marL="2743200" algn="l" defTabSz="914400" rtl="0" eaLnBrk="1" latinLnBrk="0" hangingPunct="1">
      <a:defRPr sz="6000" kern="1200">
        <a:solidFill>
          <a:srgbClr val="CC0000"/>
        </a:solidFill>
        <a:latin typeface="Humanst521 BT" pitchFamily="34" charset="0"/>
        <a:ea typeface="+mn-ea"/>
        <a:cs typeface="+mn-cs"/>
      </a:defRPr>
    </a:lvl7pPr>
    <a:lvl8pPr marL="3200400" algn="l" defTabSz="914400" rtl="0" eaLnBrk="1" latinLnBrk="0" hangingPunct="1">
      <a:defRPr sz="6000" kern="1200">
        <a:solidFill>
          <a:srgbClr val="CC0000"/>
        </a:solidFill>
        <a:latin typeface="Humanst521 BT" pitchFamily="34" charset="0"/>
        <a:ea typeface="+mn-ea"/>
        <a:cs typeface="+mn-cs"/>
      </a:defRPr>
    </a:lvl8pPr>
    <a:lvl9pPr marL="3657600" algn="l" defTabSz="914400" rtl="0" eaLnBrk="1" latinLnBrk="0" hangingPunct="1">
      <a:defRPr sz="6000" kern="1200">
        <a:solidFill>
          <a:srgbClr val="CC0000"/>
        </a:solidFill>
        <a:latin typeface="Humanst521 BT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44" userDrawn="1">
          <p15:clr>
            <a:srgbClr val="A4A3A4"/>
          </p15:clr>
        </p15:guide>
        <p15:guide id="2" pos="3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01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E6C"/>
    <a:srgbClr val="FFFFCC"/>
    <a:srgbClr val="B7ECFF"/>
    <a:srgbClr val="BDFBC3"/>
    <a:srgbClr val="CCCC00"/>
    <a:srgbClr val="EDDDA1"/>
    <a:srgbClr val="BDBB5F"/>
    <a:srgbClr val="E5B9BD"/>
    <a:srgbClr val="CC301F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210" autoAdjust="0"/>
    <p:restoredTop sz="93691" autoAdjust="0"/>
  </p:normalViewPr>
  <p:slideViewPr>
    <p:cSldViewPr>
      <p:cViewPr varScale="1">
        <p:scale>
          <a:sx n="93" d="100"/>
          <a:sy n="93" d="100"/>
        </p:scale>
        <p:origin x="336" y="72"/>
      </p:cViewPr>
      <p:guideLst>
        <p:guide orient="horz" pos="1344"/>
        <p:guide pos="340"/>
      </p:guideLst>
    </p:cSldViewPr>
  </p:slideViewPr>
  <p:outlineViewPr>
    <p:cViewPr>
      <p:scale>
        <a:sx n="33" d="100"/>
        <a:sy n="33" d="100"/>
      </p:scale>
      <p:origin x="0" y="1236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77" d="100"/>
          <a:sy n="77" d="100"/>
        </p:scale>
        <p:origin x="1524" y="102"/>
      </p:cViewPr>
      <p:guideLst>
        <p:guide orient="horz" pos="3127"/>
        <p:guide pos="210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2889938" cy="496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245" tIns="45122" rIns="90245" bIns="45122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77607" y="0"/>
            <a:ext cx="2889938" cy="496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245" tIns="45122" rIns="90245" bIns="45122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1946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9428091"/>
            <a:ext cx="2889938" cy="496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245" tIns="45122" rIns="90245" bIns="45122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1946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77607" y="9428091"/>
            <a:ext cx="2889938" cy="496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245" tIns="45122" rIns="90245" bIns="45122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fld id="{786E3228-BDA5-4C88-B65C-28A18C301E9B}" type="slidenum">
              <a:rPr lang="pt-PT"/>
              <a:pPr>
                <a:defRPr/>
              </a:pPr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8744181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2889938" cy="496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245" tIns="45122" rIns="90245" bIns="45122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77607" y="0"/>
            <a:ext cx="2889938" cy="496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245" tIns="45122" rIns="90245" bIns="45122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2458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52488" y="742950"/>
            <a:ext cx="4964112" cy="37242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3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66909" y="4714837"/>
            <a:ext cx="5335270" cy="4467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245" tIns="45122" rIns="90245" bIns="4512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PT" noProof="0"/>
              <a:t>Click to edit Master text styles</a:t>
            </a:r>
          </a:p>
          <a:p>
            <a:pPr lvl="1"/>
            <a:r>
              <a:rPr lang="pt-PT" noProof="0"/>
              <a:t>Second level</a:t>
            </a:r>
          </a:p>
          <a:p>
            <a:pPr lvl="2"/>
            <a:r>
              <a:rPr lang="pt-PT" noProof="0"/>
              <a:t>Third level</a:t>
            </a:r>
          </a:p>
          <a:p>
            <a:pPr lvl="3"/>
            <a:r>
              <a:rPr lang="pt-PT" noProof="0"/>
              <a:t>Fourth level</a:t>
            </a:r>
          </a:p>
          <a:p>
            <a:pPr lvl="4"/>
            <a:r>
              <a:rPr lang="pt-PT" noProof="0"/>
              <a:t>Fifth level</a:t>
            </a:r>
          </a:p>
        </p:txBody>
      </p:sp>
      <p:sp>
        <p:nvSpPr>
          <p:cNvPr id="133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428091"/>
            <a:ext cx="2889938" cy="496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245" tIns="45122" rIns="90245" bIns="45122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133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77607" y="9428091"/>
            <a:ext cx="2889938" cy="496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245" tIns="45122" rIns="90245" bIns="45122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fld id="{5705EB50-1723-4F02-82E6-3547F8722922}" type="slidenum">
              <a:rPr lang="pt-PT"/>
              <a:pPr>
                <a:defRPr/>
              </a:pPr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89364430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705EB50-1723-4F02-82E6-3547F8722922}" type="slidenum">
              <a:rPr lang="pt-PT" smtClean="0"/>
              <a:pPr>
                <a:defRPr/>
              </a:pPr>
              <a:t>0</a:t>
            </a:fld>
            <a:endParaRPr lang="pt-PT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705EB50-1723-4F02-82E6-3547F8722922}" type="slidenum">
              <a:rPr lang="pt-PT" smtClean="0"/>
              <a:pPr>
                <a:defRPr/>
              </a:pPr>
              <a:t>15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9543327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705EB50-1723-4F02-82E6-3547F8722922}" type="slidenum">
              <a:rPr lang="pt-PT" smtClean="0"/>
              <a:pPr>
                <a:defRPr/>
              </a:pPr>
              <a:t>16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7749374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705EB50-1723-4F02-82E6-3547F8722922}" type="slidenum">
              <a:rPr lang="pt-PT" smtClean="0"/>
              <a:pPr>
                <a:defRPr/>
              </a:pPr>
              <a:t>25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4306539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13"/>
          <p:cNvSpPr txBox="1">
            <a:spLocks noChangeArrowheads="1"/>
          </p:cNvSpPr>
          <p:nvPr userDrawn="1"/>
        </p:nvSpPr>
        <p:spPr bwMode="auto">
          <a:xfrm>
            <a:off x="8324645" y="6163979"/>
            <a:ext cx="855867" cy="504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noAutofit/>
          </a:bodyPr>
          <a:lstStyle/>
          <a:p>
            <a:pPr algn="l"/>
            <a:r>
              <a:rPr lang="pt-PT" sz="1200" dirty="0">
                <a:solidFill>
                  <a:schemeClr val="bg2"/>
                </a:solidFill>
                <a:latin typeface="Humnst777 BT" pitchFamily="34" charset="0"/>
              </a:rPr>
              <a:t>       /28</a:t>
            </a:r>
          </a:p>
        </p:txBody>
      </p:sp>
      <p:sp>
        <p:nvSpPr>
          <p:cNvPr id="7" name="Text Box 13"/>
          <p:cNvSpPr txBox="1">
            <a:spLocks noChangeArrowheads="1"/>
          </p:cNvSpPr>
          <p:nvPr userDrawn="1"/>
        </p:nvSpPr>
        <p:spPr bwMode="auto">
          <a:xfrm>
            <a:off x="3779912" y="6164408"/>
            <a:ext cx="2808000" cy="50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noAutofit/>
          </a:bodyPr>
          <a:lstStyle/>
          <a:p>
            <a:pPr algn="ctr"/>
            <a:r>
              <a:rPr lang="pt-PT" sz="1200" dirty="0">
                <a:solidFill>
                  <a:schemeClr val="bg2"/>
                </a:solidFill>
                <a:latin typeface="Humnst777 BT" pitchFamily="34" charset="0"/>
              </a:rPr>
              <a:t>Operação Estatística - IUT</a:t>
            </a:r>
          </a:p>
        </p:txBody>
      </p:sp>
      <p:sp>
        <p:nvSpPr>
          <p:cNvPr id="8" name="Text Box 13"/>
          <p:cNvSpPr txBox="1">
            <a:spLocks noChangeArrowheads="1"/>
          </p:cNvSpPr>
          <p:nvPr userDrawn="1"/>
        </p:nvSpPr>
        <p:spPr bwMode="auto">
          <a:xfrm>
            <a:off x="6587911" y="6176009"/>
            <a:ext cx="1670517" cy="50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noAutofit/>
          </a:bodyPr>
          <a:lstStyle/>
          <a:p>
            <a:pPr algn="ctr"/>
            <a:r>
              <a:rPr lang="pt-PT" sz="1200" dirty="0">
                <a:solidFill>
                  <a:schemeClr val="bg2"/>
                </a:solidFill>
                <a:latin typeface="Humnst777 BT" pitchFamily="34" charset="0"/>
              </a:rPr>
              <a:t>Maio 2025</a:t>
            </a:r>
          </a:p>
        </p:txBody>
      </p:sp>
      <p:sp>
        <p:nvSpPr>
          <p:cNvPr id="9" name="Text Box 34"/>
          <p:cNvSpPr txBox="1">
            <a:spLocks noChangeArrowheads="1"/>
          </p:cNvSpPr>
          <p:nvPr userDrawn="1"/>
        </p:nvSpPr>
        <p:spPr bwMode="auto">
          <a:xfrm flipV="1">
            <a:off x="8027988" y="6215453"/>
            <a:ext cx="4699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sz="2400" dirty="0">
                <a:solidFill>
                  <a:srgbClr val="CC301F"/>
                </a:solidFill>
              </a:rPr>
              <a:t>«</a:t>
            </a:r>
          </a:p>
        </p:txBody>
      </p:sp>
    </p:spTree>
    <p:extLst>
      <p:ext uri="{BB962C8B-B14F-4D97-AF65-F5344CB8AC3E}">
        <p14:creationId xmlns:p14="http://schemas.microsoft.com/office/powerpoint/2010/main" val="17558224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Rectangle 11"/>
          <p:cNvSpPr>
            <a:spLocks noChangeArrowheads="1"/>
          </p:cNvSpPr>
          <p:nvPr userDrawn="1"/>
        </p:nvSpPr>
        <p:spPr bwMode="auto">
          <a:xfrm>
            <a:off x="468313" y="765175"/>
            <a:ext cx="215900" cy="215900"/>
          </a:xfrm>
          <a:prstGeom prst="rect">
            <a:avLst/>
          </a:prstGeom>
          <a:solidFill>
            <a:srgbClr val="1A3A6E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036" name="Rectangle 12"/>
          <p:cNvSpPr>
            <a:spLocks noChangeArrowheads="1"/>
          </p:cNvSpPr>
          <p:nvPr userDrawn="1"/>
        </p:nvSpPr>
        <p:spPr bwMode="auto">
          <a:xfrm>
            <a:off x="757238" y="765175"/>
            <a:ext cx="287337" cy="215900"/>
          </a:xfrm>
          <a:prstGeom prst="rect">
            <a:avLst/>
          </a:prstGeom>
          <a:solidFill>
            <a:srgbClr val="CC301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r">
              <a:spcBef>
                <a:spcPct val="0"/>
              </a:spcBef>
              <a:defRPr/>
            </a:pPr>
            <a:endParaRPr lang="en-US" sz="180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1037" name="Rectangle 13"/>
          <p:cNvSpPr>
            <a:spLocks noChangeArrowheads="1"/>
          </p:cNvSpPr>
          <p:nvPr userDrawn="1"/>
        </p:nvSpPr>
        <p:spPr bwMode="auto">
          <a:xfrm>
            <a:off x="1116013" y="765175"/>
            <a:ext cx="865187" cy="215900"/>
          </a:xfrm>
          <a:prstGeom prst="rect">
            <a:avLst/>
          </a:prstGeom>
          <a:solidFill>
            <a:srgbClr val="C0C0C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038" name="Rectangle 14"/>
          <p:cNvSpPr>
            <a:spLocks noChangeArrowheads="1"/>
          </p:cNvSpPr>
          <p:nvPr userDrawn="1"/>
        </p:nvSpPr>
        <p:spPr bwMode="auto">
          <a:xfrm>
            <a:off x="2052638" y="765175"/>
            <a:ext cx="576262" cy="215900"/>
          </a:xfrm>
          <a:prstGeom prst="rect">
            <a:avLst/>
          </a:prstGeom>
          <a:solidFill>
            <a:srgbClr val="1A3A6E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039" name="Rectangle 15"/>
          <p:cNvSpPr>
            <a:spLocks noChangeArrowheads="1"/>
          </p:cNvSpPr>
          <p:nvPr userDrawn="1"/>
        </p:nvSpPr>
        <p:spPr bwMode="auto">
          <a:xfrm>
            <a:off x="828675" y="909638"/>
            <a:ext cx="576263" cy="2159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pic>
        <p:nvPicPr>
          <p:cNvPr id="1031" name="Picture 17" descr="Logo2"/>
          <p:cNvPicPr>
            <a:picLocks noChangeAspect="1"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50825" y="6237288"/>
            <a:ext cx="3635375" cy="422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forms/.../viewform" TargetMode="External"/><Relationship Id="rId2" Type="http://schemas.openxmlformats.org/officeDocument/2006/relationships/hyperlink" Target="../media/OE-IUT_20180411.mp4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r4.ine.pt/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i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i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i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i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t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t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ti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ti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ti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ti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t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ti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rstudio.com/" TargetMode="External"/><Relationship Id="rId2" Type="http://schemas.openxmlformats.org/officeDocument/2006/relationships/hyperlink" Target="https://www.r-project.org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jsollari/OE-IUT2020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Text Box 44"/>
          <p:cNvSpPr txBox="1">
            <a:spLocks noChangeArrowheads="1"/>
          </p:cNvSpPr>
          <p:nvPr/>
        </p:nvSpPr>
        <p:spPr bwMode="auto">
          <a:xfrm flipV="1">
            <a:off x="684213" y="2506662"/>
            <a:ext cx="504825" cy="922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sz="5400" dirty="0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2054" name="Rectangle 60"/>
          <p:cNvSpPr>
            <a:spLocks noChangeArrowheads="1"/>
          </p:cNvSpPr>
          <p:nvPr/>
        </p:nvSpPr>
        <p:spPr bwMode="auto">
          <a:xfrm>
            <a:off x="1116013" y="2564829"/>
            <a:ext cx="7416800" cy="792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pt-PT" sz="3600" b="1" dirty="0">
                <a:solidFill>
                  <a:schemeClr val="bg2"/>
                </a:solidFill>
                <a:latin typeface="Humnst777 BT" pitchFamily="34" charset="0"/>
              </a:rPr>
              <a:t>Operação Estatística - IUT</a:t>
            </a:r>
          </a:p>
        </p:txBody>
      </p:sp>
      <p:pic>
        <p:nvPicPr>
          <p:cNvPr id="2055" name="Picture 81" descr="Logo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9750" y="404813"/>
            <a:ext cx="3168650" cy="1154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Rectangle 27"/>
          <p:cNvSpPr>
            <a:spLocks noChangeArrowheads="1"/>
          </p:cNvSpPr>
          <p:nvPr/>
        </p:nvSpPr>
        <p:spPr bwMode="auto">
          <a:xfrm>
            <a:off x="2005013" y="5470550"/>
            <a:ext cx="6696075" cy="479425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lnSpc>
                <a:spcPct val="90000"/>
              </a:lnSpc>
              <a:spcBef>
                <a:spcPct val="20000"/>
              </a:spcBef>
              <a:defRPr/>
            </a:pPr>
            <a:r>
              <a:rPr lang="pt-PT" sz="1800" dirty="0">
                <a:solidFill>
                  <a:srgbClr val="002060"/>
                </a:solidFill>
                <a:latin typeface="Humnst777 BT" pitchFamily="34" charset="0"/>
              </a:rPr>
              <a:t>DMSI / ME</a:t>
            </a:r>
          </a:p>
        </p:txBody>
      </p:sp>
      <p:sp>
        <p:nvSpPr>
          <p:cNvPr id="2058" name="Rectangle 10"/>
          <p:cNvSpPr>
            <a:spLocks noChangeArrowheads="1"/>
          </p:cNvSpPr>
          <p:nvPr/>
        </p:nvSpPr>
        <p:spPr bwMode="auto">
          <a:xfrm>
            <a:off x="2124075" y="5876950"/>
            <a:ext cx="215900" cy="215900"/>
          </a:xfrm>
          <a:prstGeom prst="rect">
            <a:avLst/>
          </a:prstGeom>
          <a:solidFill>
            <a:srgbClr val="1A3A6E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59" name="Rectangle 11"/>
          <p:cNvSpPr>
            <a:spLocks noChangeArrowheads="1"/>
          </p:cNvSpPr>
          <p:nvPr/>
        </p:nvSpPr>
        <p:spPr bwMode="auto">
          <a:xfrm>
            <a:off x="2413000" y="5876950"/>
            <a:ext cx="287338" cy="215900"/>
          </a:xfrm>
          <a:prstGeom prst="rect">
            <a:avLst/>
          </a:prstGeom>
          <a:solidFill>
            <a:srgbClr val="CC301F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r">
              <a:spcBef>
                <a:spcPct val="0"/>
              </a:spcBef>
            </a:pPr>
            <a:endParaRPr lang="en-US" sz="180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2060" name="Rectangle 12"/>
          <p:cNvSpPr>
            <a:spLocks noChangeArrowheads="1"/>
          </p:cNvSpPr>
          <p:nvPr/>
        </p:nvSpPr>
        <p:spPr bwMode="auto">
          <a:xfrm>
            <a:off x="2771775" y="5876950"/>
            <a:ext cx="865188" cy="215900"/>
          </a:xfrm>
          <a:prstGeom prst="rect">
            <a:avLst/>
          </a:prstGeom>
          <a:solidFill>
            <a:srgbClr val="C0C0C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61" name="Rectangle 13"/>
          <p:cNvSpPr>
            <a:spLocks noChangeArrowheads="1"/>
          </p:cNvSpPr>
          <p:nvPr/>
        </p:nvSpPr>
        <p:spPr bwMode="auto">
          <a:xfrm>
            <a:off x="3708400" y="5876950"/>
            <a:ext cx="576263" cy="215900"/>
          </a:xfrm>
          <a:prstGeom prst="rect">
            <a:avLst/>
          </a:prstGeom>
          <a:solidFill>
            <a:srgbClr val="1A3A6E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57" name="Text Box 45"/>
          <p:cNvSpPr txBox="1">
            <a:spLocks noChangeArrowheads="1"/>
          </p:cNvSpPr>
          <p:nvPr/>
        </p:nvSpPr>
        <p:spPr bwMode="auto">
          <a:xfrm>
            <a:off x="4284663" y="5805512"/>
            <a:ext cx="273526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pt-PT" sz="1800" dirty="0">
                <a:solidFill>
                  <a:srgbClr val="002060"/>
                </a:solidFill>
                <a:latin typeface="Humnst777 BT" pitchFamily="34" charset="0"/>
              </a:rPr>
              <a:t>  Janeiro de 2026</a:t>
            </a:r>
          </a:p>
        </p:txBody>
      </p:sp>
      <p:sp>
        <p:nvSpPr>
          <p:cNvPr id="2063" name="Rectangle 33"/>
          <p:cNvSpPr>
            <a:spLocks noChangeArrowheads="1"/>
          </p:cNvSpPr>
          <p:nvPr/>
        </p:nvSpPr>
        <p:spPr bwMode="auto">
          <a:xfrm>
            <a:off x="2484438" y="6021412"/>
            <a:ext cx="576262" cy="2159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6843420" y="4077072"/>
            <a:ext cx="1495859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spcBef>
                <a:spcPts val="600"/>
              </a:spcBef>
            </a:pPr>
            <a:r>
              <a:rPr lang="pt-PT" sz="2000" dirty="0">
                <a:solidFill>
                  <a:schemeClr val="bg1">
                    <a:lumMod val="50000"/>
                  </a:schemeClr>
                </a:solidFill>
                <a:latin typeface="Humnst777 BT"/>
              </a:rPr>
              <a:t>João Lopes</a:t>
            </a:r>
          </a:p>
          <a:p>
            <a:pPr algn="r">
              <a:spcBef>
                <a:spcPts val="600"/>
              </a:spcBef>
            </a:pPr>
            <a:r>
              <a:rPr lang="pt-PT" sz="2000" dirty="0">
                <a:solidFill>
                  <a:schemeClr val="bg1">
                    <a:lumMod val="50000"/>
                  </a:schemeClr>
                </a:solidFill>
                <a:latin typeface="Humnst777 BT"/>
              </a:rPr>
              <a:t>Filipe Santos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F78216E-3077-C860-479B-411B7AC3079F}"/>
              </a:ext>
            </a:extLst>
          </p:cNvPr>
          <p:cNvSpPr txBox="1"/>
          <p:nvPr/>
        </p:nvSpPr>
        <p:spPr>
          <a:xfrm>
            <a:off x="1113806" y="3363282"/>
            <a:ext cx="42700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600"/>
              </a:spcBef>
            </a:pPr>
            <a:r>
              <a:rPr lang="pt-PT" sz="2000" dirty="0">
                <a:solidFill>
                  <a:schemeClr val="bg1">
                    <a:lumMod val="50000"/>
                  </a:schemeClr>
                </a:solidFill>
                <a:latin typeface="Humnst777 BT"/>
              </a:rPr>
              <a:t>Agrupamento de Escolas de Almodôvar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B23C06-6924-B54A-D1C5-1354D85095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9">
            <a:extLst>
              <a:ext uri="{FF2B5EF4-FFF2-40B4-BE49-F238E27FC236}">
                <a16:creationId xmlns:a16="http://schemas.microsoft.com/office/drawing/2014/main" id="{8E1E50E5-CD8A-0E41-2168-A849B6ACC4D1}"/>
              </a:ext>
            </a:extLst>
          </p:cNvPr>
          <p:cNvSpPr txBox="1">
            <a:spLocks noChangeArrowheads="1"/>
          </p:cNvSpPr>
          <p:nvPr/>
        </p:nvSpPr>
        <p:spPr bwMode="auto">
          <a:xfrm rot="5400000" flipV="1">
            <a:off x="7775575" y="946150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dirty="0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11" name="Rectangle 38">
            <a:extLst>
              <a:ext uri="{FF2B5EF4-FFF2-40B4-BE49-F238E27FC236}">
                <a16:creationId xmlns:a16="http://schemas.microsoft.com/office/drawing/2014/main" id="{0616A8F4-7501-5F3C-C138-642477C8D6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1775" y="404813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2"/>
                </a:solidFill>
                <a:latin typeface="Humnst777 BT" pitchFamily="34" charset="0"/>
              </a:rPr>
              <a:t>INE – Código de conduta </a:t>
            </a:r>
          </a:p>
        </p:txBody>
      </p:sp>
      <p:sp>
        <p:nvSpPr>
          <p:cNvPr id="18" name="Text Box 13">
            <a:extLst>
              <a:ext uri="{FF2B5EF4-FFF2-40B4-BE49-F238E27FC236}">
                <a16:creationId xmlns:a16="http://schemas.microsoft.com/office/drawing/2014/main" id="{D5B067E2-DB2D-C35A-0046-D3FDC94059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16999" y="6276920"/>
            <a:ext cx="40315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chemeClr val="bg2"/>
                </a:solidFill>
                <a:latin typeface="Humnst777 BT" pitchFamily="34" charset="0"/>
              </a:rPr>
              <a:t>01</a:t>
            </a:r>
          </a:p>
        </p:txBody>
      </p:sp>
      <p:sp>
        <p:nvSpPr>
          <p:cNvPr id="9" name="Text Box 376">
            <a:extLst>
              <a:ext uri="{FF2B5EF4-FFF2-40B4-BE49-F238E27FC236}">
                <a16:creationId xmlns:a16="http://schemas.microsoft.com/office/drawing/2014/main" id="{1D6781EA-E887-70A6-C3B4-278248983B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0320" y="2133600"/>
            <a:ext cx="8136136" cy="41652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57200" indent="-4572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+mj-lt"/>
              <a:buAutoNum type="arabicPeriod"/>
            </a:pP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 </a:t>
            </a:r>
            <a:r>
              <a:rPr lang="pt-PT" sz="2200" b="1" dirty="0">
                <a:solidFill>
                  <a:schemeClr val="tx1"/>
                </a:solidFill>
                <a:latin typeface="Humnst777 BT" pitchFamily="34" charset="0"/>
              </a:rPr>
              <a:t>Independência profissional</a:t>
            </a:r>
          </a:p>
          <a:p>
            <a:pPr marL="914400" lvl="1" indent="-4572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+mj-lt"/>
              <a:buAutoNum type="alphaUcPeriod"/>
            </a:pP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 </a:t>
            </a:r>
            <a:r>
              <a:rPr lang="pt-PT" sz="2200" b="1" dirty="0">
                <a:solidFill>
                  <a:schemeClr val="tx1"/>
                </a:solidFill>
                <a:latin typeface="Humnst777 BT" pitchFamily="34" charset="0"/>
              </a:rPr>
              <a:t>Coordenação e cooperação</a:t>
            </a:r>
          </a:p>
          <a:p>
            <a:pPr marL="457200" indent="-4572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+mj-lt"/>
              <a:buAutoNum type="arabicPeriod"/>
            </a:pP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 Mandato para recolha de dados e acesso aos dados</a:t>
            </a:r>
          </a:p>
          <a:p>
            <a:pPr marL="457200" indent="-4572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+mj-lt"/>
              <a:buAutoNum type="arabicPeriod"/>
            </a:pP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 Adequação de recursos</a:t>
            </a:r>
          </a:p>
          <a:p>
            <a:pPr marL="457200" indent="-4572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+mj-lt"/>
              <a:buAutoNum type="arabicPeriod"/>
            </a:pP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 Compromisso com a qualidade</a:t>
            </a:r>
          </a:p>
          <a:p>
            <a:pPr marL="457200" indent="-4572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+mj-lt"/>
              <a:buAutoNum type="arabicPeriod"/>
            </a:pP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 </a:t>
            </a:r>
            <a:r>
              <a:rPr lang="pt-PT" sz="2200" b="1" dirty="0">
                <a:solidFill>
                  <a:schemeClr val="tx1"/>
                </a:solidFill>
                <a:latin typeface="Humnst777 BT" pitchFamily="34" charset="0"/>
              </a:rPr>
              <a:t>Confidencialidade estatística e proteção dos dados</a:t>
            </a:r>
          </a:p>
          <a:p>
            <a:pPr marL="457200" indent="-4572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+mj-lt"/>
              <a:buAutoNum type="arabicPeriod"/>
            </a:pP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 </a:t>
            </a:r>
            <a:r>
              <a:rPr lang="pt-PT" sz="2200" b="1" dirty="0">
                <a:solidFill>
                  <a:schemeClr val="tx1"/>
                </a:solidFill>
                <a:latin typeface="Humnst777 BT" pitchFamily="34" charset="0"/>
              </a:rPr>
              <a:t>Imparcialidade e objetividade</a:t>
            </a:r>
          </a:p>
          <a:p>
            <a:pPr marL="457200" indent="-4572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+mj-lt"/>
              <a:buAutoNum type="arabicPeriod"/>
            </a:pPr>
            <a:endParaRPr lang="pt-PT" sz="2200" dirty="0">
              <a:solidFill>
                <a:schemeClr val="tx1"/>
              </a:solidFill>
              <a:latin typeface="Humnst777 BT" pitchFamily="34" charset="0"/>
            </a:endParaRPr>
          </a:p>
          <a:p>
            <a:pPr algn="r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</a:pP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16 de Novembro 2017 (CSEE)</a:t>
            </a:r>
          </a:p>
        </p:txBody>
      </p:sp>
      <p:sp>
        <p:nvSpPr>
          <p:cNvPr id="2" name="Text Box 376">
            <a:extLst>
              <a:ext uri="{FF2B5EF4-FFF2-40B4-BE49-F238E27FC236}">
                <a16:creationId xmlns:a16="http://schemas.microsoft.com/office/drawing/2014/main" id="{BA2345B3-FEE9-7577-C735-3F18512532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568" y="1484784"/>
            <a:ext cx="770572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pt-PT" sz="2800" b="1" dirty="0">
                <a:solidFill>
                  <a:srgbClr val="CC301F"/>
                </a:solidFill>
              </a:rPr>
              <a:t>»</a:t>
            </a:r>
            <a:r>
              <a:rPr lang="pt-PT" sz="2800" dirty="0">
                <a:solidFill>
                  <a:schemeClr val="bg2"/>
                </a:solidFill>
                <a:latin typeface="Humnst777 BT" pitchFamily="34" charset="0"/>
              </a:rPr>
              <a:t> Enquadramento institucional (1-6/15)</a:t>
            </a:r>
          </a:p>
        </p:txBody>
      </p:sp>
    </p:spTree>
    <p:extLst>
      <p:ext uri="{BB962C8B-B14F-4D97-AF65-F5344CB8AC3E}">
        <p14:creationId xmlns:p14="http://schemas.microsoft.com/office/powerpoint/2010/main" val="25475615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9"/>
          <p:cNvSpPr txBox="1">
            <a:spLocks noChangeArrowheads="1"/>
          </p:cNvSpPr>
          <p:nvPr/>
        </p:nvSpPr>
        <p:spPr bwMode="auto">
          <a:xfrm rot="5400000" flipV="1">
            <a:off x="7775575" y="946150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dirty="0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11" name="Rectangle 38"/>
          <p:cNvSpPr>
            <a:spLocks noChangeArrowheads="1"/>
          </p:cNvSpPr>
          <p:nvPr/>
        </p:nvSpPr>
        <p:spPr bwMode="auto">
          <a:xfrm>
            <a:off x="2771775" y="404813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2"/>
                </a:solidFill>
                <a:latin typeface="Humnst777 BT" pitchFamily="34" charset="0"/>
              </a:rPr>
              <a:t>INE – Código de conduta</a:t>
            </a:r>
          </a:p>
        </p:txBody>
      </p:sp>
      <p:sp>
        <p:nvSpPr>
          <p:cNvPr id="18" name="Text Box 13"/>
          <p:cNvSpPr txBox="1">
            <a:spLocks noChangeArrowheads="1"/>
          </p:cNvSpPr>
          <p:nvPr/>
        </p:nvSpPr>
        <p:spPr bwMode="auto">
          <a:xfrm>
            <a:off x="8416999" y="6276920"/>
            <a:ext cx="40315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chemeClr val="bg2"/>
                </a:solidFill>
                <a:latin typeface="Humnst777 BT" pitchFamily="34" charset="0"/>
              </a:rPr>
              <a:t>02</a:t>
            </a:r>
          </a:p>
        </p:txBody>
      </p:sp>
      <p:sp>
        <p:nvSpPr>
          <p:cNvPr id="9" name="Text Box 376"/>
          <p:cNvSpPr txBox="1">
            <a:spLocks noChangeArrowheads="1"/>
          </p:cNvSpPr>
          <p:nvPr/>
        </p:nvSpPr>
        <p:spPr bwMode="auto">
          <a:xfrm>
            <a:off x="540320" y="2133600"/>
            <a:ext cx="8136136" cy="41652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57200" indent="-4572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+mj-lt"/>
              <a:buAutoNum type="arabicPeriod" startAt="7"/>
            </a:pP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 </a:t>
            </a:r>
            <a:r>
              <a:rPr lang="pt-PT" sz="2200" b="1" dirty="0">
                <a:solidFill>
                  <a:schemeClr val="tx1"/>
                </a:solidFill>
                <a:latin typeface="Humnst777 BT" pitchFamily="34" charset="0"/>
              </a:rPr>
              <a:t>Metodologia sólida</a:t>
            </a:r>
          </a:p>
          <a:p>
            <a:pPr marL="457200" indent="-4572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+mj-lt"/>
              <a:buAutoNum type="arabicPeriod" startAt="7"/>
            </a:pP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 Procedimentos Estatísticos Apropriados</a:t>
            </a:r>
          </a:p>
          <a:p>
            <a:pPr marL="457200" indent="-4572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+mj-lt"/>
              <a:buAutoNum type="arabicPeriod" startAt="7"/>
            </a:pP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 Carga não excessiva sobre os respondentes</a:t>
            </a:r>
          </a:p>
          <a:p>
            <a:pPr marL="457200" indent="-4572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+mj-lt"/>
              <a:buAutoNum type="arabicPeriod" startAt="7"/>
            </a:pP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 Eficácia na utilização dos recursos</a:t>
            </a:r>
          </a:p>
          <a:p>
            <a:pPr marL="457200" indent="-4572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+mj-lt"/>
              <a:buAutoNum type="arabicPeriod" startAt="7"/>
            </a:pPr>
            <a:endParaRPr lang="pt-PT" sz="2200" dirty="0">
              <a:solidFill>
                <a:schemeClr val="tx1"/>
              </a:solidFill>
              <a:latin typeface="Humnst777 BT" pitchFamily="34" charset="0"/>
            </a:endParaRPr>
          </a:p>
          <a:p>
            <a:pPr marL="457200" indent="-4572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+mj-lt"/>
              <a:buAutoNum type="arabicPeriod" startAt="7"/>
            </a:pPr>
            <a:endParaRPr lang="pt-PT" sz="2200" dirty="0">
              <a:solidFill>
                <a:schemeClr val="tx1"/>
              </a:solidFill>
              <a:latin typeface="Humnst777 BT" pitchFamily="34" charset="0"/>
            </a:endParaRPr>
          </a:p>
          <a:p>
            <a:pPr marL="457200" indent="-4572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+mj-lt"/>
              <a:buAutoNum type="arabicPeriod" startAt="7"/>
            </a:pPr>
            <a:endParaRPr lang="pt-PT" sz="2200" dirty="0">
              <a:solidFill>
                <a:schemeClr val="tx1"/>
              </a:solidFill>
              <a:latin typeface="Humnst777 BT" pitchFamily="34" charset="0"/>
            </a:endParaRPr>
          </a:p>
          <a:p>
            <a:pPr marL="457200" indent="-4572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+mj-lt"/>
              <a:buAutoNum type="arabicPeriod" startAt="7"/>
            </a:pPr>
            <a:endParaRPr lang="pt-PT" sz="2200" dirty="0">
              <a:solidFill>
                <a:schemeClr val="tx1"/>
              </a:solidFill>
              <a:latin typeface="Humnst777 BT" pitchFamily="34" charset="0"/>
            </a:endParaRPr>
          </a:p>
          <a:p>
            <a:pPr algn="r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</a:pP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16 de Novembro 2017 (CSEE)</a:t>
            </a:r>
          </a:p>
        </p:txBody>
      </p:sp>
      <p:sp>
        <p:nvSpPr>
          <p:cNvPr id="2" name="Text Box 376">
            <a:extLst>
              <a:ext uri="{FF2B5EF4-FFF2-40B4-BE49-F238E27FC236}">
                <a16:creationId xmlns:a16="http://schemas.microsoft.com/office/drawing/2014/main" id="{A18323B3-6A61-2441-0B51-4911F24E56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568" y="1484784"/>
            <a:ext cx="770572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pt-PT" sz="2800" b="1" dirty="0">
                <a:solidFill>
                  <a:srgbClr val="CC301F"/>
                </a:solidFill>
              </a:rPr>
              <a:t>»</a:t>
            </a:r>
            <a:r>
              <a:rPr lang="pt-PT" sz="2800" dirty="0">
                <a:solidFill>
                  <a:schemeClr val="bg2"/>
                </a:solidFill>
                <a:latin typeface="Humnst777 BT" pitchFamily="34" charset="0"/>
              </a:rPr>
              <a:t> Processos estatísticos (7-10/16)</a:t>
            </a:r>
          </a:p>
        </p:txBody>
      </p:sp>
    </p:spTree>
    <p:extLst>
      <p:ext uri="{BB962C8B-B14F-4D97-AF65-F5344CB8AC3E}">
        <p14:creationId xmlns:p14="http://schemas.microsoft.com/office/powerpoint/2010/main" val="31861881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4CA2D1-81C4-C970-8DCE-375C94A451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9">
            <a:extLst>
              <a:ext uri="{FF2B5EF4-FFF2-40B4-BE49-F238E27FC236}">
                <a16:creationId xmlns:a16="http://schemas.microsoft.com/office/drawing/2014/main" id="{89E84E09-791A-0C3D-0D68-9F85EB7CA589}"/>
              </a:ext>
            </a:extLst>
          </p:cNvPr>
          <p:cNvSpPr txBox="1">
            <a:spLocks noChangeArrowheads="1"/>
          </p:cNvSpPr>
          <p:nvPr/>
        </p:nvSpPr>
        <p:spPr bwMode="auto">
          <a:xfrm rot="5400000" flipV="1">
            <a:off x="7775575" y="946150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dirty="0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11" name="Rectangle 38">
            <a:extLst>
              <a:ext uri="{FF2B5EF4-FFF2-40B4-BE49-F238E27FC236}">
                <a16:creationId xmlns:a16="http://schemas.microsoft.com/office/drawing/2014/main" id="{E048EB5D-8D27-A1D4-62F7-C6CD778B8E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1775" y="404813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2"/>
                </a:solidFill>
                <a:latin typeface="Humnst777 BT" pitchFamily="34" charset="0"/>
              </a:rPr>
              <a:t>INE – Código de conduta</a:t>
            </a:r>
          </a:p>
        </p:txBody>
      </p:sp>
      <p:sp>
        <p:nvSpPr>
          <p:cNvPr id="18" name="Text Box 13">
            <a:extLst>
              <a:ext uri="{FF2B5EF4-FFF2-40B4-BE49-F238E27FC236}">
                <a16:creationId xmlns:a16="http://schemas.microsoft.com/office/drawing/2014/main" id="{9516877A-AF61-3CC9-364B-9EBC7FE8A5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16999" y="6276920"/>
            <a:ext cx="40315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chemeClr val="bg2"/>
                </a:solidFill>
                <a:latin typeface="Humnst777 BT" pitchFamily="34" charset="0"/>
              </a:rPr>
              <a:t>03</a:t>
            </a:r>
          </a:p>
        </p:txBody>
      </p:sp>
      <p:sp>
        <p:nvSpPr>
          <p:cNvPr id="9" name="Text Box 376">
            <a:extLst>
              <a:ext uri="{FF2B5EF4-FFF2-40B4-BE49-F238E27FC236}">
                <a16:creationId xmlns:a16="http://schemas.microsoft.com/office/drawing/2014/main" id="{AAA37E85-2C6F-095E-F716-ACB81A98E9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0320" y="2133600"/>
            <a:ext cx="8136136" cy="41652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57200" indent="-4572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+mj-lt"/>
              <a:buAutoNum type="arabicPeriod" startAt="11"/>
            </a:pP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 </a:t>
            </a:r>
            <a:r>
              <a:rPr lang="pt-PT" sz="2200" b="1" dirty="0">
                <a:solidFill>
                  <a:schemeClr val="tx1"/>
                </a:solidFill>
                <a:latin typeface="Humnst777 BT" pitchFamily="34" charset="0"/>
              </a:rPr>
              <a:t>Relevância</a:t>
            </a:r>
          </a:p>
          <a:p>
            <a:pPr marL="457200" indent="-4572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+mj-lt"/>
              <a:buAutoNum type="arabicPeriod" startAt="11"/>
            </a:pP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 </a:t>
            </a:r>
            <a:r>
              <a:rPr lang="pt-PT" sz="2200" b="1" dirty="0">
                <a:solidFill>
                  <a:schemeClr val="tx1"/>
                </a:solidFill>
                <a:latin typeface="Humnst777 BT" pitchFamily="34" charset="0"/>
              </a:rPr>
              <a:t>Precisão e fiabilidade</a:t>
            </a:r>
          </a:p>
          <a:p>
            <a:pPr marL="457200" indent="-4572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+mj-lt"/>
              <a:buAutoNum type="arabicPeriod" startAt="11"/>
            </a:pP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 Oportunidade e pontualidade</a:t>
            </a:r>
          </a:p>
          <a:p>
            <a:pPr marL="457200" indent="-4572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+mj-lt"/>
              <a:buAutoNum type="arabicPeriod" startAt="11"/>
            </a:pP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 Coerência e comparabilidade</a:t>
            </a:r>
          </a:p>
          <a:p>
            <a:pPr marL="457200" indent="-4572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+mj-lt"/>
              <a:buAutoNum type="arabicPeriod" startAt="11"/>
            </a:pP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 </a:t>
            </a:r>
            <a:r>
              <a:rPr lang="pt-PT" sz="2200" b="1" dirty="0">
                <a:solidFill>
                  <a:schemeClr val="tx1"/>
                </a:solidFill>
                <a:latin typeface="Humnst777 BT" pitchFamily="34" charset="0"/>
              </a:rPr>
              <a:t>Acessibilidade e clareza</a:t>
            </a:r>
          </a:p>
          <a:p>
            <a:pPr marL="457200" indent="-4572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+mj-lt"/>
              <a:buAutoNum type="arabicPeriod" startAt="11"/>
            </a:pPr>
            <a:endParaRPr lang="pt-PT" sz="2200" dirty="0">
              <a:solidFill>
                <a:schemeClr val="tx1"/>
              </a:solidFill>
              <a:latin typeface="Humnst777 BT" pitchFamily="34" charset="0"/>
            </a:endParaRPr>
          </a:p>
          <a:p>
            <a:pPr marL="457200" indent="-4572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+mj-lt"/>
              <a:buAutoNum type="arabicPeriod" startAt="11"/>
            </a:pPr>
            <a:endParaRPr lang="pt-PT" sz="2200" dirty="0">
              <a:solidFill>
                <a:schemeClr val="tx1"/>
              </a:solidFill>
              <a:latin typeface="Humnst777 BT" pitchFamily="34" charset="0"/>
            </a:endParaRPr>
          </a:p>
          <a:p>
            <a:pPr marL="457200" indent="-4572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+mj-lt"/>
              <a:buAutoNum type="arabicPeriod" startAt="11"/>
            </a:pPr>
            <a:endParaRPr lang="pt-PT" sz="2200" dirty="0">
              <a:solidFill>
                <a:schemeClr val="tx1"/>
              </a:solidFill>
              <a:latin typeface="Humnst777 BT" pitchFamily="34" charset="0"/>
            </a:endParaRPr>
          </a:p>
          <a:p>
            <a:pPr algn="r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</a:pP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16 de Novembro 2017 (CSEE)</a:t>
            </a:r>
          </a:p>
        </p:txBody>
      </p:sp>
      <p:sp>
        <p:nvSpPr>
          <p:cNvPr id="2" name="Text Box 376">
            <a:extLst>
              <a:ext uri="{FF2B5EF4-FFF2-40B4-BE49-F238E27FC236}">
                <a16:creationId xmlns:a16="http://schemas.microsoft.com/office/drawing/2014/main" id="{6C3AC6AD-2D1C-0D6F-C840-0604E3C744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568" y="1484784"/>
            <a:ext cx="770572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pt-PT" sz="2800" b="1" dirty="0">
                <a:solidFill>
                  <a:srgbClr val="CC301F"/>
                </a:solidFill>
              </a:rPr>
              <a:t>»</a:t>
            </a:r>
            <a:r>
              <a:rPr lang="pt-PT" sz="2800" dirty="0">
                <a:solidFill>
                  <a:schemeClr val="bg2"/>
                </a:solidFill>
                <a:latin typeface="Humnst777 BT" pitchFamily="34" charset="0"/>
              </a:rPr>
              <a:t> Produção estatística (11-15/15)</a:t>
            </a:r>
          </a:p>
        </p:txBody>
      </p:sp>
    </p:spTree>
    <p:extLst>
      <p:ext uri="{BB962C8B-B14F-4D97-AF65-F5344CB8AC3E}">
        <p14:creationId xmlns:p14="http://schemas.microsoft.com/office/powerpoint/2010/main" val="21890512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9D942F-75D4-C7E8-0A05-6F2F316A2C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9">
            <a:extLst>
              <a:ext uri="{FF2B5EF4-FFF2-40B4-BE49-F238E27FC236}">
                <a16:creationId xmlns:a16="http://schemas.microsoft.com/office/drawing/2014/main" id="{BBC4CFFE-B267-3EEE-DA7B-6067FC86030C}"/>
              </a:ext>
            </a:extLst>
          </p:cNvPr>
          <p:cNvSpPr txBox="1">
            <a:spLocks noChangeArrowheads="1"/>
          </p:cNvSpPr>
          <p:nvPr/>
        </p:nvSpPr>
        <p:spPr bwMode="auto">
          <a:xfrm rot="5400000" flipV="1">
            <a:off x="7775575" y="946150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dirty="0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11" name="Rectangle 38">
            <a:extLst>
              <a:ext uri="{FF2B5EF4-FFF2-40B4-BE49-F238E27FC236}">
                <a16:creationId xmlns:a16="http://schemas.microsoft.com/office/drawing/2014/main" id="{2F42C9FB-0485-996B-D570-99C899E0CB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1775" y="404813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2"/>
                </a:solidFill>
                <a:latin typeface="Humnst777 BT" pitchFamily="34" charset="0"/>
              </a:rPr>
              <a:t>OE</a:t>
            </a:r>
          </a:p>
        </p:txBody>
      </p:sp>
      <p:sp>
        <p:nvSpPr>
          <p:cNvPr id="13" name="Text Box 376">
            <a:extLst>
              <a:ext uri="{FF2B5EF4-FFF2-40B4-BE49-F238E27FC236}">
                <a16:creationId xmlns:a16="http://schemas.microsoft.com/office/drawing/2014/main" id="{1310924B-A3FD-B23E-8778-F0D4720F9C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568" y="1484784"/>
            <a:ext cx="770572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pt-PT" sz="2800" b="1" dirty="0">
                <a:solidFill>
                  <a:srgbClr val="CC301F"/>
                </a:solidFill>
              </a:rPr>
              <a:t>»</a:t>
            </a:r>
            <a:r>
              <a:rPr lang="pt-PT" sz="2800" dirty="0">
                <a:solidFill>
                  <a:schemeClr val="bg2"/>
                </a:solidFill>
                <a:latin typeface="Humnst777 BT" pitchFamily="34" charset="0"/>
              </a:rPr>
              <a:t> Fases da Operação Estatística</a:t>
            </a:r>
          </a:p>
        </p:txBody>
      </p:sp>
      <p:sp>
        <p:nvSpPr>
          <p:cNvPr id="18" name="Text Box 13">
            <a:extLst>
              <a:ext uri="{FF2B5EF4-FFF2-40B4-BE49-F238E27FC236}">
                <a16:creationId xmlns:a16="http://schemas.microsoft.com/office/drawing/2014/main" id="{008EAA2D-194A-EB14-C01C-33DF094429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16999" y="6276920"/>
            <a:ext cx="40315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chemeClr val="bg2"/>
                </a:solidFill>
                <a:latin typeface="Humnst777 BT" pitchFamily="34" charset="0"/>
              </a:rPr>
              <a:t>04</a:t>
            </a:r>
          </a:p>
        </p:txBody>
      </p:sp>
      <p:sp>
        <p:nvSpPr>
          <p:cNvPr id="9" name="Text Box 376">
            <a:extLst>
              <a:ext uri="{FF2B5EF4-FFF2-40B4-BE49-F238E27FC236}">
                <a16:creationId xmlns:a16="http://schemas.microsoft.com/office/drawing/2014/main" id="{B84C8DBF-503D-4436-EE9F-13C6D750CC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552" y="2132806"/>
            <a:ext cx="8136136" cy="13644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57200" indent="-4572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+mj-lt"/>
              <a:buAutoNum type="arabicPeriod"/>
            </a:pPr>
            <a:r>
              <a:rPr lang="pt-PT" sz="2200" b="1" dirty="0">
                <a:solidFill>
                  <a:schemeClr val="tx1"/>
                </a:solidFill>
                <a:latin typeface="Humnst777 BT" pitchFamily="34" charset="0"/>
              </a:rPr>
              <a:t>Concepção</a:t>
            </a:r>
          </a:p>
          <a:p>
            <a:pPr marL="457200" indent="-4572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+mj-lt"/>
              <a:buAutoNum type="arabicPeriod"/>
            </a:pPr>
            <a:r>
              <a:rPr lang="pt-PT" sz="2200" b="1" dirty="0">
                <a:solidFill>
                  <a:schemeClr val="tx1"/>
                </a:solidFill>
                <a:latin typeface="Humnst777 BT" pitchFamily="34" charset="0"/>
              </a:rPr>
              <a:t>Operação</a:t>
            </a:r>
          </a:p>
          <a:p>
            <a:pPr marL="457200" indent="-4572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+mj-lt"/>
              <a:buAutoNum type="arabicPeriod"/>
            </a:pPr>
            <a:r>
              <a:rPr lang="pt-PT" sz="2200" b="1" dirty="0">
                <a:solidFill>
                  <a:schemeClr val="tx1"/>
                </a:solidFill>
                <a:latin typeface="Humnst777 BT" pitchFamily="34" charset="0"/>
              </a:rPr>
              <a:t>Difusão</a:t>
            </a:r>
            <a:endParaRPr lang="pt-BR" sz="2200" b="1" dirty="0">
              <a:solidFill>
                <a:schemeClr val="bg1">
                  <a:lumMod val="50000"/>
                </a:schemeClr>
              </a:solidFill>
              <a:latin typeface="Humnst777 BT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009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9"/>
          <p:cNvSpPr txBox="1">
            <a:spLocks noChangeArrowheads="1"/>
          </p:cNvSpPr>
          <p:nvPr/>
        </p:nvSpPr>
        <p:spPr bwMode="auto">
          <a:xfrm rot="5400000" flipV="1">
            <a:off x="7775575" y="946150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dirty="0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13" name="Text Box 376"/>
          <p:cNvSpPr txBox="1">
            <a:spLocks noChangeArrowheads="1"/>
          </p:cNvSpPr>
          <p:nvPr/>
        </p:nvSpPr>
        <p:spPr bwMode="auto">
          <a:xfrm>
            <a:off x="683568" y="1484784"/>
            <a:ext cx="770572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pt-PT" sz="2800" b="1" dirty="0">
                <a:solidFill>
                  <a:srgbClr val="CC301F"/>
                </a:solidFill>
              </a:rPr>
              <a:t>»</a:t>
            </a:r>
            <a:r>
              <a:rPr lang="pt-PT" sz="2800" dirty="0">
                <a:solidFill>
                  <a:schemeClr val="bg2"/>
                </a:solidFill>
                <a:latin typeface="Humnst777 BT" pitchFamily="34" charset="0"/>
              </a:rPr>
              <a:t> 1. Conceção</a:t>
            </a:r>
          </a:p>
        </p:txBody>
      </p:sp>
      <p:sp>
        <p:nvSpPr>
          <p:cNvPr id="18" name="Text Box 13"/>
          <p:cNvSpPr txBox="1">
            <a:spLocks noChangeArrowheads="1"/>
          </p:cNvSpPr>
          <p:nvPr/>
        </p:nvSpPr>
        <p:spPr bwMode="auto">
          <a:xfrm>
            <a:off x="8416999" y="6276920"/>
            <a:ext cx="40315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chemeClr val="bg2"/>
                </a:solidFill>
                <a:latin typeface="Humnst777 BT" pitchFamily="34" charset="0"/>
              </a:rPr>
              <a:t>05</a:t>
            </a:r>
          </a:p>
        </p:txBody>
      </p:sp>
      <p:sp>
        <p:nvSpPr>
          <p:cNvPr id="9" name="Text Box 376"/>
          <p:cNvSpPr txBox="1">
            <a:spLocks noChangeArrowheads="1"/>
          </p:cNvSpPr>
          <p:nvPr/>
        </p:nvSpPr>
        <p:spPr bwMode="auto">
          <a:xfrm>
            <a:off x="539552" y="2132806"/>
            <a:ext cx="8136136" cy="13644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</a:pPr>
            <a:r>
              <a:rPr lang="pt-PT" sz="2200" u="sng" dirty="0">
                <a:solidFill>
                  <a:schemeClr val="tx1"/>
                </a:solidFill>
                <a:latin typeface="Humnst777 BT" pitchFamily="34" charset="0"/>
              </a:rPr>
              <a:t>Objetivo</a:t>
            </a:r>
            <a:r>
              <a:rPr lang="pt-PT" sz="2200" b="1" dirty="0">
                <a:solidFill>
                  <a:schemeClr val="tx1"/>
                </a:solidFill>
                <a:latin typeface="Humnst777 BT" pitchFamily="34" charset="0"/>
              </a:rPr>
              <a:t> </a:t>
            </a: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Compreender a realidade a partir de dados.</a:t>
            </a:r>
          </a:p>
          <a:p>
            <a:pPr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</a:pPr>
            <a:r>
              <a:rPr lang="pt-PT" sz="2200" u="sng" dirty="0">
                <a:solidFill>
                  <a:schemeClr val="tx1"/>
                </a:solidFill>
                <a:latin typeface="Humnst777 BT" pitchFamily="34" charset="0"/>
              </a:rPr>
              <a:t>Tipo</a:t>
            </a:r>
            <a:r>
              <a:rPr lang="pt-PT" sz="2200" b="1" dirty="0">
                <a:solidFill>
                  <a:schemeClr val="tx1"/>
                </a:solidFill>
                <a:latin typeface="Humnst777 BT" pitchFamily="34" charset="0"/>
              </a:rPr>
              <a:t> </a:t>
            </a: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Recenseamento, Amostragem, Estudo estatístico.</a:t>
            </a:r>
            <a:r>
              <a:rPr lang="pt-PT" sz="2200" b="1" dirty="0">
                <a:solidFill>
                  <a:schemeClr val="tx1"/>
                </a:solidFill>
                <a:latin typeface="Humnst777 BT" pitchFamily="34" charset="0"/>
              </a:rPr>
              <a:t> </a:t>
            </a:r>
          </a:p>
          <a:p>
            <a:pPr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</a:pPr>
            <a:r>
              <a:rPr lang="pt-PT" sz="2200" u="sng" dirty="0">
                <a:solidFill>
                  <a:schemeClr val="tx1"/>
                </a:solidFill>
                <a:latin typeface="Humnst777 BT" pitchFamily="34" charset="0"/>
              </a:rPr>
              <a:t>Fonte</a:t>
            </a:r>
            <a:r>
              <a:rPr lang="pt-PT" sz="2200" b="1" dirty="0">
                <a:solidFill>
                  <a:schemeClr val="tx1"/>
                </a:solidFill>
                <a:latin typeface="Humnst777 BT" pitchFamily="34" charset="0"/>
              </a:rPr>
              <a:t> </a:t>
            </a: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Questionários, Dados administrativos.</a:t>
            </a:r>
            <a:endParaRPr lang="pt-BR" sz="2200" dirty="0">
              <a:solidFill>
                <a:schemeClr val="bg1">
                  <a:lumMod val="50000"/>
                </a:schemeClr>
              </a:solidFill>
              <a:latin typeface="Humnst777 BT" pitchFamily="34" charset="0"/>
            </a:endParaRPr>
          </a:p>
        </p:txBody>
      </p:sp>
      <p:sp>
        <p:nvSpPr>
          <p:cNvPr id="7" name="Rectangle 38"/>
          <p:cNvSpPr>
            <a:spLocks noChangeArrowheads="1"/>
          </p:cNvSpPr>
          <p:nvPr/>
        </p:nvSpPr>
        <p:spPr bwMode="auto">
          <a:xfrm>
            <a:off x="2771775" y="404813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2"/>
                </a:solidFill>
                <a:latin typeface="Humnst777 BT" pitchFamily="34" charset="0"/>
              </a:rPr>
              <a:t>OE/Conceção</a:t>
            </a:r>
          </a:p>
        </p:txBody>
      </p:sp>
    </p:spTree>
    <p:extLst>
      <p:ext uri="{BB962C8B-B14F-4D97-AF65-F5344CB8AC3E}">
        <p14:creationId xmlns:p14="http://schemas.microsoft.com/office/powerpoint/2010/main" val="28007709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9"/>
          <p:cNvSpPr txBox="1">
            <a:spLocks noChangeArrowheads="1"/>
          </p:cNvSpPr>
          <p:nvPr/>
        </p:nvSpPr>
        <p:spPr bwMode="auto">
          <a:xfrm rot="5400000" flipV="1">
            <a:off x="7775575" y="946150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dirty="0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13" name="Text Box 376"/>
          <p:cNvSpPr txBox="1">
            <a:spLocks noChangeArrowheads="1"/>
          </p:cNvSpPr>
          <p:nvPr/>
        </p:nvSpPr>
        <p:spPr bwMode="auto">
          <a:xfrm>
            <a:off x="683568" y="1484784"/>
            <a:ext cx="770572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pt-PT" sz="2800" b="1" dirty="0">
                <a:solidFill>
                  <a:srgbClr val="CC301F"/>
                </a:solidFill>
              </a:rPr>
              <a:t>»</a:t>
            </a:r>
            <a:r>
              <a:rPr lang="pt-PT" sz="2800" dirty="0">
                <a:solidFill>
                  <a:schemeClr val="bg2"/>
                </a:solidFill>
                <a:latin typeface="Humnst777 BT" pitchFamily="34" charset="0"/>
              </a:rPr>
              <a:t> 2. Operação</a:t>
            </a:r>
          </a:p>
        </p:txBody>
      </p:sp>
      <p:sp>
        <p:nvSpPr>
          <p:cNvPr id="18" name="Text Box 13"/>
          <p:cNvSpPr txBox="1">
            <a:spLocks noChangeArrowheads="1"/>
          </p:cNvSpPr>
          <p:nvPr/>
        </p:nvSpPr>
        <p:spPr bwMode="auto">
          <a:xfrm>
            <a:off x="8416999" y="6276920"/>
            <a:ext cx="40315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chemeClr val="bg2"/>
                </a:solidFill>
                <a:latin typeface="Humnst777 BT" pitchFamily="34" charset="0"/>
              </a:rPr>
              <a:t>06</a:t>
            </a:r>
          </a:p>
        </p:txBody>
      </p:sp>
      <p:sp>
        <p:nvSpPr>
          <p:cNvPr id="9" name="Text Box 376"/>
          <p:cNvSpPr txBox="1">
            <a:spLocks noChangeArrowheads="1"/>
          </p:cNvSpPr>
          <p:nvPr/>
        </p:nvSpPr>
        <p:spPr bwMode="auto">
          <a:xfrm>
            <a:off x="539552" y="2132806"/>
            <a:ext cx="8136136" cy="13644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57200" indent="-4572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+mj-lt"/>
              <a:buAutoNum type="arabicPeriod"/>
            </a:pPr>
            <a:r>
              <a:rPr lang="pt-PT" sz="2200" b="1" dirty="0">
                <a:solidFill>
                  <a:schemeClr val="tx1"/>
                </a:solidFill>
                <a:latin typeface="Humnst777 BT" pitchFamily="34" charset="0"/>
              </a:rPr>
              <a:t>Recolha: </a:t>
            </a: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Directa (Presencial, Telefónica, Web) ou Indirecta.</a:t>
            </a:r>
          </a:p>
          <a:p>
            <a:pPr marL="457200" indent="-4572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+mj-lt"/>
              <a:buAutoNum type="arabicPeriod"/>
            </a:pPr>
            <a:r>
              <a:rPr lang="pt-PT" sz="2200" b="1" dirty="0">
                <a:solidFill>
                  <a:schemeClr val="tx1"/>
                </a:solidFill>
                <a:latin typeface="Humnst777 BT" pitchFamily="34" charset="0"/>
              </a:rPr>
              <a:t>Tratamento: </a:t>
            </a: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Formatação, Validação, </a:t>
            </a:r>
            <a:r>
              <a:rPr lang="pt-PT" sz="2200" i="1" dirty="0" err="1">
                <a:solidFill>
                  <a:schemeClr val="tx1"/>
                </a:solidFill>
                <a:latin typeface="Humnst777 BT" pitchFamily="34" charset="0"/>
              </a:rPr>
              <a:t>Outliers</a:t>
            </a: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, Imputação.</a:t>
            </a:r>
            <a:r>
              <a:rPr lang="pt-PT" sz="2200" b="1" dirty="0">
                <a:solidFill>
                  <a:schemeClr val="tx1"/>
                </a:solidFill>
                <a:latin typeface="Humnst777 BT" pitchFamily="34" charset="0"/>
              </a:rPr>
              <a:t> </a:t>
            </a:r>
          </a:p>
          <a:p>
            <a:pPr marL="457200" indent="-4572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+mj-lt"/>
              <a:buAutoNum type="arabicPeriod"/>
            </a:pPr>
            <a:r>
              <a:rPr lang="pt-PT" sz="2200" b="1" dirty="0">
                <a:solidFill>
                  <a:schemeClr val="tx1"/>
                </a:solidFill>
                <a:latin typeface="Humnst777 BT" pitchFamily="34" charset="0"/>
              </a:rPr>
              <a:t>Análise: </a:t>
            </a: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Gráficos, Medidas descritivas, Modelos.</a:t>
            </a:r>
            <a:endParaRPr lang="pt-BR" sz="2200" dirty="0">
              <a:solidFill>
                <a:schemeClr val="bg1">
                  <a:lumMod val="50000"/>
                </a:schemeClr>
              </a:solidFill>
              <a:latin typeface="Humnst777 BT" pitchFamily="34" charset="0"/>
            </a:endParaRPr>
          </a:p>
        </p:txBody>
      </p:sp>
      <p:sp>
        <p:nvSpPr>
          <p:cNvPr id="7" name="Rectangle 38"/>
          <p:cNvSpPr>
            <a:spLocks noChangeArrowheads="1"/>
          </p:cNvSpPr>
          <p:nvPr/>
        </p:nvSpPr>
        <p:spPr bwMode="auto">
          <a:xfrm>
            <a:off x="2771775" y="404813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2"/>
                </a:solidFill>
                <a:latin typeface="Humnst777 BT" pitchFamily="34" charset="0"/>
              </a:rPr>
              <a:t>OE/Operação</a:t>
            </a:r>
          </a:p>
        </p:txBody>
      </p:sp>
    </p:spTree>
    <p:extLst>
      <p:ext uri="{BB962C8B-B14F-4D97-AF65-F5344CB8AC3E}">
        <p14:creationId xmlns:p14="http://schemas.microsoft.com/office/powerpoint/2010/main" val="12186551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9"/>
          <p:cNvSpPr txBox="1">
            <a:spLocks noChangeArrowheads="1"/>
          </p:cNvSpPr>
          <p:nvPr/>
        </p:nvSpPr>
        <p:spPr bwMode="auto">
          <a:xfrm rot="5400000" flipV="1">
            <a:off x="7775575" y="946150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dirty="0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13" name="Text Box 376"/>
          <p:cNvSpPr txBox="1">
            <a:spLocks noChangeArrowheads="1"/>
          </p:cNvSpPr>
          <p:nvPr/>
        </p:nvSpPr>
        <p:spPr bwMode="auto">
          <a:xfrm>
            <a:off x="683568" y="1484784"/>
            <a:ext cx="770572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pt-PT" sz="2800" b="1" dirty="0">
                <a:solidFill>
                  <a:srgbClr val="CC301F"/>
                </a:solidFill>
              </a:rPr>
              <a:t>»</a:t>
            </a:r>
            <a:r>
              <a:rPr lang="pt-PT" sz="2800" dirty="0">
                <a:solidFill>
                  <a:schemeClr val="bg2"/>
                </a:solidFill>
                <a:latin typeface="Humnst777 BT" pitchFamily="34" charset="0"/>
              </a:rPr>
              <a:t> 2.3. Análise</a:t>
            </a:r>
          </a:p>
        </p:txBody>
      </p:sp>
      <p:sp>
        <p:nvSpPr>
          <p:cNvPr id="18" name="Text Box 13"/>
          <p:cNvSpPr txBox="1">
            <a:spLocks noChangeArrowheads="1"/>
          </p:cNvSpPr>
          <p:nvPr/>
        </p:nvSpPr>
        <p:spPr bwMode="auto">
          <a:xfrm>
            <a:off x="8416999" y="6276920"/>
            <a:ext cx="40315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chemeClr val="bg2"/>
                </a:solidFill>
                <a:latin typeface="Humnst777 BT" pitchFamily="34" charset="0"/>
              </a:rPr>
              <a:t>07</a:t>
            </a:r>
          </a:p>
        </p:txBody>
      </p:sp>
      <p:sp>
        <p:nvSpPr>
          <p:cNvPr id="9" name="Text Box 376"/>
          <p:cNvSpPr txBox="1">
            <a:spLocks noChangeArrowheads="1"/>
          </p:cNvSpPr>
          <p:nvPr/>
        </p:nvSpPr>
        <p:spPr bwMode="auto">
          <a:xfrm>
            <a:off x="539552" y="2132806"/>
            <a:ext cx="8136136" cy="13644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</a:pPr>
            <a:r>
              <a:rPr lang="pt-PT" sz="2200" u="sng" dirty="0">
                <a:solidFill>
                  <a:schemeClr val="tx1"/>
                </a:solidFill>
                <a:latin typeface="Humnst777 BT" pitchFamily="34" charset="0"/>
              </a:rPr>
              <a:t>Gráficos</a:t>
            </a:r>
            <a:r>
              <a:rPr lang="pt-PT" sz="2200" b="1" dirty="0">
                <a:solidFill>
                  <a:schemeClr val="tx1"/>
                </a:solidFill>
                <a:latin typeface="Humnst777 BT" pitchFamily="34" charset="0"/>
              </a:rPr>
              <a:t> </a:t>
            </a:r>
            <a:r>
              <a:rPr lang="pt-PT" sz="2200" i="1" dirty="0">
                <a:solidFill>
                  <a:schemeClr val="tx1"/>
                </a:solidFill>
                <a:latin typeface="Humnst777 BT" pitchFamily="34" charset="0"/>
              </a:rPr>
              <a:t>Circular</a:t>
            </a: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, </a:t>
            </a:r>
            <a:r>
              <a:rPr lang="pt-PT" sz="2200" i="1" dirty="0">
                <a:solidFill>
                  <a:schemeClr val="tx1"/>
                </a:solidFill>
                <a:latin typeface="Humnst777 BT" pitchFamily="34" charset="0"/>
              </a:rPr>
              <a:t>Barras</a:t>
            </a: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, </a:t>
            </a:r>
            <a:r>
              <a:rPr lang="pt-PT" sz="2200" i="1" dirty="0">
                <a:solidFill>
                  <a:schemeClr val="tx1"/>
                </a:solidFill>
                <a:latin typeface="Humnst777 BT" pitchFamily="34" charset="0"/>
              </a:rPr>
              <a:t>Extremos-e-quartis</a:t>
            </a: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, </a:t>
            </a:r>
            <a:r>
              <a:rPr lang="pt-PT" sz="2200" i="1" dirty="0">
                <a:solidFill>
                  <a:schemeClr val="tx1"/>
                </a:solidFill>
                <a:latin typeface="Humnst777 BT" pitchFamily="34" charset="0"/>
              </a:rPr>
              <a:t>Histograma</a:t>
            </a: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.</a:t>
            </a:r>
          </a:p>
          <a:p>
            <a:pPr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</a:pPr>
            <a:r>
              <a:rPr lang="pt-PT" sz="2200" u="sng" dirty="0">
                <a:solidFill>
                  <a:schemeClr val="tx1"/>
                </a:solidFill>
                <a:latin typeface="Humnst777 BT" pitchFamily="34" charset="0"/>
              </a:rPr>
              <a:t>Medidas descritivas</a:t>
            </a: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 Tendência central, Dispersão.</a:t>
            </a:r>
            <a:r>
              <a:rPr lang="pt-PT" sz="2200" b="1" dirty="0">
                <a:solidFill>
                  <a:schemeClr val="tx1"/>
                </a:solidFill>
                <a:latin typeface="Humnst777 BT" pitchFamily="34" charset="0"/>
              </a:rPr>
              <a:t> </a:t>
            </a:r>
          </a:p>
          <a:p>
            <a:pPr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</a:pPr>
            <a:r>
              <a:rPr lang="pt-PT" sz="2200" u="sng" dirty="0">
                <a:solidFill>
                  <a:schemeClr val="tx1"/>
                </a:solidFill>
                <a:latin typeface="Humnst777 BT" pitchFamily="34" charset="0"/>
              </a:rPr>
              <a:t>Modelos</a:t>
            </a:r>
            <a:r>
              <a:rPr lang="pt-PT" sz="2200" b="1" dirty="0">
                <a:solidFill>
                  <a:schemeClr val="tx1"/>
                </a:solidFill>
                <a:latin typeface="Humnst777 BT" pitchFamily="34" charset="0"/>
              </a:rPr>
              <a:t> </a:t>
            </a: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Regressão linear, Regressão logística.</a:t>
            </a:r>
            <a:endParaRPr lang="pt-BR" sz="2200" dirty="0">
              <a:solidFill>
                <a:schemeClr val="bg1">
                  <a:lumMod val="50000"/>
                </a:schemeClr>
              </a:solidFill>
              <a:latin typeface="Humnst777 BT" pitchFamily="34" charset="0"/>
            </a:endParaRPr>
          </a:p>
        </p:txBody>
      </p:sp>
      <p:sp>
        <p:nvSpPr>
          <p:cNvPr id="7" name="Rectangle 38"/>
          <p:cNvSpPr>
            <a:spLocks noChangeArrowheads="1"/>
          </p:cNvSpPr>
          <p:nvPr/>
        </p:nvSpPr>
        <p:spPr bwMode="auto">
          <a:xfrm>
            <a:off x="2771775" y="404813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2"/>
                </a:solidFill>
                <a:latin typeface="Humnst777 BT" pitchFamily="34" charset="0"/>
              </a:rPr>
              <a:t>OE/Operação/Análise</a:t>
            </a:r>
          </a:p>
        </p:txBody>
      </p:sp>
    </p:spTree>
    <p:extLst>
      <p:ext uri="{BB962C8B-B14F-4D97-AF65-F5344CB8AC3E}">
        <p14:creationId xmlns:p14="http://schemas.microsoft.com/office/powerpoint/2010/main" val="29346130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9"/>
          <p:cNvSpPr txBox="1">
            <a:spLocks noChangeArrowheads="1"/>
          </p:cNvSpPr>
          <p:nvPr/>
        </p:nvSpPr>
        <p:spPr bwMode="auto">
          <a:xfrm rot="5400000" flipV="1">
            <a:off x="7775575" y="946150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dirty="0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13" name="Text Box 376"/>
          <p:cNvSpPr txBox="1">
            <a:spLocks noChangeArrowheads="1"/>
          </p:cNvSpPr>
          <p:nvPr/>
        </p:nvSpPr>
        <p:spPr bwMode="auto">
          <a:xfrm>
            <a:off x="683568" y="1484784"/>
            <a:ext cx="770572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pt-PT" sz="2800" b="1" dirty="0">
                <a:solidFill>
                  <a:srgbClr val="CC301F"/>
                </a:solidFill>
              </a:rPr>
              <a:t>»</a:t>
            </a:r>
            <a:r>
              <a:rPr lang="pt-PT" sz="2800" dirty="0">
                <a:solidFill>
                  <a:schemeClr val="bg2"/>
                </a:solidFill>
                <a:latin typeface="Humnst777 BT" pitchFamily="34" charset="0"/>
              </a:rPr>
              <a:t> 3. Difusão</a:t>
            </a:r>
          </a:p>
        </p:txBody>
      </p:sp>
      <p:sp>
        <p:nvSpPr>
          <p:cNvPr id="18" name="Text Box 13"/>
          <p:cNvSpPr txBox="1">
            <a:spLocks noChangeArrowheads="1"/>
          </p:cNvSpPr>
          <p:nvPr/>
        </p:nvSpPr>
        <p:spPr bwMode="auto">
          <a:xfrm>
            <a:off x="8416999" y="6276920"/>
            <a:ext cx="40315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chemeClr val="bg2"/>
                </a:solidFill>
                <a:latin typeface="Humnst777 BT" pitchFamily="34" charset="0"/>
              </a:rPr>
              <a:t>08</a:t>
            </a:r>
          </a:p>
        </p:txBody>
      </p:sp>
      <p:sp>
        <p:nvSpPr>
          <p:cNvPr id="9" name="Text Box 376"/>
          <p:cNvSpPr txBox="1">
            <a:spLocks noChangeArrowheads="1"/>
          </p:cNvSpPr>
          <p:nvPr/>
        </p:nvSpPr>
        <p:spPr bwMode="auto">
          <a:xfrm>
            <a:off x="539552" y="2132806"/>
            <a:ext cx="8136136" cy="22980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</a:pPr>
            <a:r>
              <a:rPr lang="pt-PT" sz="2200" u="sng" dirty="0">
                <a:solidFill>
                  <a:schemeClr val="tx1"/>
                </a:solidFill>
                <a:latin typeface="Humnst777 BT" pitchFamily="34" charset="0"/>
              </a:rPr>
              <a:t>Indicadores</a:t>
            </a: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 Resultados dos inquéritos, para público em geral.</a:t>
            </a:r>
          </a:p>
          <a:p>
            <a:pPr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</a:pPr>
            <a:r>
              <a:rPr lang="pt-PT" sz="2200" u="sng" dirty="0" err="1">
                <a:solidFill>
                  <a:schemeClr val="tx1"/>
                </a:solidFill>
                <a:latin typeface="Humnst777 BT" pitchFamily="34" charset="0"/>
              </a:rPr>
              <a:t>Microdados</a:t>
            </a: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 Base de dados dos inquéritos, para investigadores. </a:t>
            </a:r>
            <a:endParaRPr lang="pt-PT" sz="2200" u="sng" dirty="0">
              <a:solidFill>
                <a:schemeClr val="tx1"/>
              </a:solidFill>
              <a:latin typeface="Humnst777 BT" pitchFamily="34" charset="0"/>
            </a:endParaRPr>
          </a:p>
          <a:p>
            <a:pPr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</a:pPr>
            <a:r>
              <a:rPr lang="pt-PT" sz="2200" u="sng" dirty="0">
                <a:solidFill>
                  <a:schemeClr val="tx1"/>
                </a:solidFill>
                <a:latin typeface="Humnst777 BT" pitchFamily="34" charset="0"/>
              </a:rPr>
              <a:t>Destaques</a:t>
            </a: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 </a:t>
            </a:r>
            <a:r>
              <a:rPr lang="pt-PT" sz="2200" i="1" dirty="0" err="1">
                <a:solidFill>
                  <a:schemeClr val="tx1"/>
                </a:solidFill>
                <a:latin typeface="Humnst777 BT" pitchFamily="34" charset="0"/>
              </a:rPr>
              <a:t>Press</a:t>
            </a:r>
            <a:r>
              <a:rPr lang="pt-PT" sz="2200" i="1" dirty="0">
                <a:solidFill>
                  <a:schemeClr val="tx1"/>
                </a:solidFill>
                <a:latin typeface="Humnst777 BT" pitchFamily="34" charset="0"/>
              </a:rPr>
              <a:t> </a:t>
            </a:r>
            <a:r>
              <a:rPr lang="pt-PT" sz="2200" i="1" dirty="0" err="1">
                <a:solidFill>
                  <a:schemeClr val="tx1"/>
                </a:solidFill>
                <a:latin typeface="Humnst777 BT" pitchFamily="34" charset="0"/>
              </a:rPr>
              <a:t>release</a:t>
            </a: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 curta, harmonizada, calendarizada.</a:t>
            </a:r>
            <a:endParaRPr lang="pt-BR" sz="2200" dirty="0">
              <a:solidFill>
                <a:schemeClr val="bg1">
                  <a:lumMod val="50000"/>
                </a:schemeClr>
              </a:solidFill>
              <a:latin typeface="Humnst777 BT" pitchFamily="34" charset="0"/>
            </a:endParaRPr>
          </a:p>
          <a:p>
            <a:pPr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</a:pPr>
            <a:r>
              <a:rPr lang="pt-PT" sz="2200" u="sng" dirty="0">
                <a:solidFill>
                  <a:schemeClr val="tx1"/>
                </a:solidFill>
                <a:latin typeface="Humnst777 BT" pitchFamily="34" charset="0"/>
              </a:rPr>
              <a:t>Publicações/Boletins</a:t>
            </a: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 Documento longo, calendarizado.</a:t>
            </a:r>
            <a:endParaRPr lang="pt-PT" sz="2200" u="sng" dirty="0">
              <a:solidFill>
                <a:schemeClr val="tx1"/>
              </a:solidFill>
              <a:latin typeface="Humnst777 BT" pitchFamily="34" charset="0"/>
            </a:endParaRPr>
          </a:p>
          <a:p>
            <a:pPr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</a:pPr>
            <a:r>
              <a:rPr lang="pt-PT" sz="2200" u="sng" dirty="0">
                <a:solidFill>
                  <a:schemeClr val="tx1"/>
                </a:solidFill>
                <a:latin typeface="Humnst777 BT" pitchFamily="34" charset="0"/>
              </a:rPr>
              <a:t>Estudos</a:t>
            </a: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 Documento longo, não-calendarizado.</a:t>
            </a:r>
          </a:p>
        </p:txBody>
      </p:sp>
      <p:sp>
        <p:nvSpPr>
          <p:cNvPr id="7" name="Rectangle 38"/>
          <p:cNvSpPr>
            <a:spLocks noChangeArrowheads="1"/>
          </p:cNvSpPr>
          <p:nvPr/>
        </p:nvSpPr>
        <p:spPr bwMode="auto">
          <a:xfrm>
            <a:off x="2771775" y="404813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2"/>
                </a:solidFill>
                <a:latin typeface="Humnst777 BT" pitchFamily="34" charset="0"/>
              </a:rPr>
              <a:t>OE/Difusão</a:t>
            </a:r>
          </a:p>
        </p:txBody>
      </p:sp>
    </p:spTree>
    <p:extLst>
      <p:ext uri="{BB962C8B-B14F-4D97-AF65-F5344CB8AC3E}">
        <p14:creationId xmlns:p14="http://schemas.microsoft.com/office/powerpoint/2010/main" val="21558105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9"/>
          <p:cNvSpPr txBox="1">
            <a:spLocks noChangeArrowheads="1"/>
          </p:cNvSpPr>
          <p:nvPr/>
        </p:nvSpPr>
        <p:spPr bwMode="auto">
          <a:xfrm rot="5400000" flipV="1">
            <a:off x="7775575" y="946150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dirty="0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13" name="Text Box 376"/>
          <p:cNvSpPr txBox="1">
            <a:spLocks noChangeArrowheads="1"/>
          </p:cNvSpPr>
          <p:nvPr/>
        </p:nvSpPr>
        <p:spPr bwMode="auto">
          <a:xfrm>
            <a:off x="683568" y="1484784"/>
            <a:ext cx="770572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pt-PT" sz="2800" b="1" dirty="0">
                <a:solidFill>
                  <a:srgbClr val="CC301F"/>
                </a:solidFill>
              </a:rPr>
              <a:t>»</a:t>
            </a:r>
            <a:r>
              <a:rPr lang="pt-PT" sz="2800" dirty="0">
                <a:solidFill>
                  <a:schemeClr val="bg2"/>
                </a:solidFill>
                <a:latin typeface="Humnst777 BT" pitchFamily="34" charset="0"/>
              </a:rPr>
              <a:t> Inquérito à Utilização do Telemóvel</a:t>
            </a:r>
          </a:p>
        </p:txBody>
      </p:sp>
      <p:sp>
        <p:nvSpPr>
          <p:cNvPr id="18" name="Text Box 13"/>
          <p:cNvSpPr txBox="1">
            <a:spLocks noChangeArrowheads="1"/>
          </p:cNvSpPr>
          <p:nvPr/>
        </p:nvSpPr>
        <p:spPr bwMode="auto">
          <a:xfrm>
            <a:off x="8416999" y="6276920"/>
            <a:ext cx="40315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chemeClr val="bg2"/>
                </a:solidFill>
                <a:latin typeface="Humnst777 BT" pitchFamily="34" charset="0"/>
              </a:rPr>
              <a:t>09</a:t>
            </a:r>
          </a:p>
        </p:txBody>
      </p:sp>
      <p:sp>
        <p:nvSpPr>
          <p:cNvPr id="9" name="Text Box 376"/>
          <p:cNvSpPr txBox="1">
            <a:spLocks noChangeArrowheads="1"/>
          </p:cNvSpPr>
          <p:nvPr/>
        </p:nvSpPr>
        <p:spPr bwMode="auto">
          <a:xfrm>
            <a:off x="539552" y="2132806"/>
            <a:ext cx="8136136" cy="13644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pt-PT" sz="2200" b="1" dirty="0">
                <a:solidFill>
                  <a:schemeClr val="tx1"/>
                </a:solidFill>
                <a:latin typeface="Humnst777 BT" pitchFamily="34" charset="0"/>
              </a:rPr>
              <a:t>Vídeo: </a:t>
            </a:r>
            <a:r>
              <a:rPr lang="pt-PT" sz="2200" b="1" dirty="0">
                <a:solidFill>
                  <a:schemeClr val="tx1"/>
                </a:solidFill>
                <a:latin typeface="Humnst777 BT" pitchFamily="34" charset="0"/>
                <a:hlinkClick r:id="rId2" action="ppaction://hlinkfile"/>
              </a:rPr>
              <a:t>..\media\OE-IUT_20180411.mp4</a:t>
            </a:r>
            <a:endParaRPr lang="pt-PT" sz="2200" dirty="0">
              <a:solidFill>
                <a:schemeClr val="tx1"/>
              </a:solidFill>
              <a:latin typeface="Humnst777 BT" pitchFamily="34" charset="0"/>
            </a:endParaRPr>
          </a:p>
          <a:p>
            <a:pPr marL="342900" indent="-3429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pt-PT" sz="2200" b="1" dirty="0">
                <a:solidFill>
                  <a:schemeClr val="tx1"/>
                </a:solidFill>
                <a:latin typeface="Humnst777 BT" pitchFamily="34" charset="0"/>
              </a:rPr>
              <a:t>Questionário: </a:t>
            </a:r>
            <a:r>
              <a:rPr lang="pt-PT" sz="2200" b="1" dirty="0">
                <a:solidFill>
                  <a:schemeClr val="tx1"/>
                </a:solidFill>
                <a:latin typeface="Humnst777 BT" pitchFamily="34" charset="0"/>
                <a:hlinkClick r:id="rId3"/>
              </a:rPr>
              <a:t>https://docs.google.com/forms/.../viewform</a:t>
            </a:r>
            <a:endParaRPr lang="pt-PT" sz="2200" b="1" dirty="0">
              <a:solidFill>
                <a:schemeClr val="tx1"/>
              </a:solidFill>
              <a:latin typeface="Humnst777 BT" pitchFamily="34" charset="0"/>
            </a:endParaRPr>
          </a:p>
          <a:p>
            <a:pPr marL="342900" indent="-3429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pt-PT" sz="2200" b="1" dirty="0">
                <a:solidFill>
                  <a:schemeClr val="tx1"/>
                </a:solidFill>
                <a:latin typeface="Humnst777 BT" pitchFamily="34" charset="0"/>
              </a:rPr>
              <a:t>Análise: </a:t>
            </a:r>
            <a:r>
              <a:rPr lang="pt-PT" sz="2200" b="1" dirty="0">
                <a:solidFill>
                  <a:schemeClr val="tx1"/>
                </a:solidFill>
                <a:latin typeface="Humnst777 BT" pitchFamily="34" charset="0"/>
                <a:hlinkClick r:id="rId4"/>
              </a:rPr>
              <a:t>https://r4.ine.pt/</a:t>
            </a:r>
            <a:endParaRPr lang="pt-PT" sz="2200" b="1" dirty="0">
              <a:solidFill>
                <a:schemeClr val="tx1"/>
              </a:solidFill>
              <a:latin typeface="Humnst777 BT" pitchFamily="34" charset="0"/>
            </a:endParaRPr>
          </a:p>
        </p:txBody>
      </p:sp>
      <p:sp>
        <p:nvSpPr>
          <p:cNvPr id="7" name="Rectangle 38"/>
          <p:cNvSpPr>
            <a:spLocks noChangeArrowheads="1"/>
          </p:cNvSpPr>
          <p:nvPr/>
        </p:nvSpPr>
        <p:spPr bwMode="auto">
          <a:xfrm>
            <a:off x="2771775" y="404813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2"/>
                </a:solidFill>
                <a:latin typeface="Humnst777 BT" pitchFamily="34" charset="0"/>
              </a:rPr>
              <a:t>IUT</a:t>
            </a:r>
          </a:p>
        </p:txBody>
      </p:sp>
    </p:spTree>
    <p:extLst>
      <p:ext uri="{BB962C8B-B14F-4D97-AF65-F5344CB8AC3E}">
        <p14:creationId xmlns:p14="http://schemas.microsoft.com/office/powerpoint/2010/main" val="40615392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C7AEF91-D9C9-EB62-AE6F-ABB07613E61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6163" y="1446733"/>
            <a:ext cx="4800600" cy="4800600"/>
          </a:xfrm>
          <a:prstGeom prst="rect">
            <a:avLst/>
          </a:prstGeom>
        </p:spPr>
      </p:pic>
      <p:sp>
        <p:nvSpPr>
          <p:cNvPr id="14" name="Text Box 39"/>
          <p:cNvSpPr txBox="1">
            <a:spLocks noChangeArrowheads="1"/>
          </p:cNvSpPr>
          <p:nvPr/>
        </p:nvSpPr>
        <p:spPr bwMode="auto">
          <a:xfrm rot="5400000" flipV="1">
            <a:off x="7775575" y="946150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dirty="0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18" name="Text Box 13"/>
          <p:cNvSpPr txBox="1">
            <a:spLocks noChangeArrowheads="1"/>
          </p:cNvSpPr>
          <p:nvPr/>
        </p:nvSpPr>
        <p:spPr bwMode="auto">
          <a:xfrm>
            <a:off x="8416999" y="6276920"/>
            <a:ext cx="40315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chemeClr val="bg2"/>
                </a:solidFill>
                <a:latin typeface="Humnst777 BT" pitchFamily="34" charset="0"/>
              </a:rPr>
              <a:t>10</a:t>
            </a:r>
          </a:p>
        </p:txBody>
      </p:sp>
      <p:sp>
        <p:nvSpPr>
          <p:cNvPr id="7" name="Rectangle 38"/>
          <p:cNvSpPr>
            <a:spLocks noChangeArrowheads="1"/>
          </p:cNvSpPr>
          <p:nvPr/>
        </p:nvSpPr>
        <p:spPr bwMode="auto">
          <a:xfrm>
            <a:off x="2771775" y="404813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2"/>
                </a:solidFill>
                <a:latin typeface="Humnst777 BT" pitchFamily="34" charset="0"/>
              </a:rPr>
              <a:t>IUT/Analise/Exploração</a:t>
            </a:r>
          </a:p>
        </p:txBody>
      </p:sp>
    </p:spTree>
    <p:extLst>
      <p:ext uri="{BB962C8B-B14F-4D97-AF65-F5344CB8AC3E}">
        <p14:creationId xmlns:p14="http://schemas.microsoft.com/office/powerpoint/2010/main" val="1151816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4410C0E-DC95-C4B7-FC8D-90DF270E441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1700" y="1310811"/>
            <a:ext cx="4800600" cy="4800600"/>
          </a:xfrm>
          <a:prstGeom prst="rect">
            <a:avLst/>
          </a:prstGeom>
        </p:spPr>
      </p:pic>
      <p:sp>
        <p:nvSpPr>
          <p:cNvPr id="14" name="Text Box 39"/>
          <p:cNvSpPr txBox="1">
            <a:spLocks noChangeArrowheads="1"/>
          </p:cNvSpPr>
          <p:nvPr/>
        </p:nvSpPr>
        <p:spPr bwMode="auto">
          <a:xfrm rot="5400000" flipV="1">
            <a:off x="7775575" y="946150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dirty="0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18" name="Text Box 13"/>
          <p:cNvSpPr txBox="1">
            <a:spLocks noChangeArrowheads="1"/>
          </p:cNvSpPr>
          <p:nvPr/>
        </p:nvSpPr>
        <p:spPr bwMode="auto">
          <a:xfrm>
            <a:off x="8416999" y="6276920"/>
            <a:ext cx="40315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chemeClr val="bg2"/>
                </a:solidFill>
                <a:latin typeface="Humnst777 BT" pitchFamily="34" charset="0"/>
              </a:rPr>
              <a:t>11</a:t>
            </a:r>
          </a:p>
        </p:txBody>
      </p:sp>
      <p:sp>
        <p:nvSpPr>
          <p:cNvPr id="7" name="Rectangle 38"/>
          <p:cNvSpPr>
            <a:spLocks noChangeArrowheads="1"/>
          </p:cNvSpPr>
          <p:nvPr/>
        </p:nvSpPr>
        <p:spPr bwMode="auto">
          <a:xfrm>
            <a:off x="2771775" y="404813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2"/>
                </a:solidFill>
                <a:latin typeface="Humnst777 BT" pitchFamily="34" charset="0"/>
              </a:rPr>
              <a:t>IUT/Analise/Exploração</a:t>
            </a:r>
          </a:p>
        </p:txBody>
      </p:sp>
    </p:spTree>
    <p:extLst>
      <p:ext uri="{BB962C8B-B14F-4D97-AF65-F5344CB8AC3E}">
        <p14:creationId xmlns:p14="http://schemas.microsoft.com/office/powerpoint/2010/main" val="42201732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9"/>
          <p:cNvSpPr txBox="1">
            <a:spLocks noChangeArrowheads="1"/>
          </p:cNvSpPr>
          <p:nvPr/>
        </p:nvSpPr>
        <p:spPr bwMode="auto">
          <a:xfrm rot="5400000" flipV="1">
            <a:off x="7775575" y="946150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dirty="0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18" name="Text Box 13"/>
          <p:cNvSpPr txBox="1">
            <a:spLocks noChangeArrowheads="1"/>
          </p:cNvSpPr>
          <p:nvPr/>
        </p:nvSpPr>
        <p:spPr bwMode="auto">
          <a:xfrm>
            <a:off x="8416999" y="6276920"/>
            <a:ext cx="40315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chemeClr val="bg2"/>
                </a:solidFill>
                <a:latin typeface="Humnst777 BT" pitchFamily="34" charset="0"/>
              </a:rPr>
              <a:t>12</a:t>
            </a:r>
          </a:p>
        </p:txBody>
      </p:sp>
      <p:sp>
        <p:nvSpPr>
          <p:cNvPr id="10" name="Rectangle 38"/>
          <p:cNvSpPr>
            <a:spLocks noChangeArrowheads="1"/>
          </p:cNvSpPr>
          <p:nvPr/>
        </p:nvSpPr>
        <p:spPr bwMode="auto">
          <a:xfrm>
            <a:off x="2771775" y="404813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2"/>
                </a:solidFill>
                <a:latin typeface="Humnst777 BT" pitchFamily="34" charset="0"/>
              </a:rPr>
              <a:t>IUT/Analise/Exploração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509869C-D31C-5ABE-9FBB-81F11B0DA2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8234698"/>
              </p:ext>
            </p:extLst>
          </p:nvPr>
        </p:nvGraphicFramePr>
        <p:xfrm>
          <a:off x="1655675" y="1867852"/>
          <a:ext cx="5832649" cy="3973830"/>
        </p:xfrm>
        <a:graphic>
          <a:graphicData uri="http://schemas.openxmlformats.org/drawingml/2006/table">
            <a:tbl>
              <a:tblPr/>
              <a:tblGrid>
                <a:gridCol w="1280337">
                  <a:extLst>
                    <a:ext uri="{9D8B030D-6E8A-4147-A177-3AD203B41FA5}">
                      <a16:colId xmlns:a16="http://schemas.microsoft.com/office/drawing/2014/main" val="2455959767"/>
                    </a:ext>
                  </a:extLst>
                </a:gridCol>
                <a:gridCol w="1138078">
                  <a:extLst>
                    <a:ext uri="{9D8B030D-6E8A-4147-A177-3AD203B41FA5}">
                      <a16:colId xmlns:a16="http://schemas.microsoft.com/office/drawing/2014/main" val="1878969852"/>
                    </a:ext>
                  </a:extLst>
                </a:gridCol>
                <a:gridCol w="1138078">
                  <a:extLst>
                    <a:ext uri="{9D8B030D-6E8A-4147-A177-3AD203B41FA5}">
                      <a16:colId xmlns:a16="http://schemas.microsoft.com/office/drawing/2014/main" val="710095391"/>
                    </a:ext>
                  </a:extLst>
                </a:gridCol>
                <a:gridCol w="1138078">
                  <a:extLst>
                    <a:ext uri="{9D8B030D-6E8A-4147-A177-3AD203B41FA5}">
                      <a16:colId xmlns:a16="http://schemas.microsoft.com/office/drawing/2014/main" val="911828764"/>
                    </a:ext>
                  </a:extLst>
                </a:gridCol>
                <a:gridCol w="1138078">
                  <a:extLst>
                    <a:ext uri="{9D8B030D-6E8A-4147-A177-3AD203B41FA5}">
                      <a16:colId xmlns:a16="http://schemas.microsoft.com/office/drawing/2014/main" val="4164646068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algn="l" fontAlgn="b"/>
                      <a:r>
                        <a:rPr lang="pt-PT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AGE_FIRST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800" b="1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Freq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800" b="1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Cumul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800" b="1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Rel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800" b="1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RelCumul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6877415"/>
                  </a:ext>
                </a:extLst>
              </a:tr>
              <a:tr h="175846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0.60%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0.60%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1928652"/>
                  </a:ext>
                </a:extLst>
              </a:tr>
              <a:tr h="252041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1.10%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1.70%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3367884"/>
                  </a:ext>
                </a:extLst>
              </a:tr>
              <a:tr h="252041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4.50%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6.20%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8222054"/>
                  </a:ext>
                </a:extLst>
              </a:tr>
              <a:tr h="252041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7.30%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13.50%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860821"/>
                  </a:ext>
                </a:extLst>
              </a:tr>
              <a:tr h="252041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9.60%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23.00%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9693902"/>
                  </a:ext>
                </a:extLst>
              </a:tr>
              <a:tr h="252041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34.80%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57.90%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8879972"/>
                  </a:ext>
                </a:extLst>
              </a:tr>
              <a:tr h="252041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132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16.30%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74.20%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0316380"/>
                  </a:ext>
                </a:extLst>
              </a:tr>
              <a:tr h="252041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156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13.50%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87.60%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7249509"/>
                  </a:ext>
                </a:extLst>
              </a:tr>
              <a:tr h="252041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165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5.10%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92.70%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5877528"/>
                  </a:ext>
                </a:extLst>
              </a:tr>
              <a:tr h="252041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173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4.50%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97.20%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4072225"/>
                  </a:ext>
                </a:extLst>
              </a:tr>
              <a:tr h="252041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176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1.70%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98.90%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8451557"/>
                  </a:ext>
                </a:extLst>
              </a:tr>
              <a:tr h="252041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177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0.60%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99.40%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75256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178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0.60%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100.00%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6836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86340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E4B2E78-E79B-EB83-5299-94AB0789956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3538" y="1258062"/>
            <a:ext cx="4800600" cy="4800600"/>
          </a:xfrm>
          <a:prstGeom prst="rect">
            <a:avLst/>
          </a:prstGeom>
        </p:spPr>
      </p:pic>
      <p:sp>
        <p:nvSpPr>
          <p:cNvPr id="14" name="Text Box 39"/>
          <p:cNvSpPr txBox="1">
            <a:spLocks noChangeArrowheads="1"/>
          </p:cNvSpPr>
          <p:nvPr/>
        </p:nvSpPr>
        <p:spPr bwMode="auto">
          <a:xfrm rot="5400000" flipV="1">
            <a:off x="7775575" y="946150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dirty="0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18" name="Text Box 13"/>
          <p:cNvSpPr txBox="1">
            <a:spLocks noChangeArrowheads="1"/>
          </p:cNvSpPr>
          <p:nvPr/>
        </p:nvSpPr>
        <p:spPr bwMode="auto">
          <a:xfrm>
            <a:off x="8416999" y="6276920"/>
            <a:ext cx="40315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chemeClr val="bg2"/>
                </a:solidFill>
                <a:latin typeface="Humnst777 BT" pitchFamily="34" charset="0"/>
              </a:rPr>
              <a:t>13</a:t>
            </a:r>
          </a:p>
        </p:txBody>
      </p:sp>
      <p:sp>
        <p:nvSpPr>
          <p:cNvPr id="8" name="Rectangle 38"/>
          <p:cNvSpPr>
            <a:spLocks noChangeArrowheads="1"/>
          </p:cNvSpPr>
          <p:nvPr/>
        </p:nvSpPr>
        <p:spPr bwMode="auto">
          <a:xfrm>
            <a:off x="2771775" y="404813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2"/>
                </a:solidFill>
                <a:latin typeface="Humnst777 BT" pitchFamily="34" charset="0"/>
              </a:rPr>
              <a:t>IUT/Analise/Exploração</a:t>
            </a:r>
          </a:p>
        </p:txBody>
      </p:sp>
    </p:spTree>
    <p:extLst>
      <p:ext uri="{BB962C8B-B14F-4D97-AF65-F5344CB8AC3E}">
        <p14:creationId xmlns:p14="http://schemas.microsoft.com/office/powerpoint/2010/main" val="24234866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3A8D90E-5B83-3176-19B8-9449A7247C1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1700" y="1264162"/>
            <a:ext cx="4800600" cy="4800600"/>
          </a:xfrm>
          <a:prstGeom prst="rect">
            <a:avLst/>
          </a:prstGeom>
        </p:spPr>
      </p:pic>
      <p:sp>
        <p:nvSpPr>
          <p:cNvPr id="14" name="Text Box 39"/>
          <p:cNvSpPr txBox="1">
            <a:spLocks noChangeArrowheads="1"/>
          </p:cNvSpPr>
          <p:nvPr/>
        </p:nvSpPr>
        <p:spPr bwMode="auto">
          <a:xfrm rot="5400000" flipV="1">
            <a:off x="7775575" y="946150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dirty="0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18" name="Text Box 13"/>
          <p:cNvSpPr txBox="1">
            <a:spLocks noChangeArrowheads="1"/>
          </p:cNvSpPr>
          <p:nvPr/>
        </p:nvSpPr>
        <p:spPr bwMode="auto">
          <a:xfrm>
            <a:off x="8416999" y="6276920"/>
            <a:ext cx="40315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chemeClr val="bg2"/>
                </a:solidFill>
                <a:latin typeface="Humnst777 BT" pitchFamily="34" charset="0"/>
              </a:rPr>
              <a:t>14</a:t>
            </a:r>
          </a:p>
        </p:txBody>
      </p:sp>
      <p:sp>
        <p:nvSpPr>
          <p:cNvPr id="8" name="Rectangle 38"/>
          <p:cNvSpPr>
            <a:spLocks noChangeArrowheads="1"/>
          </p:cNvSpPr>
          <p:nvPr/>
        </p:nvSpPr>
        <p:spPr bwMode="auto">
          <a:xfrm>
            <a:off x="2771775" y="404813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2"/>
                </a:solidFill>
                <a:latin typeface="Humnst777 BT" pitchFamily="34" charset="0"/>
              </a:rPr>
              <a:t>IUT/Analise/Exploração</a:t>
            </a:r>
          </a:p>
        </p:txBody>
      </p:sp>
    </p:spTree>
    <p:extLst>
      <p:ext uri="{BB962C8B-B14F-4D97-AF65-F5344CB8AC3E}">
        <p14:creationId xmlns:p14="http://schemas.microsoft.com/office/powerpoint/2010/main" val="31985835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74745D9-C57A-38A5-91D3-F902C18563B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1507" y="1258888"/>
            <a:ext cx="4800600" cy="4800600"/>
          </a:xfrm>
          <a:prstGeom prst="rect">
            <a:avLst/>
          </a:prstGeom>
        </p:spPr>
      </p:pic>
      <p:sp>
        <p:nvSpPr>
          <p:cNvPr id="14" name="Text Box 39"/>
          <p:cNvSpPr txBox="1">
            <a:spLocks noChangeArrowheads="1"/>
          </p:cNvSpPr>
          <p:nvPr/>
        </p:nvSpPr>
        <p:spPr bwMode="auto">
          <a:xfrm rot="5400000" flipV="1">
            <a:off x="7775575" y="946150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dirty="0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18" name="Text Box 13"/>
          <p:cNvSpPr txBox="1">
            <a:spLocks noChangeArrowheads="1"/>
          </p:cNvSpPr>
          <p:nvPr/>
        </p:nvSpPr>
        <p:spPr bwMode="auto">
          <a:xfrm>
            <a:off x="8416999" y="6276920"/>
            <a:ext cx="40315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chemeClr val="bg2"/>
                </a:solidFill>
                <a:latin typeface="Humnst777 BT" pitchFamily="34" charset="0"/>
              </a:rPr>
              <a:t>15</a:t>
            </a:r>
          </a:p>
        </p:txBody>
      </p:sp>
      <p:sp>
        <p:nvSpPr>
          <p:cNvPr id="8" name="Rectangle 38"/>
          <p:cNvSpPr>
            <a:spLocks noChangeArrowheads="1"/>
          </p:cNvSpPr>
          <p:nvPr/>
        </p:nvSpPr>
        <p:spPr bwMode="auto">
          <a:xfrm>
            <a:off x="2771775" y="404813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2"/>
                </a:solidFill>
                <a:latin typeface="Humnst777 BT" pitchFamily="34" charset="0"/>
              </a:rPr>
              <a:t>IUT/Analise/Exploração</a:t>
            </a:r>
          </a:p>
        </p:txBody>
      </p:sp>
    </p:spTree>
    <p:extLst>
      <p:ext uri="{BB962C8B-B14F-4D97-AF65-F5344CB8AC3E}">
        <p14:creationId xmlns:p14="http://schemas.microsoft.com/office/powerpoint/2010/main" val="8833952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31C4A08-7413-3350-940B-5EA0049A6BA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1700" y="1265362"/>
            <a:ext cx="4800600" cy="4800600"/>
          </a:xfrm>
          <a:prstGeom prst="rect">
            <a:avLst/>
          </a:prstGeom>
        </p:spPr>
      </p:pic>
      <p:sp>
        <p:nvSpPr>
          <p:cNvPr id="14" name="Text Box 39"/>
          <p:cNvSpPr txBox="1">
            <a:spLocks noChangeArrowheads="1"/>
          </p:cNvSpPr>
          <p:nvPr/>
        </p:nvSpPr>
        <p:spPr bwMode="auto">
          <a:xfrm rot="5400000" flipV="1">
            <a:off x="7775575" y="946150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dirty="0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18" name="Text Box 13"/>
          <p:cNvSpPr txBox="1">
            <a:spLocks noChangeArrowheads="1"/>
          </p:cNvSpPr>
          <p:nvPr/>
        </p:nvSpPr>
        <p:spPr bwMode="auto">
          <a:xfrm>
            <a:off x="8416999" y="6276920"/>
            <a:ext cx="40315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chemeClr val="bg2"/>
                </a:solidFill>
                <a:latin typeface="Humnst777 BT" pitchFamily="34" charset="0"/>
              </a:rPr>
              <a:t>16</a:t>
            </a:r>
          </a:p>
        </p:txBody>
      </p:sp>
      <p:sp>
        <p:nvSpPr>
          <p:cNvPr id="8" name="Rectangle 38"/>
          <p:cNvSpPr>
            <a:spLocks noChangeArrowheads="1"/>
          </p:cNvSpPr>
          <p:nvPr/>
        </p:nvSpPr>
        <p:spPr bwMode="auto">
          <a:xfrm>
            <a:off x="2771775" y="404813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2"/>
                </a:solidFill>
                <a:latin typeface="Humnst777 BT" pitchFamily="34" charset="0"/>
              </a:rPr>
              <a:t>IUT/Analise/Exploração</a:t>
            </a:r>
          </a:p>
        </p:txBody>
      </p:sp>
    </p:spTree>
    <p:extLst>
      <p:ext uri="{BB962C8B-B14F-4D97-AF65-F5344CB8AC3E}">
        <p14:creationId xmlns:p14="http://schemas.microsoft.com/office/powerpoint/2010/main" val="4740260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B4E725B-0842-0113-CF9F-F48D71FEF24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9620" y="1263080"/>
            <a:ext cx="4800600" cy="4800600"/>
          </a:xfrm>
          <a:prstGeom prst="rect">
            <a:avLst/>
          </a:prstGeom>
        </p:spPr>
      </p:pic>
      <p:sp>
        <p:nvSpPr>
          <p:cNvPr id="14" name="Text Box 39"/>
          <p:cNvSpPr txBox="1">
            <a:spLocks noChangeArrowheads="1"/>
          </p:cNvSpPr>
          <p:nvPr/>
        </p:nvSpPr>
        <p:spPr bwMode="auto">
          <a:xfrm rot="5400000" flipV="1">
            <a:off x="7775575" y="946150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dirty="0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18" name="Text Box 13"/>
          <p:cNvSpPr txBox="1">
            <a:spLocks noChangeArrowheads="1"/>
          </p:cNvSpPr>
          <p:nvPr/>
        </p:nvSpPr>
        <p:spPr bwMode="auto">
          <a:xfrm>
            <a:off x="8416999" y="6276920"/>
            <a:ext cx="40315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chemeClr val="bg2"/>
                </a:solidFill>
                <a:latin typeface="Humnst777 BT" pitchFamily="34" charset="0"/>
              </a:rPr>
              <a:t>17</a:t>
            </a:r>
          </a:p>
        </p:txBody>
      </p:sp>
      <p:sp>
        <p:nvSpPr>
          <p:cNvPr id="8" name="Rectangle 38"/>
          <p:cNvSpPr>
            <a:spLocks noChangeArrowheads="1"/>
          </p:cNvSpPr>
          <p:nvPr/>
        </p:nvSpPr>
        <p:spPr bwMode="auto">
          <a:xfrm>
            <a:off x="2771775" y="404813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2"/>
                </a:solidFill>
                <a:latin typeface="Humnst777 BT" pitchFamily="34" charset="0"/>
              </a:rPr>
              <a:t>IUT/Analise/Exploração</a:t>
            </a:r>
          </a:p>
        </p:txBody>
      </p:sp>
    </p:spTree>
    <p:extLst>
      <p:ext uri="{BB962C8B-B14F-4D97-AF65-F5344CB8AC3E}">
        <p14:creationId xmlns:p14="http://schemas.microsoft.com/office/powerpoint/2010/main" val="21853512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6BB8E64-5F42-D9B7-8529-57DD96DE4FF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1700" y="1196975"/>
            <a:ext cx="4800600" cy="4800600"/>
          </a:xfrm>
          <a:prstGeom prst="rect">
            <a:avLst/>
          </a:prstGeom>
        </p:spPr>
      </p:pic>
      <p:sp>
        <p:nvSpPr>
          <p:cNvPr id="14" name="Text Box 39"/>
          <p:cNvSpPr txBox="1">
            <a:spLocks noChangeArrowheads="1"/>
          </p:cNvSpPr>
          <p:nvPr/>
        </p:nvSpPr>
        <p:spPr bwMode="auto">
          <a:xfrm rot="5400000" flipV="1">
            <a:off x="7775575" y="946150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dirty="0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18" name="Text Box 13"/>
          <p:cNvSpPr txBox="1">
            <a:spLocks noChangeArrowheads="1"/>
          </p:cNvSpPr>
          <p:nvPr/>
        </p:nvSpPr>
        <p:spPr bwMode="auto">
          <a:xfrm>
            <a:off x="8416999" y="6276920"/>
            <a:ext cx="40315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chemeClr val="bg2"/>
                </a:solidFill>
                <a:latin typeface="Humnst777 BT" pitchFamily="34" charset="0"/>
              </a:rPr>
              <a:t>18</a:t>
            </a:r>
          </a:p>
        </p:txBody>
      </p:sp>
      <p:sp>
        <p:nvSpPr>
          <p:cNvPr id="8" name="Rectangle 38"/>
          <p:cNvSpPr>
            <a:spLocks noChangeArrowheads="1"/>
          </p:cNvSpPr>
          <p:nvPr/>
        </p:nvSpPr>
        <p:spPr bwMode="auto">
          <a:xfrm>
            <a:off x="2771775" y="404813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2"/>
                </a:solidFill>
                <a:latin typeface="Humnst777 BT" pitchFamily="34" charset="0"/>
              </a:rPr>
              <a:t>IUT/Analise/Exploração</a:t>
            </a:r>
          </a:p>
        </p:txBody>
      </p:sp>
    </p:spTree>
    <p:extLst>
      <p:ext uri="{BB962C8B-B14F-4D97-AF65-F5344CB8AC3E}">
        <p14:creationId xmlns:p14="http://schemas.microsoft.com/office/powerpoint/2010/main" val="33863647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9"/>
          <p:cNvSpPr txBox="1">
            <a:spLocks noChangeArrowheads="1"/>
          </p:cNvSpPr>
          <p:nvPr/>
        </p:nvSpPr>
        <p:spPr bwMode="auto">
          <a:xfrm rot="5400000" flipV="1">
            <a:off x="7775575" y="946150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dirty="0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18" name="Text Box 13"/>
          <p:cNvSpPr txBox="1">
            <a:spLocks noChangeArrowheads="1"/>
          </p:cNvSpPr>
          <p:nvPr/>
        </p:nvSpPr>
        <p:spPr bwMode="auto">
          <a:xfrm>
            <a:off x="8416999" y="6276920"/>
            <a:ext cx="40315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chemeClr val="bg2"/>
                </a:solidFill>
                <a:latin typeface="Humnst777 BT" pitchFamily="34" charset="0"/>
              </a:rPr>
              <a:t>19</a:t>
            </a:r>
          </a:p>
        </p:txBody>
      </p:sp>
      <p:sp>
        <p:nvSpPr>
          <p:cNvPr id="8" name="Rectangle 38"/>
          <p:cNvSpPr>
            <a:spLocks noChangeArrowheads="1"/>
          </p:cNvSpPr>
          <p:nvPr/>
        </p:nvSpPr>
        <p:spPr bwMode="auto">
          <a:xfrm>
            <a:off x="2771775" y="404813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2"/>
                </a:solidFill>
                <a:latin typeface="Humnst777 BT" pitchFamily="34" charset="0"/>
              </a:rPr>
              <a:t>IUT/Analise/Exploração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229EA5D-67BA-BA78-E2B9-0B4C2E0DE1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0248183"/>
              </p:ext>
            </p:extLst>
          </p:nvPr>
        </p:nvGraphicFramePr>
        <p:xfrm>
          <a:off x="540001" y="2861310"/>
          <a:ext cx="8063998" cy="1135380"/>
        </p:xfrm>
        <a:graphic>
          <a:graphicData uri="http://schemas.openxmlformats.org/drawingml/2006/table">
            <a:tbl>
              <a:tblPr/>
              <a:tblGrid>
                <a:gridCol w="1375930">
                  <a:extLst>
                    <a:ext uri="{9D8B030D-6E8A-4147-A177-3AD203B41FA5}">
                      <a16:colId xmlns:a16="http://schemas.microsoft.com/office/drawing/2014/main" val="784527518"/>
                    </a:ext>
                  </a:extLst>
                </a:gridCol>
                <a:gridCol w="1114678">
                  <a:extLst>
                    <a:ext uri="{9D8B030D-6E8A-4147-A177-3AD203B41FA5}">
                      <a16:colId xmlns:a16="http://schemas.microsoft.com/office/drawing/2014/main" val="3208996949"/>
                    </a:ext>
                  </a:extLst>
                </a:gridCol>
                <a:gridCol w="1114678">
                  <a:extLst>
                    <a:ext uri="{9D8B030D-6E8A-4147-A177-3AD203B41FA5}">
                      <a16:colId xmlns:a16="http://schemas.microsoft.com/office/drawing/2014/main" val="3110566216"/>
                    </a:ext>
                  </a:extLst>
                </a:gridCol>
                <a:gridCol w="1114678">
                  <a:extLst>
                    <a:ext uri="{9D8B030D-6E8A-4147-A177-3AD203B41FA5}">
                      <a16:colId xmlns:a16="http://schemas.microsoft.com/office/drawing/2014/main" val="2826009932"/>
                    </a:ext>
                  </a:extLst>
                </a:gridCol>
                <a:gridCol w="1114678">
                  <a:extLst>
                    <a:ext uri="{9D8B030D-6E8A-4147-A177-3AD203B41FA5}">
                      <a16:colId xmlns:a16="http://schemas.microsoft.com/office/drawing/2014/main" val="277164068"/>
                    </a:ext>
                  </a:extLst>
                </a:gridCol>
                <a:gridCol w="1114678">
                  <a:extLst>
                    <a:ext uri="{9D8B030D-6E8A-4147-A177-3AD203B41FA5}">
                      <a16:colId xmlns:a16="http://schemas.microsoft.com/office/drawing/2014/main" val="1063888359"/>
                    </a:ext>
                  </a:extLst>
                </a:gridCol>
                <a:gridCol w="1114678">
                  <a:extLst>
                    <a:ext uri="{9D8B030D-6E8A-4147-A177-3AD203B41FA5}">
                      <a16:colId xmlns:a16="http://schemas.microsoft.com/office/drawing/2014/main" val="1106178177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algn="l" fontAlgn="b"/>
                      <a:r>
                        <a:rPr lang="pt-PT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Mean</a:t>
                      </a:r>
                      <a:endParaRPr lang="pt-PT" sz="18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800" b="1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Median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800" b="1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Mode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800" b="1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StDev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800" b="1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IQR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800" b="1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Range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852941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pt-PT" sz="1800" b="1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AGE_FIRST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10.47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1.92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531255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pt-PT" sz="1800" b="1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PRICE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525.92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400.00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300.00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384.72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450.00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1760.00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5780354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l" fontAlgn="b"/>
                      <a:r>
                        <a:rPr lang="pt-PT" sz="1800" b="1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PRICE_NEW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657.34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550.00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400.00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396.72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450.00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1960.00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13376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92086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9"/>
          <p:cNvSpPr txBox="1">
            <a:spLocks noChangeArrowheads="1"/>
          </p:cNvSpPr>
          <p:nvPr/>
        </p:nvSpPr>
        <p:spPr bwMode="auto">
          <a:xfrm rot="5400000" flipV="1">
            <a:off x="7775575" y="946150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dirty="0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18" name="Text Box 13"/>
          <p:cNvSpPr txBox="1">
            <a:spLocks noChangeArrowheads="1"/>
          </p:cNvSpPr>
          <p:nvPr/>
        </p:nvSpPr>
        <p:spPr bwMode="auto">
          <a:xfrm>
            <a:off x="8416999" y="6276920"/>
            <a:ext cx="40315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chemeClr val="bg2"/>
                </a:solidFill>
                <a:latin typeface="Humnst777 BT" pitchFamily="34" charset="0"/>
              </a:rPr>
              <a:t>20</a:t>
            </a:r>
          </a:p>
        </p:txBody>
      </p:sp>
      <p:sp>
        <p:nvSpPr>
          <p:cNvPr id="8" name="Rectangle 38"/>
          <p:cNvSpPr>
            <a:spLocks noChangeArrowheads="1"/>
          </p:cNvSpPr>
          <p:nvPr/>
        </p:nvSpPr>
        <p:spPr bwMode="auto">
          <a:xfrm>
            <a:off x="2771775" y="404813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2"/>
                </a:solidFill>
                <a:latin typeface="Humnst777 BT" pitchFamily="34" charset="0"/>
              </a:rPr>
              <a:t>IUT/Analise/Modelos</a:t>
            </a:r>
          </a:p>
        </p:txBody>
      </p:sp>
      <p:sp>
        <p:nvSpPr>
          <p:cNvPr id="7" name="Text Box 13"/>
          <p:cNvSpPr txBox="1">
            <a:spLocks noChangeArrowheads="1"/>
          </p:cNvSpPr>
          <p:nvPr/>
        </p:nvSpPr>
        <p:spPr bwMode="auto">
          <a:xfrm>
            <a:off x="540000" y="2138367"/>
            <a:ext cx="8064000" cy="149271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spcBef>
                <a:spcPts val="0"/>
              </a:spcBef>
            </a:pPr>
            <a:r>
              <a:rPr lang="en-US" sz="13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lm</a:t>
            </a:r>
            <a:r>
              <a:rPr lang="en-US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(formula = PRICE_NEW ~ PRICE, data = tb5)</a:t>
            </a:r>
          </a:p>
          <a:p>
            <a:pPr algn="just">
              <a:spcBef>
                <a:spcPts val="0"/>
              </a:spcBef>
            </a:pPr>
            <a:endParaRPr lang="en-US" sz="13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algn="just">
              <a:spcBef>
                <a:spcPts val="0"/>
              </a:spcBef>
            </a:pPr>
            <a:r>
              <a:rPr lang="en-US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      Estimate Std. Error t value </a:t>
            </a:r>
            <a:r>
              <a:rPr lang="en-US" sz="13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Pr</a:t>
            </a:r>
            <a:r>
              <a:rPr lang="en-US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(&gt;|t|)    </a:t>
            </a:r>
          </a:p>
          <a:p>
            <a:pPr algn="just">
              <a:spcBef>
                <a:spcPts val="0"/>
              </a:spcBef>
            </a:pPr>
            <a:r>
              <a:rPr lang="pt-PT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PT" sz="13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Intercept</a:t>
            </a:r>
            <a:r>
              <a:rPr lang="pt-PT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 290.74286   45.55911   6.382 4.38e-09 ***</a:t>
            </a:r>
          </a:p>
          <a:p>
            <a:pPr algn="just">
              <a:spcBef>
                <a:spcPts val="0"/>
              </a:spcBef>
            </a:pPr>
            <a:r>
              <a:rPr lang="pt-PT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PRICE         0.70746    0.07053  10.030  &lt; 2e-16 ***</a:t>
            </a:r>
          </a:p>
          <a:p>
            <a:pPr algn="just">
              <a:spcBef>
                <a:spcPts val="0"/>
              </a:spcBef>
            </a:pPr>
            <a:endParaRPr lang="en-US" sz="13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algn="just">
              <a:spcBef>
                <a:spcPts val="0"/>
              </a:spcBef>
            </a:pPr>
            <a:r>
              <a:rPr lang="en-US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Multiple R-squared:  0.48,	Adjusted R-squared:   0.48</a:t>
            </a:r>
          </a:p>
        </p:txBody>
      </p:sp>
    </p:spTree>
    <p:extLst>
      <p:ext uri="{BB962C8B-B14F-4D97-AF65-F5344CB8AC3E}">
        <p14:creationId xmlns:p14="http://schemas.microsoft.com/office/powerpoint/2010/main" val="28898545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38F0AF3-1F07-99E0-0CD7-1704FFA8109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4409" y="1258888"/>
            <a:ext cx="4800600" cy="4800600"/>
          </a:xfrm>
          <a:prstGeom prst="rect">
            <a:avLst/>
          </a:prstGeom>
        </p:spPr>
      </p:pic>
      <p:sp>
        <p:nvSpPr>
          <p:cNvPr id="14" name="Text Box 39"/>
          <p:cNvSpPr txBox="1">
            <a:spLocks noChangeArrowheads="1"/>
          </p:cNvSpPr>
          <p:nvPr/>
        </p:nvSpPr>
        <p:spPr bwMode="auto">
          <a:xfrm rot="5400000" flipV="1">
            <a:off x="7775575" y="946150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dirty="0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18" name="Text Box 13"/>
          <p:cNvSpPr txBox="1">
            <a:spLocks noChangeArrowheads="1"/>
          </p:cNvSpPr>
          <p:nvPr/>
        </p:nvSpPr>
        <p:spPr bwMode="auto">
          <a:xfrm>
            <a:off x="8416999" y="6276920"/>
            <a:ext cx="40315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chemeClr val="bg2"/>
                </a:solidFill>
                <a:latin typeface="Humnst777 BT" pitchFamily="34" charset="0"/>
              </a:rPr>
              <a:t>21</a:t>
            </a:r>
          </a:p>
        </p:txBody>
      </p:sp>
      <p:sp>
        <p:nvSpPr>
          <p:cNvPr id="8" name="Rectangle 38"/>
          <p:cNvSpPr>
            <a:spLocks noChangeArrowheads="1"/>
          </p:cNvSpPr>
          <p:nvPr/>
        </p:nvSpPr>
        <p:spPr bwMode="auto">
          <a:xfrm>
            <a:off x="2771775" y="404813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2"/>
                </a:solidFill>
                <a:latin typeface="Humnst777 BT" pitchFamily="34" charset="0"/>
              </a:rPr>
              <a:t>IUT/Analise/Modelos</a:t>
            </a:r>
          </a:p>
        </p:txBody>
      </p:sp>
    </p:spTree>
    <p:extLst>
      <p:ext uri="{BB962C8B-B14F-4D97-AF65-F5344CB8AC3E}">
        <p14:creationId xmlns:p14="http://schemas.microsoft.com/office/powerpoint/2010/main" val="16039487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9"/>
          <p:cNvSpPr txBox="1">
            <a:spLocks noChangeArrowheads="1"/>
          </p:cNvSpPr>
          <p:nvPr/>
        </p:nvSpPr>
        <p:spPr bwMode="auto">
          <a:xfrm rot="5400000" flipV="1">
            <a:off x="7775575" y="946150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dirty="0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18" name="Text Box 13"/>
          <p:cNvSpPr txBox="1">
            <a:spLocks noChangeArrowheads="1"/>
          </p:cNvSpPr>
          <p:nvPr/>
        </p:nvSpPr>
        <p:spPr bwMode="auto">
          <a:xfrm>
            <a:off x="8416999" y="6276920"/>
            <a:ext cx="40315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chemeClr val="bg2"/>
                </a:solidFill>
                <a:latin typeface="Humnst777 BT" pitchFamily="34" charset="0"/>
              </a:rPr>
              <a:t>22</a:t>
            </a:r>
          </a:p>
        </p:txBody>
      </p:sp>
      <p:sp>
        <p:nvSpPr>
          <p:cNvPr id="8" name="Rectangle 38"/>
          <p:cNvSpPr>
            <a:spLocks noChangeArrowheads="1"/>
          </p:cNvSpPr>
          <p:nvPr/>
        </p:nvSpPr>
        <p:spPr bwMode="auto">
          <a:xfrm>
            <a:off x="2771775" y="404813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2"/>
                </a:solidFill>
                <a:latin typeface="Humnst777 BT" pitchFamily="34" charset="0"/>
              </a:rPr>
              <a:t>IUT/Analise/Modelos</a:t>
            </a:r>
          </a:p>
        </p:txBody>
      </p:sp>
      <p:sp>
        <p:nvSpPr>
          <p:cNvPr id="7" name="Text Box 13"/>
          <p:cNvSpPr txBox="1">
            <a:spLocks noChangeArrowheads="1"/>
          </p:cNvSpPr>
          <p:nvPr/>
        </p:nvSpPr>
        <p:spPr bwMode="auto">
          <a:xfrm>
            <a:off x="540000" y="2138367"/>
            <a:ext cx="8064000" cy="189282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spcBef>
                <a:spcPts val="0"/>
              </a:spcBef>
            </a:pPr>
            <a:r>
              <a:rPr lang="en-US" sz="13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lm</a:t>
            </a:r>
            <a:r>
              <a:rPr lang="en-US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(formula = PRICE_NEW ~ PRICE + PLAY_PHONE, data = tb5)</a:t>
            </a:r>
          </a:p>
          <a:p>
            <a:pPr algn="just">
              <a:spcBef>
                <a:spcPts val="0"/>
              </a:spcBef>
            </a:pPr>
            <a:endParaRPr lang="en-US" sz="13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algn="just">
              <a:spcBef>
                <a:spcPts val="0"/>
              </a:spcBef>
            </a:pPr>
            <a:r>
              <a:rPr lang="en-US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          Estimate Std. Error t value </a:t>
            </a:r>
            <a:r>
              <a:rPr lang="en-US" sz="13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Pr</a:t>
            </a:r>
            <a:r>
              <a:rPr lang="en-US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(&gt;|t|)    </a:t>
            </a:r>
          </a:p>
          <a:p>
            <a:pPr algn="just">
              <a:spcBef>
                <a:spcPts val="0"/>
              </a:spcBef>
            </a:pPr>
            <a:r>
              <a:rPr lang="en-US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(Intercept)           466.0688    77.2925   6.030 2.38e-08 ***</a:t>
            </a:r>
          </a:p>
          <a:p>
            <a:pPr algn="just">
              <a:spcBef>
                <a:spcPts val="0"/>
              </a:spcBef>
            </a:pPr>
            <a:r>
              <a:rPr lang="en-US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PRICE                   0.4381     0.1115   3.929 0.000152 ***</a:t>
            </a:r>
          </a:p>
          <a:p>
            <a:pPr algn="just">
              <a:spcBef>
                <a:spcPts val="0"/>
              </a:spcBef>
            </a:pPr>
            <a:r>
              <a:rPr lang="en-US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PLAY_PHONETRUE       -266.7643    94.1912  -2.832 0.005526 ** </a:t>
            </a:r>
          </a:p>
          <a:p>
            <a:pPr algn="just">
              <a:spcBef>
                <a:spcPts val="0"/>
              </a:spcBef>
            </a:pPr>
            <a:r>
              <a:rPr lang="en-US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PRICE:PLAY_PHONETRUE    0.4267     0.1411   3.025 0.003115 ** </a:t>
            </a:r>
          </a:p>
          <a:p>
            <a:pPr algn="just">
              <a:spcBef>
                <a:spcPts val="0"/>
              </a:spcBef>
            </a:pPr>
            <a:endParaRPr lang="en-US" sz="13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algn="just">
              <a:spcBef>
                <a:spcPts val="0"/>
              </a:spcBef>
            </a:pPr>
            <a:r>
              <a:rPr lang="en-US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Multiple R-squared:  0.52,	Adjusted R-squared:   0.51</a:t>
            </a:r>
          </a:p>
        </p:txBody>
      </p:sp>
    </p:spTree>
    <p:extLst>
      <p:ext uri="{BB962C8B-B14F-4D97-AF65-F5344CB8AC3E}">
        <p14:creationId xmlns:p14="http://schemas.microsoft.com/office/powerpoint/2010/main" val="10113270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945AE46-CCF9-84F5-AF36-6E11F9DED8A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0286" y="1285553"/>
            <a:ext cx="4800600" cy="4800600"/>
          </a:xfrm>
          <a:prstGeom prst="rect">
            <a:avLst/>
          </a:prstGeom>
        </p:spPr>
      </p:pic>
      <p:sp>
        <p:nvSpPr>
          <p:cNvPr id="14" name="Text Box 39"/>
          <p:cNvSpPr txBox="1">
            <a:spLocks noChangeArrowheads="1"/>
          </p:cNvSpPr>
          <p:nvPr/>
        </p:nvSpPr>
        <p:spPr bwMode="auto">
          <a:xfrm rot="5400000" flipV="1">
            <a:off x="7775575" y="946150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dirty="0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18" name="Text Box 13"/>
          <p:cNvSpPr txBox="1">
            <a:spLocks noChangeArrowheads="1"/>
          </p:cNvSpPr>
          <p:nvPr/>
        </p:nvSpPr>
        <p:spPr bwMode="auto">
          <a:xfrm>
            <a:off x="8416999" y="6276920"/>
            <a:ext cx="40315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chemeClr val="bg2"/>
                </a:solidFill>
                <a:latin typeface="Humnst777 BT" pitchFamily="34" charset="0"/>
              </a:rPr>
              <a:t>23</a:t>
            </a:r>
          </a:p>
        </p:txBody>
      </p:sp>
      <p:sp>
        <p:nvSpPr>
          <p:cNvPr id="8" name="Rectangle 38"/>
          <p:cNvSpPr>
            <a:spLocks noChangeArrowheads="1"/>
          </p:cNvSpPr>
          <p:nvPr/>
        </p:nvSpPr>
        <p:spPr bwMode="auto">
          <a:xfrm>
            <a:off x="2771775" y="404813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2"/>
                </a:solidFill>
                <a:latin typeface="Humnst777 BT" pitchFamily="34" charset="0"/>
              </a:rPr>
              <a:t>IUT/Analise/Modelos</a:t>
            </a:r>
          </a:p>
        </p:txBody>
      </p:sp>
    </p:spTree>
    <p:extLst>
      <p:ext uri="{BB962C8B-B14F-4D97-AF65-F5344CB8AC3E}">
        <p14:creationId xmlns:p14="http://schemas.microsoft.com/office/powerpoint/2010/main" val="33084322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9"/>
          <p:cNvSpPr txBox="1">
            <a:spLocks noChangeArrowheads="1"/>
          </p:cNvSpPr>
          <p:nvPr/>
        </p:nvSpPr>
        <p:spPr bwMode="auto">
          <a:xfrm rot="5400000" flipV="1">
            <a:off x="7775575" y="946150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dirty="0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18" name="Text Box 13"/>
          <p:cNvSpPr txBox="1">
            <a:spLocks noChangeArrowheads="1"/>
          </p:cNvSpPr>
          <p:nvPr/>
        </p:nvSpPr>
        <p:spPr bwMode="auto">
          <a:xfrm>
            <a:off x="8416999" y="6276920"/>
            <a:ext cx="40315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chemeClr val="bg2"/>
                </a:solidFill>
                <a:latin typeface="Humnst777 BT" pitchFamily="34" charset="0"/>
              </a:rPr>
              <a:t>24</a:t>
            </a:r>
          </a:p>
        </p:txBody>
      </p:sp>
      <p:sp>
        <p:nvSpPr>
          <p:cNvPr id="8" name="Rectangle 38"/>
          <p:cNvSpPr>
            <a:spLocks noChangeArrowheads="1"/>
          </p:cNvSpPr>
          <p:nvPr/>
        </p:nvSpPr>
        <p:spPr bwMode="auto">
          <a:xfrm>
            <a:off x="2771775" y="404813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2"/>
                </a:solidFill>
                <a:latin typeface="Humnst777 BT" pitchFamily="34" charset="0"/>
              </a:rPr>
              <a:t>IUT/Analise/Modelos</a:t>
            </a:r>
          </a:p>
        </p:txBody>
      </p:sp>
      <p:sp>
        <p:nvSpPr>
          <p:cNvPr id="7" name="Text Box 13"/>
          <p:cNvSpPr txBox="1">
            <a:spLocks noChangeArrowheads="1"/>
          </p:cNvSpPr>
          <p:nvPr/>
        </p:nvSpPr>
        <p:spPr bwMode="auto">
          <a:xfrm>
            <a:off x="540000" y="2138367"/>
            <a:ext cx="8064000" cy="209288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spcBef>
                <a:spcPts val="0"/>
              </a:spcBef>
            </a:pPr>
            <a:r>
              <a:rPr lang="en-US" sz="13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glm</a:t>
            </a:r>
            <a:r>
              <a:rPr lang="en-US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(formula = PLAY_PHONE ~ PRICE, family = "binomial", data = tb5)</a:t>
            </a:r>
          </a:p>
          <a:p>
            <a:pPr algn="just">
              <a:spcBef>
                <a:spcPts val="0"/>
              </a:spcBef>
            </a:pPr>
            <a:endParaRPr lang="en-US" sz="13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algn="just">
              <a:spcBef>
                <a:spcPts val="0"/>
              </a:spcBef>
            </a:pPr>
            <a:r>
              <a:rPr lang="en-US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        Estimate Std. Error t value </a:t>
            </a:r>
            <a:r>
              <a:rPr lang="en-US" sz="13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Pr</a:t>
            </a:r>
            <a:r>
              <a:rPr lang="en-US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(&gt;|t|)   </a:t>
            </a:r>
          </a:p>
          <a:p>
            <a:pPr algn="just">
              <a:spcBef>
                <a:spcPts val="0"/>
              </a:spcBef>
            </a:pPr>
            <a:r>
              <a:rPr lang="en-US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(Intercept)  0.9378153  0.3343879   2.805  0.00504 **</a:t>
            </a:r>
          </a:p>
          <a:p>
            <a:pPr algn="just">
              <a:spcBef>
                <a:spcPts val="0"/>
              </a:spcBef>
            </a:pPr>
            <a:r>
              <a:rPr lang="en-US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PRICE       -0.0002934  0.0005007  -0.586  0.55786 </a:t>
            </a:r>
          </a:p>
          <a:p>
            <a:pPr algn="just">
              <a:spcBef>
                <a:spcPts val="0"/>
              </a:spcBef>
            </a:pPr>
            <a:endParaRPr lang="en-US" sz="13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algn="just">
              <a:spcBef>
                <a:spcPts val="0"/>
              </a:spcBef>
            </a:pPr>
            <a:r>
              <a:rPr lang="en-US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AIC: 154.26</a:t>
            </a:r>
          </a:p>
          <a:p>
            <a:pPr algn="just">
              <a:spcBef>
                <a:spcPts val="0"/>
              </a:spcBef>
            </a:pPr>
            <a:endParaRPr lang="en-US" sz="13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algn="just">
              <a:spcBef>
                <a:spcPts val="0"/>
              </a:spcBef>
            </a:pPr>
            <a:r>
              <a:rPr lang="en-US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  OR 2.5 % 97.5 %</a:t>
            </a:r>
          </a:p>
          <a:p>
            <a:pPr algn="just">
              <a:spcBef>
                <a:spcPts val="0"/>
              </a:spcBef>
            </a:pPr>
            <a:r>
              <a:rPr lang="en-US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PRICE 1.00  1.00   1.00</a:t>
            </a:r>
          </a:p>
        </p:txBody>
      </p:sp>
    </p:spTree>
    <p:extLst>
      <p:ext uri="{BB962C8B-B14F-4D97-AF65-F5344CB8AC3E}">
        <p14:creationId xmlns:p14="http://schemas.microsoft.com/office/powerpoint/2010/main" val="8721359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1002AFE-D386-AD67-9D4E-1CB0BD5CEA3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8499" y="1196975"/>
            <a:ext cx="4800600" cy="4800600"/>
          </a:xfrm>
          <a:prstGeom prst="rect">
            <a:avLst/>
          </a:prstGeom>
        </p:spPr>
      </p:pic>
      <p:sp>
        <p:nvSpPr>
          <p:cNvPr id="14" name="Text Box 39"/>
          <p:cNvSpPr txBox="1">
            <a:spLocks noChangeArrowheads="1"/>
          </p:cNvSpPr>
          <p:nvPr/>
        </p:nvSpPr>
        <p:spPr bwMode="auto">
          <a:xfrm rot="5400000" flipV="1">
            <a:off x="7775575" y="946150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dirty="0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18" name="Text Box 13"/>
          <p:cNvSpPr txBox="1">
            <a:spLocks noChangeArrowheads="1"/>
          </p:cNvSpPr>
          <p:nvPr/>
        </p:nvSpPr>
        <p:spPr bwMode="auto">
          <a:xfrm>
            <a:off x="8416999" y="6276920"/>
            <a:ext cx="40315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chemeClr val="bg2"/>
                </a:solidFill>
                <a:latin typeface="Humnst777 BT" pitchFamily="34" charset="0"/>
              </a:rPr>
              <a:t>25</a:t>
            </a:r>
          </a:p>
        </p:txBody>
      </p:sp>
      <p:sp>
        <p:nvSpPr>
          <p:cNvPr id="8" name="Rectangle 38"/>
          <p:cNvSpPr>
            <a:spLocks noChangeArrowheads="1"/>
          </p:cNvSpPr>
          <p:nvPr/>
        </p:nvSpPr>
        <p:spPr bwMode="auto">
          <a:xfrm>
            <a:off x="2771775" y="404813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2"/>
                </a:solidFill>
                <a:latin typeface="Humnst777 BT" pitchFamily="34" charset="0"/>
              </a:rPr>
              <a:t>IUT/Analise/Modelos</a:t>
            </a:r>
          </a:p>
        </p:txBody>
      </p:sp>
    </p:spTree>
    <p:extLst>
      <p:ext uri="{BB962C8B-B14F-4D97-AF65-F5344CB8AC3E}">
        <p14:creationId xmlns:p14="http://schemas.microsoft.com/office/powerpoint/2010/main" val="27044788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9"/>
          <p:cNvSpPr txBox="1">
            <a:spLocks noChangeArrowheads="1"/>
          </p:cNvSpPr>
          <p:nvPr/>
        </p:nvSpPr>
        <p:spPr bwMode="auto">
          <a:xfrm rot="5400000" flipV="1">
            <a:off x="7775575" y="946150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dirty="0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18" name="Text Box 13"/>
          <p:cNvSpPr txBox="1">
            <a:spLocks noChangeArrowheads="1"/>
          </p:cNvSpPr>
          <p:nvPr/>
        </p:nvSpPr>
        <p:spPr bwMode="auto">
          <a:xfrm>
            <a:off x="8416999" y="6276920"/>
            <a:ext cx="40315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chemeClr val="bg2"/>
                </a:solidFill>
                <a:latin typeface="Humnst777 BT" pitchFamily="34" charset="0"/>
              </a:rPr>
              <a:t>26</a:t>
            </a:r>
          </a:p>
        </p:txBody>
      </p:sp>
      <p:sp>
        <p:nvSpPr>
          <p:cNvPr id="8" name="Rectangle 38"/>
          <p:cNvSpPr>
            <a:spLocks noChangeArrowheads="1"/>
          </p:cNvSpPr>
          <p:nvPr/>
        </p:nvSpPr>
        <p:spPr bwMode="auto">
          <a:xfrm>
            <a:off x="2771775" y="404813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2"/>
                </a:solidFill>
                <a:latin typeface="Humnst777 BT" pitchFamily="34" charset="0"/>
              </a:rPr>
              <a:t>IUT/Analise/Modelos</a:t>
            </a:r>
          </a:p>
        </p:txBody>
      </p:sp>
      <p:sp>
        <p:nvSpPr>
          <p:cNvPr id="7" name="Text Box 13"/>
          <p:cNvSpPr txBox="1">
            <a:spLocks noChangeArrowheads="1"/>
          </p:cNvSpPr>
          <p:nvPr/>
        </p:nvSpPr>
        <p:spPr bwMode="auto">
          <a:xfrm>
            <a:off x="540000" y="2138367"/>
            <a:ext cx="8064000" cy="3693319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spcBef>
                <a:spcPts val="0"/>
              </a:spcBef>
            </a:pPr>
            <a:r>
              <a:rPr lang="en-US" sz="13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glm</a:t>
            </a:r>
            <a:r>
              <a:rPr lang="en-US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(formula = PLAY_PHONE ~ PRICE + SOCIALNET, family = "binomial", data = tb5)</a:t>
            </a:r>
          </a:p>
          <a:p>
            <a:pPr algn="just">
              <a:spcBef>
                <a:spcPts val="0"/>
              </a:spcBef>
            </a:pPr>
            <a:endParaRPr lang="en-US" sz="13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algn="just">
              <a:spcBef>
                <a:spcPts val="0"/>
              </a:spcBef>
            </a:pPr>
            <a:r>
              <a:rPr lang="fr-FR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               </a:t>
            </a:r>
            <a:r>
              <a:rPr lang="fr-FR" sz="13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Estimate</a:t>
            </a:r>
            <a:r>
              <a:rPr lang="fr-FR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Std. </a:t>
            </a:r>
            <a:r>
              <a:rPr lang="fr-FR" sz="13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Error</a:t>
            </a:r>
            <a:r>
              <a:rPr lang="fr-FR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z value Pr(&gt;|z|)</a:t>
            </a:r>
          </a:p>
          <a:p>
            <a:pPr algn="just">
              <a:spcBef>
                <a:spcPts val="0"/>
              </a:spcBef>
            </a:pPr>
            <a:r>
              <a:rPr lang="fr-FR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(Intercept)               1.829428   1.044127   1.752   0.0798 .</a:t>
            </a:r>
          </a:p>
          <a:p>
            <a:pPr algn="just">
              <a:spcBef>
                <a:spcPts val="0"/>
              </a:spcBef>
            </a:pPr>
            <a:r>
              <a:rPr lang="fr-FR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PRICE                    -0.001501   0.001599  -0.939   0.3479  </a:t>
            </a:r>
          </a:p>
          <a:p>
            <a:pPr algn="just">
              <a:spcBef>
                <a:spcPts val="0"/>
              </a:spcBef>
            </a:pPr>
            <a:r>
              <a:rPr lang="fr-FR" sz="13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SOCIALNETInstagram</a:t>
            </a:r>
            <a:r>
              <a:rPr lang="fr-FR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 -0.929485   1.138465  -0.816   0.4142  </a:t>
            </a:r>
          </a:p>
          <a:p>
            <a:pPr algn="just">
              <a:spcBef>
                <a:spcPts val="0"/>
              </a:spcBef>
            </a:pPr>
            <a:r>
              <a:rPr lang="fr-FR" sz="13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SOCIALNETTikTok</a:t>
            </a:r>
            <a:r>
              <a:rPr lang="fr-FR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    -1.954051   1.308128  -1.494   0.1352  </a:t>
            </a:r>
          </a:p>
          <a:p>
            <a:pPr algn="just">
              <a:spcBef>
                <a:spcPts val="0"/>
              </a:spcBef>
            </a:pPr>
            <a:r>
              <a:rPr lang="fr-FR" sz="13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PRICE:SOCIALNETInstagram</a:t>
            </a:r>
            <a:r>
              <a:rPr lang="fr-FR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0.001734   0.001782   0.973   0.3304  </a:t>
            </a:r>
          </a:p>
          <a:p>
            <a:pPr algn="just">
              <a:spcBef>
                <a:spcPts val="0"/>
              </a:spcBef>
            </a:pPr>
            <a:r>
              <a:rPr lang="fr-FR" sz="13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PRICE:SOCIALNETTikTok</a:t>
            </a:r>
            <a:r>
              <a:rPr lang="fr-FR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0.001671   0.001828   0.914   0.3607 </a:t>
            </a:r>
          </a:p>
          <a:p>
            <a:pPr algn="just">
              <a:spcBef>
                <a:spcPts val="0"/>
              </a:spcBef>
            </a:pPr>
            <a:endParaRPr lang="en-US" sz="13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algn="just">
              <a:spcBef>
                <a:spcPts val="0"/>
              </a:spcBef>
            </a:pPr>
            <a:r>
              <a:rPr lang="en-US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AIC: 144.61</a:t>
            </a:r>
          </a:p>
          <a:p>
            <a:pPr algn="just">
              <a:spcBef>
                <a:spcPts val="0"/>
              </a:spcBef>
            </a:pPr>
            <a:endParaRPr lang="en-US" sz="13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algn="just">
              <a:spcBef>
                <a:spcPts val="0"/>
              </a:spcBef>
            </a:pPr>
            <a:r>
              <a:rPr lang="en-US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                     OR 2.5 % 97.5 %</a:t>
            </a:r>
          </a:p>
          <a:p>
            <a:pPr algn="just">
              <a:spcBef>
                <a:spcPts val="0"/>
              </a:spcBef>
            </a:pPr>
            <a:r>
              <a:rPr lang="en-US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PRICE                    1.00  1.00   1.00</a:t>
            </a:r>
          </a:p>
          <a:p>
            <a:pPr algn="just">
              <a:spcBef>
                <a:spcPts val="0"/>
              </a:spcBef>
            </a:pPr>
            <a:r>
              <a:rPr lang="en-US" sz="13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SOCIALNETInstagram</a:t>
            </a:r>
            <a:r>
              <a:rPr lang="en-US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 0.39  0.04   3.68</a:t>
            </a:r>
          </a:p>
          <a:p>
            <a:pPr algn="just">
              <a:spcBef>
                <a:spcPts val="0"/>
              </a:spcBef>
            </a:pPr>
            <a:r>
              <a:rPr lang="en-US" sz="13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SOCIALNETTikTok</a:t>
            </a:r>
            <a:r>
              <a:rPr lang="en-US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    0.14  0.01   1.84</a:t>
            </a:r>
          </a:p>
          <a:p>
            <a:pPr algn="just">
              <a:spcBef>
                <a:spcPts val="0"/>
              </a:spcBef>
            </a:pPr>
            <a:r>
              <a:rPr lang="en-US" sz="13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PRICE:SOCIALNETInstagram</a:t>
            </a:r>
            <a:r>
              <a:rPr lang="en-US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1.00  1.00   1.01</a:t>
            </a:r>
          </a:p>
          <a:p>
            <a:pPr algn="just">
              <a:spcBef>
                <a:spcPts val="0"/>
              </a:spcBef>
            </a:pPr>
            <a:r>
              <a:rPr lang="en-US" sz="13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PRICE:SOCIALNETTikTok</a:t>
            </a:r>
            <a:r>
              <a:rPr lang="en-US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1.00  1.00   1.01</a:t>
            </a:r>
          </a:p>
        </p:txBody>
      </p:sp>
    </p:spTree>
    <p:extLst>
      <p:ext uri="{BB962C8B-B14F-4D97-AF65-F5344CB8AC3E}">
        <p14:creationId xmlns:p14="http://schemas.microsoft.com/office/powerpoint/2010/main" val="298701626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B4A6F1E-C79A-2FBE-1D93-A7960618108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1700" y="1257747"/>
            <a:ext cx="4800600" cy="4800600"/>
          </a:xfrm>
          <a:prstGeom prst="rect">
            <a:avLst/>
          </a:prstGeom>
        </p:spPr>
      </p:pic>
      <p:sp>
        <p:nvSpPr>
          <p:cNvPr id="14" name="Text Box 39"/>
          <p:cNvSpPr txBox="1">
            <a:spLocks noChangeArrowheads="1"/>
          </p:cNvSpPr>
          <p:nvPr/>
        </p:nvSpPr>
        <p:spPr bwMode="auto">
          <a:xfrm rot="5400000" flipV="1">
            <a:off x="7775575" y="946150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dirty="0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18" name="Text Box 13"/>
          <p:cNvSpPr txBox="1">
            <a:spLocks noChangeArrowheads="1"/>
          </p:cNvSpPr>
          <p:nvPr/>
        </p:nvSpPr>
        <p:spPr bwMode="auto">
          <a:xfrm>
            <a:off x="8416999" y="6276920"/>
            <a:ext cx="40315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chemeClr val="bg2"/>
                </a:solidFill>
                <a:latin typeface="Humnst777 BT" pitchFamily="34" charset="0"/>
              </a:rPr>
              <a:t>27</a:t>
            </a:r>
          </a:p>
        </p:txBody>
      </p:sp>
      <p:sp>
        <p:nvSpPr>
          <p:cNvPr id="8" name="Rectangle 38"/>
          <p:cNvSpPr>
            <a:spLocks noChangeArrowheads="1"/>
          </p:cNvSpPr>
          <p:nvPr/>
        </p:nvSpPr>
        <p:spPr bwMode="auto">
          <a:xfrm>
            <a:off x="2771775" y="404813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2"/>
                </a:solidFill>
                <a:latin typeface="Humnst777 BT" pitchFamily="34" charset="0"/>
              </a:rPr>
              <a:t>IUT/Analise/Modelos</a:t>
            </a:r>
          </a:p>
        </p:txBody>
      </p:sp>
    </p:spTree>
    <p:extLst>
      <p:ext uri="{BB962C8B-B14F-4D97-AF65-F5344CB8AC3E}">
        <p14:creationId xmlns:p14="http://schemas.microsoft.com/office/powerpoint/2010/main" val="426298864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3" name="Text Box 39"/>
          <p:cNvSpPr txBox="1">
            <a:spLocks noChangeArrowheads="1"/>
          </p:cNvSpPr>
          <p:nvPr/>
        </p:nvSpPr>
        <p:spPr bwMode="auto">
          <a:xfrm rot="5400000" flipV="1">
            <a:off x="7775575" y="946150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819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196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6" name="Rectangle 38"/>
          <p:cNvSpPr>
            <a:spLocks noChangeArrowheads="1"/>
          </p:cNvSpPr>
          <p:nvPr/>
        </p:nvSpPr>
        <p:spPr bwMode="auto">
          <a:xfrm>
            <a:off x="2771775" y="404813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2"/>
                </a:solidFill>
                <a:latin typeface="Humnst777 BT" pitchFamily="34" charset="0"/>
              </a:rPr>
              <a:t>OE-IUT</a:t>
            </a:r>
          </a:p>
        </p:txBody>
      </p:sp>
      <p:sp>
        <p:nvSpPr>
          <p:cNvPr id="13" name="Text Box 376"/>
          <p:cNvSpPr txBox="1">
            <a:spLocks noChangeArrowheads="1"/>
          </p:cNvSpPr>
          <p:nvPr/>
        </p:nvSpPr>
        <p:spPr bwMode="auto">
          <a:xfrm>
            <a:off x="540000" y="1548000"/>
            <a:ext cx="8064000" cy="35240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800"/>
              </a:spcAft>
            </a:pPr>
            <a:r>
              <a:rPr lang="pt-PT" sz="3800" dirty="0">
                <a:solidFill>
                  <a:schemeClr val="tx1"/>
                </a:solidFill>
                <a:latin typeface="Humnst777 BT"/>
              </a:rPr>
              <a:t>Obrigado</a:t>
            </a:r>
          </a:p>
          <a:p>
            <a:pPr>
              <a:spcBef>
                <a:spcPts val="0"/>
              </a:spcBef>
              <a:spcAft>
                <a:spcPts val="1800"/>
              </a:spcAft>
            </a:pPr>
            <a:endParaRPr lang="pt-PT" sz="3800" dirty="0">
              <a:solidFill>
                <a:schemeClr val="tx1"/>
              </a:solidFill>
              <a:latin typeface="Humnst777 BT"/>
            </a:endParaRPr>
          </a:p>
          <a:p>
            <a:pPr>
              <a:spcBef>
                <a:spcPts val="0"/>
              </a:spcBef>
              <a:spcAft>
                <a:spcPts val="1800"/>
              </a:spcAft>
            </a:pPr>
            <a:r>
              <a:rPr lang="pt-PT" sz="1800" dirty="0">
                <a:solidFill>
                  <a:schemeClr val="tx1"/>
                </a:solidFill>
                <a:latin typeface="Humnst777 BT" pitchFamily="34" charset="0"/>
                <a:hlinkClick r:id="rId2"/>
              </a:rPr>
              <a:t>https://www.r-project.org/</a:t>
            </a:r>
            <a:endParaRPr lang="pt-PT" sz="1800" dirty="0">
              <a:solidFill>
                <a:schemeClr val="tx1"/>
              </a:solidFill>
              <a:latin typeface="Humnst777 BT" pitchFamily="34" charset="0"/>
            </a:endParaRPr>
          </a:p>
          <a:p>
            <a:pPr>
              <a:spcBef>
                <a:spcPts val="0"/>
              </a:spcBef>
              <a:spcAft>
                <a:spcPts val="1800"/>
              </a:spcAft>
            </a:pPr>
            <a:r>
              <a:rPr lang="en-US" sz="1800" dirty="0">
                <a:solidFill>
                  <a:schemeClr val="tx1"/>
                </a:solidFill>
                <a:latin typeface="Humnst777 BT"/>
                <a:hlinkClick r:id="rId3"/>
              </a:rPr>
              <a:t>https://rstudio.com/</a:t>
            </a:r>
            <a:endParaRPr lang="en-US" sz="1800" dirty="0">
              <a:solidFill>
                <a:schemeClr val="tx1"/>
              </a:solidFill>
              <a:latin typeface="Humnst777 BT"/>
            </a:endParaRPr>
          </a:p>
          <a:p>
            <a:pPr>
              <a:spcBef>
                <a:spcPts val="0"/>
              </a:spcBef>
              <a:spcAft>
                <a:spcPts val="1800"/>
              </a:spcAft>
            </a:pPr>
            <a:endParaRPr lang="en-US" sz="1800" dirty="0">
              <a:solidFill>
                <a:schemeClr val="tx1"/>
              </a:solidFill>
              <a:latin typeface="Humnst777 BT"/>
            </a:endParaRPr>
          </a:p>
          <a:p>
            <a:pPr>
              <a:spcBef>
                <a:spcPts val="0"/>
              </a:spcBef>
              <a:spcAft>
                <a:spcPts val="1800"/>
              </a:spcAft>
            </a:pPr>
            <a:r>
              <a:rPr lang="en-US" sz="1800" dirty="0">
                <a:solidFill>
                  <a:schemeClr val="tx1"/>
                </a:solidFill>
                <a:latin typeface="Humnst777 BT"/>
                <a:hlinkClick r:id="rId4"/>
              </a:rPr>
              <a:t>https://github.com/jsollari/OE-IUT2020</a:t>
            </a:r>
            <a:endParaRPr lang="en-US" sz="1800" dirty="0">
              <a:solidFill>
                <a:schemeClr val="tx1"/>
              </a:solidFill>
              <a:latin typeface="Humnst777 BT"/>
            </a:endParaRPr>
          </a:p>
        </p:txBody>
      </p:sp>
      <p:sp>
        <p:nvSpPr>
          <p:cNvPr id="14" name="Line 11"/>
          <p:cNvSpPr>
            <a:spLocks noChangeShapeType="1"/>
          </p:cNvSpPr>
          <p:nvPr/>
        </p:nvSpPr>
        <p:spPr bwMode="auto">
          <a:xfrm>
            <a:off x="539552" y="1506793"/>
            <a:ext cx="448" cy="356524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Box 13"/>
          <p:cNvSpPr txBox="1">
            <a:spLocks noChangeArrowheads="1"/>
          </p:cNvSpPr>
          <p:nvPr/>
        </p:nvSpPr>
        <p:spPr bwMode="auto">
          <a:xfrm>
            <a:off x="8416999" y="6276920"/>
            <a:ext cx="40315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chemeClr val="bg2"/>
                </a:solidFill>
                <a:latin typeface="Humnst777 BT" pitchFamily="34" charset="0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1380187137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Foundry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80000"/>
              </a:schemeClr>
            </a:gs>
            <a:gs pos="62000">
              <a:schemeClr val="phClr">
                <a:tint val="30000"/>
                <a:satMod val="180000"/>
              </a:schemeClr>
            </a:gs>
            <a:gs pos="100000">
              <a:schemeClr val="phClr">
                <a:tint val="22000"/>
                <a:satMod val="18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58000"/>
                <a:satMod val="150000"/>
              </a:schemeClr>
            </a:gs>
            <a:gs pos="72000">
              <a:schemeClr val="phClr">
                <a:tint val="90000"/>
                <a:satMod val="135000"/>
              </a:schemeClr>
            </a:gs>
            <a:gs pos="100000">
              <a:schemeClr val="phClr">
                <a:tint val="8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80000"/>
            </a:schemeClr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000000"/>
            </a:lightRig>
          </a:scene3d>
          <a:sp3d prstMaterial="matte">
            <a:bevelT w="63500" h="635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rtlCol="0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sz="6000" b="0" i="0" u="none" strike="noStrike" cap="none" normalizeH="0" baseline="0" smtClean="0">
            <a:ln>
              <a:noFill/>
            </a:ln>
            <a:solidFill>
              <a:srgbClr val="CC0000"/>
            </a:solidFill>
            <a:effectLst/>
            <a:latin typeface="Humanst521 BT" pitchFamily="34" charset="0"/>
          </a:defRPr>
        </a:defPPr>
      </a:lstStyle>
    </a:spDef>
    <a:lnDef>
      <a:spPr bwMode="auto"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arrow"/>
        </a:ln>
        <a:effectLst/>
      </a:spPr>
      <a:bodyPr/>
      <a:lstStyle/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70095</TotalTime>
  <Words>944</Words>
  <Application>Microsoft Office PowerPoint</Application>
  <PresentationFormat>On-screen Show (4:3)</PresentationFormat>
  <Paragraphs>299</Paragraphs>
  <Slides>29</Slides>
  <Notes>4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5" baseType="lpstr">
      <vt:lpstr>Arial</vt:lpstr>
      <vt:lpstr>Courier New</vt:lpstr>
      <vt:lpstr>Humanst521 BT</vt:lpstr>
      <vt:lpstr>Humnst777 BT</vt:lpstr>
      <vt:lpstr>Wingdings</vt:lpstr>
      <vt:lpstr>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INE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título</dc:title>
  <dc:creator>DPHCN</dc:creator>
  <cp:lastModifiedBy>João Lopes</cp:lastModifiedBy>
  <cp:revision>2932</cp:revision>
  <cp:lastPrinted>2025-05-20T08:17:05Z</cp:lastPrinted>
  <dcterms:created xsi:type="dcterms:W3CDTF">2004-01-14T16:14:16Z</dcterms:created>
  <dcterms:modified xsi:type="dcterms:W3CDTF">2026-01-19T10:22:01Z</dcterms:modified>
</cp:coreProperties>
</file>